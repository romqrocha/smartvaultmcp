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77" r:id="rId2"/>
    <p:sldId id="498" r:id="rId3"/>
    <p:sldId id="486" r:id="rId4"/>
    <p:sldId id="487" r:id="rId5"/>
    <p:sldId id="502" r:id="rId6"/>
    <p:sldId id="501" r:id="rId7"/>
    <p:sldId id="489" r:id="rId8"/>
    <p:sldId id="490" r:id="rId9"/>
    <p:sldId id="491" r:id="rId10"/>
    <p:sldId id="493" r:id="rId11"/>
    <p:sldId id="503" r:id="rId12"/>
    <p:sldId id="505" r:id="rId13"/>
    <p:sldId id="506" r:id="rId14"/>
    <p:sldId id="507" r:id="rId15"/>
    <p:sldId id="508" r:id="rId16"/>
    <p:sldId id="509" r:id="rId17"/>
    <p:sldId id="510" r:id="rId18"/>
    <p:sldId id="511" r:id="rId19"/>
    <p:sldId id="499" r:id="rId20"/>
    <p:sldId id="485" r:id="rId21"/>
    <p:sldId id="494" r:id="rId22"/>
    <p:sldId id="495" r:id="rId23"/>
    <p:sldId id="496" r:id="rId24"/>
    <p:sldId id="497" r:id="rId25"/>
    <p:sldId id="471" r:id="rId26"/>
    <p:sldId id="472" r:id="rId27"/>
    <p:sldId id="473" r:id="rId28"/>
    <p:sldId id="474" r:id="rId29"/>
    <p:sldId id="479" r:id="rId30"/>
    <p:sldId id="475" r:id="rId31"/>
    <p:sldId id="476" r:id="rId32"/>
    <p:sldId id="484" r:id="rId33"/>
    <p:sldId id="468" r:id="rId34"/>
    <p:sldId id="469" r:id="rId35"/>
    <p:sldId id="492" r:id="rId36"/>
    <p:sldId id="441" r:id="rId37"/>
    <p:sldId id="278" r:id="rId38"/>
    <p:sldId id="478" r:id="rId39"/>
    <p:sldId id="440" r:id="rId40"/>
    <p:sldId id="50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32"/>
      </p:cViewPr>
      <p:guideLst/>
    </p:cSldViewPr>
  </p:slideViewPr>
  <p:notesTextViewPr>
    <p:cViewPr>
      <p:scale>
        <a:sx n="1" d="1"/>
        <a:sy n="1" d="1"/>
      </p:scale>
      <p:origin x="0" y="0"/>
    </p:cViewPr>
  </p:notesTextViewPr>
  <p:notesViewPr>
    <p:cSldViewPr snapToGrid="0">
      <p:cViewPr varScale="1">
        <p:scale>
          <a:sx n="51" d="100"/>
          <a:sy n="51" d="100"/>
        </p:scale>
        <p:origin x="2692" y="6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1920" max="1366" units="cm"/>
          <inkml:channel name="Y" type="integer" max="1080" units="cm"/>
          <inkml:channel name="T" type="integer" max="2.14748E9" units="dev"/>
        </inkml:traceFormat>
        <inkml:channelProperties>
          <inkml:channelProperty channel="X" name="resolution" value="95.52325" units="1/cm"/>
          <inkml:channelProperty channel="Y" name="resolution" value="55.95855" units="1/cm"/>
          <inkml:channelProperty channel="T" name="resolution" value="1" units="1/dev"/>
        </inkml:channelProperties>
      </inkml:inkSource>
      <inkml:timestamp xml:id="ts0" timeString="2021-01-19T08:05:02.326"/>
    </inkml:context>
    <inkml:brush xml:id="br0">
      <inkml:brushProperty name="width" value="0.05292" units="cm"/>
      <inkml:brushProperty name="height" value="0.05292" units="cm"/>
      <inkml:brushProperty name="color" value="#0070C0"/>
    </inkml:brush>
    <inkml:brush xml:id="br1">
      <inkml:brushProperty name="width" value="0.05292" units="cm"/>
      <inkml:brushProperty name="height" value="0.05292" units="cm"/>
      <inkml:brushProperty name="color" value="#FF0000"/>
    </inkml:brush>
  </inkml:definitions>
  <inkml:trace contextRef="#ctx0" brushRef="#br0">12876 900 0,'18'0'47,"0"0"-47,-1 0 16,1 0-16,17 0 78,-17 0-78,0 0 15,34 0-15,-34 0 16,17 17-16,18-17 16,0 18-16,35 0 15,-17-18-15,-36 0 16,0 17-16,1-17 16,17 18-16,-18-1 15,0-17-15,1 0 16,-19 0-16,1 0 15,17 0-15,-17 0 16,17 0-16,-17 0 16,17 0-16,0 0 15,18 36-15,0-36 16,-18 0 0,18 0-16,0 0 15,-18 0-15,1 0 16,17 0-16,-18 0 15,0 0-15,-17 17 16,17-17-16,18 18 16,0-18-16,-18 0 15,18 0 1,-18 0-16,1 0 16,-1 0-16,18 0 15,-18 0-15,18 0 16,-18 0-16,1 0 15,17 0-15,-1 0 16,1 0-16,0 0 16,0 0-16,0 0 15,0 0-15,-18 0 16,18 0-16,18 0 16,-36 0-16,0 0 15,1 0-15,-1 0 16,0 0-16,0 0 15,18 0-15,-17 0 16,-1 0-16,0 0 16,18 0-16,-18 0 15,1 0-15,17 0 16,-18 0-16,18 0 16,0 0-16,0 0 15,-18 0-15,35 18 16,-17-1-16,18-17 15,-36 0 1,18 18-16,-18-18 16,18 18-16,0-18 15,-18 17-15,36-17 16,0 0-16,-36 0 16,35 0-16,-17 0 15,53 0-15,-35 35 16,35-35-16,-36 0 15,1 0-15,-1 18 16,1-18-16,-18 0 16,0 0-16,17 0 15,-17 0-15,0 0 16,-18 0-16,18 0 16,-18 0-16,18 0 15,0 0-15,0 0 16,18 0-16,-1 0 15,-17 18 1,18-18-16,35 0 0,-36 0 16,36 0-16,-35 0 15,34 0-15,-52 0 16,-17 0-16,-1 0 16,-17 0-16,34-18 15,-52 0 1,53 1-16,-35 17 15,-18-18-15,18 1 16,-1-1-16,1 0 16,-18 1-16,18-19 15,-1-17 1,1 18-16,-18 18 16,0-19-16,0 19 15,0-1-15,-35-53 16,-54 18-16,19 1 15,-18-1-15,-1 0 16,37 0-16,34 35 16,-35 1-16,35-19 15,-17 1-15,0 17 16,17 1-16,-17-1 16,0 0-16,17 18 15,-17-52-15,-18 52 16,0-36-16,18 19 15,-54-1-15,-34 0 16,-18-17-16,35 17 16,-18 18-16,-17-35 15,-17 35 1,-36-35-16,52 35 16,-52-18-16,-17 1 15,52-19-15,-35 36 16,-18-35-16,-17 35 15,17 0-15,18 0 16,0 0-16,18 0 16,52 0-16,-34 0 15,52 0-15,-35 0 16,35 0-16,-35 0 16,17 0-16,71 0 15,-35 0-15,53 0 16,-36 0-16,-17 18 15,35-18-15,18 17 16,0-17-16,-1 0 16,1 0-16,0 18 15,-18-18-15,-18 0 16,1 18-16,-1-18 16,-35 17-16,36 1 15,-54-18-15,19 17 16,-37 19-16,19-36 15,52 17 1,-34-17-16,34 18 16,36-18-16,-36 0 15,54 0-15,-1 0 16,18 18 15,0-1 32,0 1-63,18 17 15,35 1 1,-18 16-16,0-16 16,36 70-16,-54-71 15,36 35-15,-18-34 16,1-1-16,-19 0 15,19 18-15,-19-35 16</inkml:trace>
  <inkml:trace contextRef="#ctx0" brushRef="#br0" timeOffset="6112.37">10354 3387 0,'18'-18'15,"-1"18"1,1 0 0,0 0-16,-1-18 15,19 18 1,-1 0 0,35 0-16,1 0 15,70 0-15,0 71 16,0-18-16,0-35 15,0-18-15,-35 17 16,18-17-16,-54 18 16,-17-18-16,0 0 15,0 0-15,-18 0 16,18 0-16,-35 0 16,17 0-16,-17 0 15,17 0 1,-17 0 78,-1 0-79,1 0-15,0 0 16</inkml:trace>
  <inkml:trace contextRef="#ctx0" brushRef="#br0" timeOffset="7017.04">11871 3334 0,'0'-18'47,"35"18"-31,-17 0-16,35 0 15,-18 0-15,36 35 16,-54 1-16,19-36 16,-19 0-16,18 0 15,1 17-15,-19-17 16,1 18-16,0-18 16,-1 0-1,1 0 1,17 18-1,18-18 1,-35 0-16,-1 0 16,-17 35-1,0-17 110,-17-1-125,-36-17 16,18 35-16,-36-17 16,0 35-16,36-35 15,-18 17-15,36-35 16,-19 0-16,1 35 15,17-17 1,1-1 125</inkml:trace>
  <inkml:trace contextRef="#ctx0" brushRef="#br1" timeOffset="26986.76">14570 1640 0,'17'0'47,"1"0"-32,17 0 1,71 36-16,-53-19 15,18 19-15,34-1 16,-52-35-16,18 18 16,-18-1-16,106 18 15,-71-35-15,53 18 16,0 17-16,18-17 16,-53-18-16,35 0 15,-35 18-15,-36-18 16,-17 0-16,0 0 15,-18 0-15,0 0 16,-17 0 62,0 0-62,17 0-1,0-36 1,1 1-16,-1 17 0,0-70 16,0 35-1,-17 0-15,0 18 16,-1-35-16,36 17 16,-53 17-16,18-17 15,0 36-15,-18-18 16,0-18-16,0 35 15,0-17-15,0 17 16,0 0-16,-18-34 16,18 34-16,0-17 15,0 17-15,-18-17 16,-17-1-16,17 1 16,-17 18-1,35-1 1,-18 18-16,18-35 15,-17 35-15,-1-18 16,0 18-16,18-18 16,-17 18-16,17-17 15,-18-1-15,1 0 16,17 1 0,0-1-1,0 0 1,-18 18 140,-35 0-140,-53 0-16,0 0 15,-70 0-15,70 0 16,-70 0-16,35 0 16,70 0-16,-88 0 15,89 0-15,17 0 16,18 0-1,-1 18-15,19-18 79,-19 18-64,1-18-15,17 0 16,-34 0-16,16 0 15,36 17-15,-35-17 16,0 0-16,-1 18 16,19-18-16,-1 0 15,-17 0-15,-18 0 16,35 0-16,1 0 16,-1 0-16,18 18 15,-18-18 1,1 17 46,-1 36-62,-35 35 16,18-17-16,17 17 16,-35 18-1,-17 0-15,35-53 16,-1 53-16,19-53 0,-1-18 15,0 18 1,18-36-16,0 36 16,0-17-1,0-19 1</inkml:trace>
  <inkml:trace contextRef="#ctx0" brushRef="#br1" timeOffset="29674.51">13141 1817 0,'-35'0'63,"-1"53"-48,36 0-15,-35 17 16,0 18-16,0 1 16,35-1-16,-53 0 15,17 35-15,19 1 16,-1-36 0,0 0-16,18 18 15,0 0-15,0-53 16,0 17-16,0 36 15,0-35-15,0-18 16,0 17-16,0-34 16,0 34-16,0 1 15,0-18-15,18 52 16,0-34-16,-1-18 16,-17 17-16,18 54 15,0-36-15,-1 36 16,1-54-16,-18 1 15,18 17-15,-18-35 16,17 0-16,19-18 16,-19 0-16,36 36 15,-35-36-15,-1-35 16,1 35-16,0 1 16,-1-36-16,1 35 15,0-35-15,-1 18 16,1 52-16,-1-17 15,1-18 17,-18-17-32,18 17 15,-18-17-15,0 17 16,17-35-16,-17 18 16,18-1-1,0 1 63</inkml:trace>
  <inkml:trace contextRef="#ctx0" brushRef="#br1" timeOffset="40906.86">14887 2223 0,'18'0'78,"0"0"-62,-1 0 0,1 0-1,17 0 1,-17 0-16,35 0 15,-18 17-15,0 1 16,18-18-16,18 17 16,-36 1-16,0-18 15,18 0-15,0 18 16,35-1-16,0 1 16,-17-18-16,35 0 15,-18 0-15,18 0 16,-18 0-1,0 0-15,18 0 0,-35 0 16,-36 0 0,18 0-16,-18 0 15,0 0-15,18 0 16,-35 0-16,17 0 16,-17 0-16,17 0 15,0 0-15,18 0 16,-17 0-16,17 0 15,-18 0-15,0-18 16,18 18-16,-18 0 16,1 0-16,-1 0 15,-18 0 1,1-17 156,0 17-172,17 0 15,0-18 1,1 18-16,-19 0 16,1 0-16,35 0 15,-18-18-15,-17 1 16,17-1-16,-17 18 16,35 0-16,-36-17 15,18-1 1,1 18-1,-19 0 17,1 0 93</inkml:trace>
  <inkml:trace contextRef="#ctx0" brushRef="#br1" timeOffset="45252.6">14764 3457 0,'35'0'63,"18"18"-48,0 17-15,0-35 16,35 35-16,-35-17 16,53-18-16,-18 18 15,35-1-15,54-17 16,-36 0-16,-71 0 15,89 0-15,-53 0 16,-18 0-16,-17 0 16,-18-17-16,0-1 15,35 0-15,-53 18 16,0 0-16,1-17 16,17 17-16,-36-18 15,1 18 141,-1 0-140</inkml:trace>
  <inkml:trace contextRef="#ctx0" brushRef="#br1" timeOffset="46948.57">14817 4374 0,'0'-17'31,"0"-1"-15,35 18-16,-17 0 15,17 0-15,18 0 16,0 0-16,0 0 16,35 0-16,35 0 15,-17 18-15,-35-18 16,17 0-16,-18 0 15,1 0-15,35 0 16,-53 0-16,17 0 16,-34-18-16,-19 18 15,36-17-15,-53-1 16,18 18-16,-1 0 16,1 0 15</inkml:trace>
  <inkml:trace contextRef="#ctx0" brushRef="#br1" timeOffset="47916.08">14517 4992 0,'17'0'31,"1"0"0,0 0-15,-1-18 0,1 18-1,0 0 17,-1 0-32,19 0 15,34 0-15,36 0 16,-71 0-16,53 0 15,54 0-15,-19 18 16,71 17 0,-35-17-16,52-18 15,1 0-15,-71 0 16,0 0-16,-17 0 16,-71 0-16,0 0 15,-36 0-15</inkml:trace>
  <inkml:trace contextRef="#ctx0" brushRef="#br1" timeOffset="53371.08">14693 2910 0,'35'0'0,"-35"-17"16,18 17 15,0-18-31,-18 1 16,17-36-1,-17 35-15,0-17 16,0 17-16,0-35 16,0-35-16,-17 53 15,-1-18-15,0 17 16,18-16-16,0-1 16,0 35-16,0-35 15,0 18-15,0 17 16,36-17-1,34 17 1,-17 1-16,18 17 16,-36 0-16,0 0 15,18 0-15,0 0 16,-18 0-16,36 0 16,-18 0-16,-18 17 15,-17-17-15,17 36 16,0-36-16,1 35 15,-19-35 1,54 53-16,-36-36 16,-17 19-16,17-1 15,-17 0-15,-1 18 16,-17-35-16,36 17 16,-36 0-16,0 18 15,0-18-15,0 1 16,0-1-16,-18 0 15,-17 1-15,-53 17 16,52-18-16,-17-35 16,0 35-16,-17-35 15,-18 0-15,17 0 16,-70 0-16,53 0 16,-18 0-16,18-18 15,-18-17-15,35 18 16,-34-54-16,52 53 15,17-17-15,19 0 16,17-18-16,-18 53 16,18-35-16,0-18 15,0 35 1,0 0 0</inkml:trace>
  <inkml:trace contextRef="#ctx0" brushRef="#br1" timeOffset="67423.83">18627 7144 0,'0'17'94,"0"1"-94,0 53 16,0-1-16,0-17 15,0-18-15,0 18 16,0 0-16,-18 0 31,-17-18-31,-18 18 16,-18-35-16,-35 52 16,1-34-16,-36-19 15,17-17-15,-70 36 16,35-36-16,-70 0 15,35 0-15,-35 0 16,70 0-16,-35 0 16,-35 0-16,52 0 15,18 0-15,-70 0 16,88 0-16,0 0 16,0 0-16,35 0 15,0 0-15,0 0 16,53 0-16,-17 0 15,17 0-15,18 0 16,17 0-16,-17 0 16,-1 0-16,-17 0 15,36 0-15,-36-18 16,18 0-16,-18 18 16,-35-17-16,35 17 15,0-18 1,0 0-16,18 18 15,-18-17-15,17 17 0,1-18 16,-18 18 0,18-35-16,0 35 15,17 0 1,-17-18 0,35 1-1,-18 17 1,0 0-16,1 0 15,-19 0-15,-16 0 16,-1 0-16,17 0 16,-34 0-16,17 0 15,0 17-15,-53 36 16,0 53-16,18-35 16,-18 17-16,36-18 15,-36 36-15,35-18 16,-35 18-16,-17 71 15,70-54-15,53-17 16,0-53-16,0-18 16,0 0-16,0-17 15,0 35-15,0-18 16,35 0 0,-17-35-16,0 36 15,-1-19-15,19 36 16,-36 18-16,52-36 15,-16 53-15,34-35 16,19 35-16,-1 1 16,-35-54-16,17 0 15,18 36-15,1-54 16,52 19-16,17-19 16,-16 1-16,16 0 15,19-18-15,-19 0 16,1 17-16,88-17 15,-70 0-15,34 0 16,-17 0-16,53 0 16,-70 0-16,-19 0 15,19 0-15,-54 0 16,-17 0-16,-18 0 16,-53-17-16,1-19 15,-36 1-15,0 0 16,0-1-1,0 1-15,0 0 16,0-18-16,0 18 16,0 17-16,0 0 15,0-17 1,17 0-16,1 35 16,17-35-16,1 17 15,16 0-15,1 1 16,18-1-16,0 18 15,70 0-15,53 0 16,35 0-16,-17 0 16,-1 0-16,72 0 15,16 0-15,-69 0 16,70 53-16,-71-35 16,71-1-16,-53-17 15,0 18-15,0 0 16,52-1-16,-105 1 15,124 17-15,-89-17 16,18-1-16,0-17 16,-53 0-16,-17 0 15,69 0-15,-104 0 16,16 0-16,-34 0 16,17 0-16,-18 0 15,-34 0-15,34 0 16,18 0-1,0 0-15,0-17 16,-17 17-16,17-53 16,35 35-16,-17-52 15,-53 52-15,35-53 16,0 19-16,-53-1 16,1 35-16,-1-53 15,-35 1-15,35-1 16,-18 18-16,36-35 15,-35 18-15,-1-1 16,1-35-16,-1 18 16,72-18-16,-37 0 15,-16 18-15,-19-18 16,-35 18-16,-35 18 16,0-1-16,18-17 15,-18 35-15,0-35 16,0 52-16,0-16 15,-18 34-15,-34-70 16,16 35-16,1 18 16,-36-18-16,19 0 15,-19 0-15,-35-18 16,0 1 0,-17-1-16,-106-52 15,-18 34-15,35 37 16,-141-72-16,106 36 15,-35 53-15,-36-18 16,89 17-16,-141-17 16,88 53-16,17 0 15,-17 0-15,17 0 16,36 0-16,-89 0 16,107 36-16,-19-1 15,1 0-15,70 36 16,1-18-16,-1-18 15,0 18-15,0 0 16,36-18-16,-36 0 16,18 36-16,-35-53 15,70-1-15,-35 36 16,52-35-16,-52-1 16,18 1-16,35 0 15,17-1-15,18-17 16,18 0-16,0 18 15,17-18-15,-35 0 16,18 18-16,17-18 31,1 0-15,-1 0-16,-17 0 16,17 0-16,0 0 15,-35 35-15,36-35 16,-19 18-1,36-1 1,0 1 15,0-1 16,0 1-47,18 0 16,0-1-16,-18 1 15,35 0-15,0 17 16,1 0-16,-19-35 16,1 18-16,0-18 15,-18 18-15,17-1 47,18-17-47,-17 18 31</inkml:trace>
  <inkml:trace contextRef="#ctx0" brushRef="#br1" timeOffset="70886.27">23266 6456 0,'17'0'32,"-17"35"-1,-53 0-15,-35 18-16,-53 0 15,53 18-15,-71 17 16,36-17-16,35-1 15,-18 1-15,0-18 16,53-1-16,0-34 16,0 17-16,35-35 15,1 18 1,-1 0 0,-17-1-1,17-17 1,1 36-16,-19-19 15,19 1 1,-1 0-16,0-18 78,1-18-62,-18-17-1,35-1-15</inkml:trace>
  <inkml:trace contextRef="#ctx0" brushRef="#br1" timeOffset="71351.61">21960 6862 0,'36'0'31,"-36"17"-31,0 18 16,0-17-16,0 17 16,0 18-16,0-35 15,-18 0-15,18 17 16,-18 18-16,71-18 78,0-35-78,0 0 16,0 35-16,0-17 15,0-18 1,0 0-16,0 18 15,-36-18-15,1 0 16,17 0 62</inkml:trace>
  <inkml:trace contextRef="#ctx0" brushRef="#br1" timeOffset="71981.78">24994 6350 0,'-35'53'31,"-18"17"-31,0 19 15,-17-1-15,-1 0 16,1 0-16,17-35 16,0-18-16,0 1 15,0 17-15,0-36 16,35 1 0,-52 17-16,34-35 15,-16 18 1,16-1-16,19-17 0,-1 0 0,0 0 15,1 18-15,-1-18 16,-17 0 62,17 0-62</inkml:trace>
  <inkml:trace contextRef="#ctx0" brushRef="#br1" timeOffset="72462.95">24112 6668 0,'0'17'31,"0"18"-15,0 71-16,-17-88 16,-1 17-16,-17 0 15,17 1-15,-17-1 16,17 18-1,18-35 1,0 17-16,0-18 16,36 36-1,-1-17 1,-18-36-16,54 53 16,-36-53-16,1 17 15,34 1-15,-17 0 16,-18-18-16,-17 0 15,0 0-15</inkml:trace>
  <inkml:trace contextRef="#ctx0" brushRef="#br1" timeOffset="76007.23">12806 12965 0,'0'-18'47,"-35"18"-32,-1 0 1,-34 0 0,17 0-16,-35 0 0,17 0 15,18 0-15,0 0 16,18 0-1,-18 0-15,35 0 16,-35 0-16,18 0 16,-18 0-16,18 35 15,0-35-15,-18 36 16,35-19-16,-17-17 16,17 35-16,-17-35 15,-18 36-15,18-1 16,35-17-16,-35-1 15,17 1-15,-17 35 16,17-53-16,-17 53 16,17-36-16,0 36 15,1-35-15,-1 17 16,18-17-16,-18-18 16,1 35-16,17 0 15,0-17 1,0 17-1,0-17 1,0 0-16,17 17 31,1-17-15,0-1-16,-1 1 16,-17-1-16,36 36 15,-1-53-15,-17 36 16,-1-19-16,19 19 15,-19-19-15,1 1 16,-1-1-16,1 1 16,17 17-16,-17-17 15,17 17-15,1-17 16,-1 17 0,-18-35-16,1 18 15,0-1-15,-1-17 16,19 18-16,-36 0 15,35-1-15,-35 1 16,18-18-16,17 18 31</inkml:trace>
  <inkml:trace contextRef="#ctx0" brushRef="#br1" timeOffset="79374.92">17180 13000 0,'18'0'0,"0"-18"0,17 18 15,-35-35 1,17 35-16,1-18 78,0 18-78,-1-17 16,1 17-1,17-18 1,1-17-1,-19 35 1,19 0 0,16 0-16,1-18 15,36 18-15,-54-18 16,0 18-16,53 0 16,-17 0-16,-18 0 15,17 0-15,1 0 16,-18 0-16,0 0 15,0 0-15,-18-17 16,18 17-16,0 0 16,17 0-16,-17 0 15,-35 0-15,17 0 16,18 0-16,-35 0 16,17 0-16,18 0 15,-18 0-15,-17 0 16,17 0-16,36 0 15,-36 0 1,18 0-16,-18 0 16,0 0-16,18 0 15,-17 0-15,-1 0 16,18 0-16,17 0 16,-34 0-16,-19 0 15,19 0-15,-1 0 16,35 0-1,-52 0-15,17 0 16,1 0-16,-1 17 16,-18-17-1,1 18-15,17-18 16,1 0-16,-36 18 16,17-18 15,1 17-16,0-17 1,-1 0-16,1 18 16,-1 0-1,1-18-15</inkml:trace>
  <inkml:trace contextRef="#ctx0" brushRef="#br1" timeOffset="81409.6">18397 12682 0,'36'0'32,"-36"-35"61,0-18-77,-53 0 0,35 0-16,-17-17 0,0 35 15,-18-1-15,35 1 16,-17 0-1,17 35 1,0 0-16,-17-53 16,18 53-16,-1 0 15,-17-36-15,-18 19 16,17 17-16,-17-35 16,36 35-16,-36 0 15,0-18-15,-53 18 16,36 0-16,-1 0 15,-35 0-15,36 0 16,-1 0-16,-35 0 16,36 18-16,-1-18 15,-35 17-15,53 18 16,-17-35-16,35 53 16,-54-17-16,54-19 15,-18 19-15,18 17 16,0-1-16,-18 19 15,35-36-15,0-17 16,-34 52-16,52-34 16,-36-1-16,19-17 15,-19 17 1,19-17-16,-19 17 16,19-35-16,17 17 125,-18-17-47</inkml:trace>
  <inkml:trace contextRef="#ctx0" brushRef="#br1" timeOffset="81998.84">16193 12347 0,'0'36'16,"0"-19"-16,0 36 15,0 18-15,0-54 16,-18 54-16,0-36 16,1 18-16,-1-35 15,18-1-15,-18 1 16,18 0 15,0 17 16,18-18-31,53 1-16,-19-18 15,37 18-15,-19-18 16,36 0-16,-53 0 16,-18 0-1,0 0 1,-52 0 109,-1 0-125</inkml:trace>
  <inkml:trace contextRef="#ctx0" brushRef="#br1" timeOffset="83543.23">18574 13952 0,'0'0'0,"17"0"15,1-17 48,17-19-47,-17 36-1,17-52-15,1 34 16,52-35-16,-35 35 15,52-17-15,19 17 16,-1-17-16,36 35 16,18 0-16,-72 0 15,72 0-15,-36 0 16,-35 0-16,17 0 16,1 0-16,-19 0 15,19 35-15,-71-35 16,-18 0-1,-17 18-15,-18 0 16,35-18 0</inkml:trace>
  <inkml:trace contextRef="#ctx0" brushRef="#br1" timeOffset="85253.73">19156 13670 0,'17'0'31,"-17"-17"78,-35-1-109,0 0 16,-53-17-16,35 35 16,-53-18-16,18 1 15,0-1-15,-54 18 16,54-18-16,-18 1 15,-17 17-15,52 0 16,-34 0-16,16 0 16,19 0-16,17 0 15,0 0-15,18 0 16,-53 0-16,17 0 16,0 0-16,19 0 15,16 0-15,-17 0 16,18 0-16,-18 0 15,35 0 1,-17 0-16,18 0 16,-19 0-16,19 0 15,-19 0 1,19 0 0,-1 0-1,-17 0 1,17 0-16,1 0 15,-1 0-15,0 0 16,1 0-16,-1 0 16,0 0-1,-17 0 63,17 0-62,1 0 0,-1 0-16,1 0 15,-1 0 1,0 0 15,1 0-31,-1 0 16,-17 0-16,17 0 15,-17 0-15,17 0 16,0 53-16,-52-36 16,52 1-16,-35 0 15,-70 35-15,88-53 16,-1 35-16,19-35 16,-1 17-16,0-17 15,1 18-15,-1-18 16,1 18-1,-1-1 1,0-17 187,18-17-187,0-1-1</inkml:trace>
  <inkml:trace contextRef="#ctx0" brushRef="#br1" timeOffset="86104.43">16157 13547 0,'0'-18'16,"0"53"31,0 1-47,0-1 16,0 0-16,0-17 15,-17 35-15,-1 0 16,0-53-16,1 35 15,-1-17 1,18-1 0,-18 1-16,18-1 140,36-17-124,-1 0 0,0 0-16,18 0 0,0 0 15,18 0 1,-18 0-16,17 0 15,-35 0-15,-17 0 16,17 0-16</inkml:trace>
  <inkml:trace contextRef="#ctx0" brushRef="#br1" timeOffset="96536.62">11589 15187 0,'17'0'32,"1"0"-17,0-18 1,17 18-1,-17 0-15,17 0 16,18 0-16,0 0 16,35 0-16,18 0 15,0 0-15,88 0 16,-36 0-16,36 0 16,-17 0-16,34 0 15,-17 0-15,-35-17 16,71-18-16,-19 17 15,-70 18-15,18-53 16,-35 35-16,-36 18 16,70-35-16,-69 35 15,52-18-15,-53 1 16,-35-1-16,17 1 16,-34 17-16,34 0 15,18-18-15,-35 0 16,18 1-1,-1 17-15,1 0 0,35 0 16,-36 0-16,54 0 16,17 0-1,-18 0-15,19 0 16,-1 0-16,-35 0 16,35 0-16,-36 0 15,-16 0-15,52 0 16,-35 0-16,-18 0 15,-18 0-15,36 0 16,0 0-16,18 0 16,-1 0-16,-17 0 15,53 0-15,-18 35 16,-18 0-16,18-35 16,-17 0-16,-36 0 15,35 18-15,-52-18 16,35 0-16,-36 0 15,1 17-15,-36-17 16,53 18-16,-35-18 16,0 0-16,-18 18 15,36-18-15,-36 0 16,1 0-16,-1 0 16,0 0-16,18 0 15,-35 0 1,17 0-16,0 0 15,1 0-15,-19 17 0,18-17 16,18 0-16,-17 0 16,17 0-1,-36 18-15,54-18 16,-36 0-16,18 18 16,-18-18-16,36 17 15,-18-17-15,35 0 16,-53 0-16,71 18 15,-53-18-15,17 0 16,19 18-16,-54-18 16,0 0-16,1 17 15,-19-17-15,1 0 16,-1 18 109,19 17-109,-36-17-1,17 17-15,-17 0 16,0-17-16,36 17 15,-19 18-15,-17-18 16,0-17-16,0 0 16,0-1-16,18-17 15,17 18 32,0-18-31,36 18-16,-18-1 15,35-17-15,36 0 16,-19 0-16,72 0 16,-36 0-16,106 0 15,-71 0-15,-17 0 16,88 0-16,-88 0 16,-1 0-16,19 0 15,-1 0-15,-35 0 16,0 0-1,-17 0-15,35 0 0,-53 0 16,-18 0-16,35 0 16,-52 0-1,52 0-15,-52 0 16,-1 18-16,1 0 16,17-18-16,0 0 15,53 52-15,-35-34 16,-18-18-16,18 0 15,-18 18-15,-17-18 16,-18 17-16,-18-17 16,0 0-16,1 0 15,-1 0 1,-17 0-16,-1 18 16,1 0-16,17-18 15,0 35-15,1-17 16,-19 17-16,36 18 15,-17-18-15,-1 0 16,0-17-16,0 35 16,54 0-16,-36 35 15,-36-70-15,18 52 16,-17-35-16,17 36 16,1-18-16,-1 17 15,18 36 1,-18-53-16,36 35 15,-36-35-15,18 36 0,-35-37 16,34 37 0,-34-19-16,17-35 15,1 36-15,-19-18 16,1-18-16,17 36 16,18-18-16,-35-18 15,-1 18-15,-17-18 16,36 0-16,-19 1 15,-17-1-15,0 18 16,0-35-16,0 17 16,0-18-16,0 1 15,0 0-15,0 52 16,-35-34-16,-18 16 16,0-16-16,-35-1 15,-18 53-15,-17-35 16,-36 18-16,-17-1 15,34-34-15,-52 34 16,0 1-16,-105-36 16,140-17-1,-106-18-15,36 0 16,-53 0-16,17 0 0,36 0 16,-18 0-1,70 0-15,1 0 16,35 0-16,-106 0 0,159 0 15,-53 0 1,17 0-16,-35 0 16,36 0-16,-18-18 15,17-53-15,-52 71 16,17-35-16,-35 17 16,-17 1-16,17-1 15,35 18-15,35 0 16,-17 0-16,0 0 15,-18 0-15,18 0 16,-53 0-16,71 0 16,17 0-16,-18-17 15,-70 17-15,53 0 16,0 0-16,0 0 16,0 0-16,53 0 15,-36 0-15,18 0 16,36 0-16,17 0 15,-18 0-15,36 0 16,0 35-16,0-18 16,-1 1-1,19 0-15,-1-18 16,0 17 0,1-17-16,17 18 31,0 0-16,0-1 17,0 1-17,-18-18 1,0 35-16,1 0 16,-1-17-16,1 0 15,-19-1-15,1-17 16,-18 18-16,-70-18 15,34 0-15,-52 0 16,-70 0-16,34 0 16,-17 0-16,-70 0 15,52 0-15,0 0 16,-17 0-16,17 0 16,18 0-1,88 0-15,-105 0 0,34 0 16,36 0-16,-35 0 15,35 0 1,70 0-16,-52 0 16,70 0-16,-53 0 15,53 0-15,-17 0 16,-36 0-16,70 0 16,-16 18-16,16-18 15,1 0-15,0 0 16,-18 0-16,18 0 15,-18 0-15,-18 17 16,36 1-16,-18 0 16,0-18-16,0 17 15,-53 1-15,53-18 16,-17 0-16,-18 18 16,-18 17-16,35-35 15,-52 17-15,34-17 16,1 0-16,0 0 15,-18 18-15,36-18 16,-36 0-16,18 0 16,35 0-16,0 0 15,-35 0 1,35 0-16,-18 0 16,18 0-16,18 0 15,0 0-15,17 0 16,0 0-1,18-35 1,0-18 0,-17-53-16,-1 0 15,0 0-15,1-35 16,-18 0-16,35-18 16,-18 1-16,0-19 15,1 54-15,17-1 16,0-34-16,0 34 15,0-35-15,0-17 16,0 35-16,0 0 16,0-18-16,0 18 15,0 0-15,17 53 16,1 17-16,17-35 16,-35 36-16,18 34 15,-1-34-15,1-1 16,0 18-16,-1 18 15,1 0 1,0-18-16,17 18 16,-35 17-1,35-17-15,-17 35 16,-18-36 0,18 36-16,-1-17 15,1-1 1,-18-17-1,35 17-15,-17-17 16,-1 35 0,-17-18 62</inkml:trace>
  <inkml:trace contextRef="#ctx0" brushRef="#br1" timeOffset="-71069.9">21343 10495 0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13113E-CC40-421C-BCC9-79C42BAAB620}" type="datetimeFigureOut">
              <a:rPr lang="en-US" smtClean="0"/>
              <a:t>9/1/2025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C190A6-4D45-4F8B-89F0-7BBE8BDCC940}" type="slidenum">
              <a:rPr lang="en-US" smtClean="0"/>
              <a:t>‹#›</a:t>
            </a:fld>
            <a:endParaRPr lang="en-US"/>
          </a:p>
        </p:txBody>
      </p:sp>
    </p:spTree>
    <p:extLst>
      <p:ext uri="{BB962C8B-B14F-4D97-AF65-F5344CB8AC3E}">
        <p14:creationId xmlns:p14="http://schemas.microsoft.com/office/powerpoint/2010/main" val="785332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B0F0"/>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2BD79B8-2388-4F6D-994F-06FB23F5B09C}"/>
              </a:ext>
            </a:extLst>
          </p:cNvPr>
          <p:cNvSpPr>
            <a:spLocks noGrp="1"/>
          </p:cNvSpPr>
          <p:nvPr>
            <p:ph type="subTitle" idx="1"/>
          </p:nvPr>
        </p:nvSpPr>
        <p:spPr>
          <a:xfrm>
            <a:off x="1524000" y="3602038"/>
            <a:ext cx="9144000" cy="1655762"/>
          </a:xfrm>
          <a:prstGeom prst="rect">
            <a:avLst/>
          </a:prstGeom>
        </p:spPr>
        <p:txBody>
          <a:bodyPr>
            <a:normAutofit/>
          </a:bodyPr>
          <a:lstStyle>
            <a:lvl1pPr marL="0" indent="0" algn="ctr">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C141E647-10D7-483E-85F8-0E1741C73ED5}"/>
              </a:ext>
            </a:extLst>
          </p:cNvPr>
          <p:cNvSpPr>
            <a:spLocks noGrp="1"/>
          </p:cNvSpPr>
          <p:nvPr>
            <p:ph type="ctrTitle"/>
          </p:nvPr>
        </p:nvSpPr>
        <p:spPr>
          <a:xfrm>
            <a:off x="961533" y="1122363"/>
            <a:ext cx="10190376" cy="2387600"/>
          </a:xfrm>
          <a:solidFill>
            <a:schemeClr val="bg1"/>
          </a:solidFill>
        </p:spPr>
        <p:txBody>
          <a:bodyPr anchor="b"/>
          <a:lstStyle>
            <a:lvl1pPr algn="ctr">
              <a:defRPr sz="6000"/>
            </a:lvl1pPr>
          </a:lstStyle>
          <a:p>
            <a:r>
              <a:rPr lang="en-US"/>
              <a:t>Click to edit Master title style</a:t>
            </a:r>
            <a:endParaRPr lang="en-US" dirty="0"/>
          </a:p>
        </p:txBody>
      </p:sp>
    </p:spTree>
    <p:extLst>
      <p:ext uri="{BB962C8B-B14F-4D97-AF65-F5344CB8AC3E}">
        <p14:creationId xmlns:p14="http://schemas.microsoft.com/office/powerpoint/2010/main" val="674501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35CDD-8879-4E58-83E6-6D0C0968BB0C}"/>
              </a:ext>
            </a:extLst>
          </p:cNvPr>
          <p:cNvSpPr>
            <a:spLocks noGrp="1"/>
          </p:cNvSpPr>
          <p:nvPr>
            <p:ph type="title"/>
          </p:nvPr>
        </p:nvSpPr>
        <p:spPr>
          <a:xfrm>
            <a:off x="169682" y="120027"/>
            <a:ext cx="11928836" cy="483287"/>
          </a:xfrm>
        </p:spPr>
        <p:txBody>
          <a:bodyPr/>
          <a:lstStyle>
            <a:lvl1pPr>
              <a:defRPr>
                <a:solidFill>
                  <a:schemeClr val="accent1">
                    <a:lumMod val="75000"/>
                  </a:schemeClr>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542950CD-7FF0-4FC7-B986-5F7256EA1B69}"/>
              </a:ext>
            </a:extLst>
          </p:cNvPr>
          <p:cNvSpPr>
            <a:spLocks noGrp="1"/>
          </p:cNvSpPr>
          <p:nvPr>
            <p:ph type="sldNum" sz="quarter" idx="10"/>
          </p:nvPr>
        </p:nvSpPr>
        <p:spPr>
          <a:xfrm>
            <a:off x="11085922" y="6653130"/>
            <a:ext cx="635524" cy="273132"/>
          </a:xfrm>
        </p:spPr>
        <p:txBody>
          <a:bodyPr/>
          <a:lstStyle/>
          <a:p>
            <a:fld id="{FFDA1B5B-FD17-41CE-9005-2457CABDC26A}" type="slidenum">
              <a:rPr lang="en-US" smtClean="0"/>
              <a:t>‹#›</a:t>
            </a:fld>
            <a:endParaRPr lang="en-US"/>
          </a:p>
        </p:txBody>
      </p:sp>
      <p:sp>
        <p:nvSpPr>
          <p:cNvPr id="5" name="Text Placeholder 4">
            <a:extLst>
              <a:ext uri="{FF2B5EF4-FFF2-40B4-BE49-F238E27FC236}">
                <a16:creationId xmlns:a16="http://schemas.microsoft.com/office/drawing/2014/main" id="{6C0D6E4E-7CA1-4517-9181-C6C173E9B507}"/>
              </a:ext>
            </a:extLst>
          </p:cNvPr>
          <p:cNvSpPr>
            <a:spLocks noGrp="1"/>
          </p:cNvSpPr>
          <p:nvPr>
            <p:ph type="body" sz="quarter" idx="11"/>
          </p:nvPr>
        </p:nvSpPr>
        <p:spPr>
          <a:xfrm>
            <a:off x="169682" y="688157"/>
            <a:ext cx="11928836" cy="5964973"/>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6041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8E234-2102-4552-8A01-9DCB001B8575}"/>
              </a:ext>
            </a:extLst>
          </p:cNvPr>
          <p:cNvSpPr>
            <a:spLocks noGrp="1"/>
          </p:cNvSpPr>
          <p:nvPr>
            <p:ph type="title"/>
          </p:nvPr>
        </p:nvSpPr>
        <p:spPr>
          <a:xfrm>
            <a:off x="301658" y="136525"/>
            <a:ext cx="11613820" cy="473861"/>
          </a:xfrm>
        </p:spPr>
        <p:txBody>
          <a:bodyPr/>
          <a:lstStyle>
            <a:lvl1pPr>
              <a:defRPr baseline="0">
                <a:solidFill>
                  <a:schemeClr val="accent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9B9F-314B-461C-9D20-C1F31D1548FB}"/>
              </a:ext>
            </a:extLst>
          </p:cNvPr>
          <p:cNvSpPr>
            <a:spLocks noGrp="1"/>
          </p:cNvSpPr>
          <p:nvPr>
            <p:ph idx="1"/>
          </p:nvPr>
        </p:nvSpPr>
        <p:spPr>
          <a:xfrm>
            <a:off x="301658" y="697584"/>
            <a:ext cx="11613820" cy="6023892"/>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38299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70452-B5F1-49EE-A055-CC84F20688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90AAF4-EAA8-4186-A234-8C730260E6F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2E4524B-7682-4FA8-9144-D39EA7DDD28D}"/>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82D2A13-4157-4BEA-BAEB-AE2D12C8270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A8F7812-64B9-44FE-BF0A-58DB8682653B}"/>
              </a:ext>
            </a:extLst>
          </p:cNvPr>
          <p:cNvSpPr>
            <a:spLocks noGrp="1"/>
          </p:cNvSpPr>
          <p:nvPr>
            <p:ph type="sldNum" sz="quarter" idx="12"/>
          </p:nvPr>
        </p:nvSpPr>
        <p:spPr/>
        <p:txBody>
          <a:bodyPr/>
          <a:lstStyle/>
          <a:p>
            <a:fld id="{FFDA1B5B-FD17-41CE-9005-2457CABDC26A}" type="slidenum">
              <a:rPr lang="en-US" smtClean="0"/>
              <a:t>‹#›</a:t>
            </a:fld>
            <a:endParaRPr lang="en-US"/>
          </a:p>
        </p:txBody>
      </p:sp>
      <p:sp>
        <p:nvSpPr>
          <p:cNvPr id="8" name="Text Placeholder 7">
            <a:extLst>
              <a:ext uri="{FF2B5EF4-FFF2-40B4-BE49-F238E27FC236}">
                <a16:creationId xmlns:a16="http://schemas.microsoft.com/office/drawing/2014/main" id="{3871E5D3-5047-4909-88EA-1E70EDB19EDA}"/>
              </a:ext>
            </a:extLst>
          </p:cNvPr>
          <p:cNvSpPr>
            <a:spLocks noGrp="1"/>
          </p:cNvSpPr>
          <p:nvPr>
            <p:ph type="body" sz="quarter" idx="13"/>
          </p:nvPr>
        </p:nvSpPr>
        <p:spPr>
          <a:xfrm>
            <a:off x="490538" y="603250"/>
            <a:ext cx="2940050" cy="1979613"/>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1755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AF361-E65C-4107-95E8-16DA2D44D0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2DA4EF-68C5-439A-9EA9-B1125180C931}"/>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3AE4F3-D9C6-4F8C-BBEE-BDA2D4D9502D}"/>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B94E48-B153-4C1D-B463-692791142FF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6ECE7B6B-FA92-44C2-978D-46F99F1DD5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4690628-BB3D-4CDF-844A-3927CA6B88E7}"/>
              </a:ext>
            </a:extLst>
          </p:cNvPr>
          <p:cNvSpPr>
            <a:spLocks noGrp="1"/>
          </p:cNvSpPr>
          <p:nvPr>
            <p:ph type="sldNum" sz="quarter" idx="12"/>
          </p:nvPr>
        </p:nvSpPr>
        <p:spPr/>
        <p:txBody>
          <a:bodyPr/>
          <a:lstStyle/>
          <a:p>
            <a:fld id="{FFDA1B5B-FD17-41CE-9005-2457CABDC26A}" type="slidenum">
              <a:rPr lang="en-US" smtClean="0"/>
              <a:t>‹#›</a:t>
            </a:fld>
            <a:endParaRPr lang="en-US"/>
          </a:p>
        </p:txBody>
      </p:sp>
    </p:spTree>
    <p:extLst>
      <p:ext uri="{BB962C8B-B14F-4D97-AF65-F5344CB8AC3E}">
        <p14:creationId xmlns:p14="http://schemas.microsoft.com/office/powerpoint/2010/main" val="3056748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55A88-3BF8-4F70-9284-85BF76078F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72CD6A-4FC5-46CC-812A-97BBBAC76CC9}"/>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5D9E4FE-9CA1-4B7D-941E-4B05068258E4}"/>
              </a:ext>
            </a:extLst>
          </p:cNvPr>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DDD75-7E10-4A8F-BF2D-AB0A24BBF7D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92A967C-0174-472F-A9A3-D0F8FB3C6523}"/>
              </a:ext>
            </a:extLst>
          </p:cNvPr>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9994ED-EFF5-4E09-BF82-2904A52FE5C2}"/>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197807A6-FAF6-457E-9308-570ED04DDD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F00F727-52AF-4BDD-9C51-F1A83A0066B2}"/>
              </a:ext>
            </a:extLst>
          </p:cNvPr>
          <p:cNvSpPr>
            <a:spLocks noGrp="1"/>
          </p:cNvSpPr>
          <p:nvPr>
            <p:ph type="sldNum" sz="quarter" idx="12"/>
          </p:nvPr>
        </p:nvSpPr>
        <p:spPr/>
        <p:txBody>
          <a:bodyPr/>
          <a:lstStyle/>
          <a:p>
            <a:fld id="{FFDA1B5B-FD17-41CE-9005-2457CABDC26A}" type="slidenum">
              <a:rPr lang="en-US" smtClean="0"/>
              <a:t>‹#›</a:t>
            </a:fld>
            <a:endParaRPr lang="en-US"/>
          </a:p>
        </p:txBody>
      </p:sp>
    </p:spTree>
    <p:extLst>
      <p:ext uri="{BB962C8B-B14F-4D97-AF65-F5344CB8AC3E}">
        <p14:creationId xmlns:p14="http://schemas.microsoft.com/office/powerpoint/2010/main" val="101373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3C3B3-8E4E-4184-B0F5-FD5577EBDB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8FB299-CD07-4DED-848D-19D0F6D1BA9F}"/>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FF098BFF-846E-43AA-A3C7-7D9B995B3DD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E0DFB38-C85E-4B8C-9C0C-ED57B8814623}"/>
              </a:ext>
            </a:extLst>
          </p:cNvPr>
          <p:cNvSpPr>
            <a:spLocks noGrp="1"/>
          </p:cNvSpPr>
          <p:nvPr>
            <p:ph type="sldNum" sz="quarter" idx="12"/>
          </p:nvPr>
        </p:nvSpPr>
        <p:spPr/>
        <p:txBody>
          <a:bodyPr/>
          <a:lstStyle/>
          <a:p>
            <a:fld id="{FFDA1B5B-FD17-41CE-9005-2457CABDC26A}" type="slidenum">
              <a:rPr lang="en-US" smtClean="0"/>
              <a:t>‹#›</a:t>
            </a:fld>
            <a:endParaRPr lang="en-US"/>
          </a:p>
        </p:txBody>
      </p:sp>
      <p:sp>
        <p:nvSpPr>
          <p:cNvPr id="6" name="Content Placeholder 2">
            <a:extLst>
              <a:ext uri="{FF2B5EF4-FFF2-40B4-BE49-F238E27FC236}">
                <a16:creationId xmlns:a16="http://schemas.microsoft.com/office/drawing/2014/main" id="{556CD9A0-2B81-4198-B4D1-EA8E9191DC95}"/>
              </a:ext>
            </a:extLst>
          </p:cNvPr>
          <p:cNvSpPr>
            <a:spLocks noGrp="1"/>
          </p:cNvSpPr>
          <p:nvPr>
            <p:ph idx="1"/>
          </p:nvPr>
        </p:nvSpPr>
        <p:spPr>
          <a:xfrm>
            <a:off x="301658" y="899317"/>
            <a:ext cx="9888822" cy="3449163"/>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15455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B7FD2-5B0E-41C4-B792-70753A3F8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28C70B-6947-48D0-9F0D-605B9015C3A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6BD857-8EE4-4F96-A276-94BCE8B46AC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0C3776F-264B-40E7-A13C-B0640A71952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D9A525B7-833A-46E3-887F-27A7AFCE6B4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8A0B8B1-0D4F-4EF2-961A-BA1A03BD3C21}"/>
              </a:ext>
            </a:extLst>
          </p:cNvPr>
          <p:cNvSpPr>
            <a:spLocks noGrp="1"/>
          </p:cNvSpPr>
          <p:nvPr>
            <p:ph type="sldNum" sz="quarter" idx="12"/>
          </p:nvPr>
        </p:nvSpPr>
        <p:spPr/>
        <p:txBody>
          <a:bodyPr/>
          <a:lstStyle/>
          <a:p>
            <a:fld id="{FFDA1B5B-FD17-41CE-9005-2457CABDC26A}" type="slidenum">
              <a:rPr lang="en-US" smtClean="0"/>
              <a:t>‹#›</a:t>
            </a:fld>
            <a:endParaRPr lang="en-US"/>
          </a:p>
        </p:txBody>
      </p:sp>
    </p:spTree>
    <p:extLst>
      <p:ext uri="{BB962C8B-B14F-4D97-AF65-F5344CB8AC3E}">
        <p14:creationId xmlns:p14="http://schemas.microsoft.com/office/powerpoint/2010/main" val="536910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6AB01-E654-4E45-BC63-A4D43159DC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B62264-5775-4E5D-848C-BA0A859774A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518D59-7E8A-47E1-BAF6-012DA388864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15E585E-6A64-42FC-AA73-EB96B3A5B2A4}"/>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6F10FB09-5848-428D-980B-544D0A98426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8636D31-AFEE-45E2-8E5F-1E3B6BE1C433}"/>
              </a:ext>
            </a:extLst>
          </p:cNvPr>
          <p:cNvSpPr>
            <a:spLocks noGrp="1"/>
          </p:cNvSpPr>
          <p:nvPr>
            <p:ph type="sldNum" sz="quarter" idx="12"/>
          </p:nvPr>
        </p:nvSpPr>
        <p:spPr/>
        <p:txBody>
          <a:bodyPr/>
          <a:lstStyle/>
          <a:p>
            <a:fld id="{FFDA1B5B-FD17-41CE-9005-2457CABDC26A}" type="slidenum">
              <a:rPr lang="en-US" smtClean="0"/>
              <a:t>‹#›</a:t>
            </a:fld>
            <a:endParaRPr lang="en-US"/>
          </a:p>
        </p:txBody>
      </p:sp>
    </p:spTree>
    <p:extLst>
      <p:ext uri="{BB962C8B-B14F-4D97-AF65-F5344CB8AC3E}">
        <p14:creationId xmlns:p14="http://schemas.microsoft.com/office/powerpoint/2010/main" val="4156007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4648B-1ECC-4CEE-B545-8B49AAC649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4E880F-5236-4EF5-B055-8AE2963F7574}"/>
              </a:ext>
            </a:extLst>
          </p:cNvPr>
          <p:cNvSpPr>
            <a:spLocks noGrp="1"/>
          </p:cNvSpPr>
          <p:nvPr>
            <p:ph type="body" orient="vert" idx="1"/>
          </p:nvPr>
        </p:nvSpPr>
        <p:spPr>
          <a:xfrm>
            <a:off x="2705493" y="1027521"/>
            <a:ext cx="9110587" cy="5464719"/>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324D41-2F9B-4D16-97FE-2AE25721D7D4}"/>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E21B6EB-AEF8-4D69-AD66-F31A4173347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D05D738-3910-4B73-875A-C60C97990012}"/>
              </a:ext>
            </a:extLst>
          </p:cNvPr>
          <p:cNvSpPr>
            <a:spLocks noGrp="1"/>
          </p:cNvSpPr>
          <p:nvPr>
            <p:ph type="sldNum" sz="quarter" idx="12"/>
          </p:nvPr>
        </p:nvSpPr>
        <p:spPr/>
        <p:txBody>
          <a:bodyPr/>
          <a:lstStyle/>
          <a:p>
            <a:fld id="{FFDA1B5B-FD17-41CE-9005-2457CABDC26A}" type="slidenum">
              <a:rPr lang="en-US" smtClean="0"/>
              <a:t>‹#›</a:t>
            </a:fld>
            <a:endParaRPr lang="en-US"/>
          </a:p>
        </p:txBody>
      </p:sp>
    </p:spTree>
    <p:extLst>
      <p:ext uri="{BB962C8B-B14F-4D97-AF65-F5344CB8AC3E}">
        <p14:creationId xmlns:p14="http://schemas.microsoft.com/office/powerpoint/2010/main" val="4250986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4EC055-7696-42FE-8AE8-B39DBCAE4AE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81E25-A87C-47D0-8920-791DE3461C34}"/>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949B95-E4B0-4691-B903-E02CFC0E91D1}"/>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28FC8E12-7258-4D71-B726-C270CADB946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E1B34D7-80AA-4DFC-892A-64AF0F948A13}"/>
              </a:ext>
            </a:extLst>
          </p:cNvPr>
          <p:cNvSpPr>
            <a:spLocks noGrp="1"/>
          </p:cNvSpPr>
          <p:nvPr>
            <p:ph type="sldNum" sz="quarter" idx="12"/>
          </p:nvPr>
        </p:nvSpPr>
        <p:spPr/>
        <p:txBody>
          <a:bodyPr/>
          <a:lstStyle/>
          <a:p>
            <a:fld id="{FFDA1B5B-FD17-41CE-9005-2457CABDC26A}" type="slidenum">
              <a:rPr lang="en-US" smtClean="0"/>
              <a:t>‹#›</a:t>
            </a:fld>
            <a:endParaRPr lang="en-US"/>
          </a:p>
        </p:txBody>
      </p:sp>
    </p:spTree>
    <p:extLst>
      <p:ext uri="{BB962C8B-B14F-4D97-AF65-F5344CB8AC3E}">
        <p14:creationId xmlns:p14="http://schemas.microsoft.com/office/powerpoint/2010/main" val="31400424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97FDA-64D9-4896-896F-06D408352497}"/>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CB11BBF6-EE49-4B79-95D5-90E0228C7A34}"/>
              </a:ext>
            </a:extLst>
          </p:cNvPr>
          <p:cNvSpPr>
            <a:spLocks noGrp="1"/>
          </p:cNvSpPr>
          <p:nvPr>
            <p:ph type="sldNum" sz="quarter" idx="10"/>
          </p:nvPr>
        </p:nvSpPr>
        <p:spPr/>
        <p:txBody>
          <a:bodyPr/>
          <a:lstStyle/>
          <a:p>
            <a:fld id="{FFDA1B5B-FD17-41CE-9005-2457CABDC26A}" type="slidenum">
              <a:rPr lang="en-US" smtClean="0"/>
              <a:t>‹#›</a:t>
            </a:fld>
            <a:endParaRPr lang="en-US"/>
          </a:p>
        </p:txBody>
      </p:sp>
      <p:sp>
        <p:nvSpPr>
          <p:cNvPr id="4" name="Text Placeholder 2">
            <a:extLst>
              <a:ext uri="{FF2B5EF4-FFF2-40B4-BE49-F238E27FC236}">
                <a16:creationId xmlns:a16="http://schemas.microsoft.com/office/drawing/2014/main" id="{8DC56E4E-CE13-443C-AF37-A51E9C47CEE4}"/>
              </a:ext>
            </a:extLst>
          </p:cNvPr>
          <p:cNvSpPr>
            <a:spLocks noGrp="1"/>
          </p:cNvSpPr>
          <p:nvPr>
            <p:ph idx="1"/>
          </p:nvPr>
        </p:nvSpPr>
        <p:spPr>
          <a:xfrm>
            <a:off x="301658" y="1027521"/>
            <a:ext cx="11514422" cy="546471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11938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5A1721-E7A5-4549-A58C-C6386147AE08}"/>
              </a:ext>
            </a:extLst>
          </p:cNvPr>
          <p:cNvSpPr>
            <a:spLocks noGrp="1"/>
          </p:cNvSpPr>
          <p:nvPr>
            <p:ph type="title"/>
          </p:nvPr>
        </p:nvSpPr>
        <p:spPr>
          <a:xfrm>
            <a:off x="301658" y="204870"/>
            <a:ext cx="11613821" cy="62468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5E20DF94-C148-42CF-A3AC-447F55CC8E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DA1B5B-FD17-41CE-9005-2457CABDC26A}" type="slidenum">
              <a:rPr lang="en-US" smtClean="0"/>
              <a:t>‹#›</a:t>
            </a:fld>
            <a:endParaRPr lang="en-US"/>
          </a:p>
        </p:txBody>
      </p:sp>
    </p:spTree>
    <p:extLst>
      <p:ext uri="{BB962C8B-B14F-4D97-AF65-F5344CB8AC3E}">
        <p14:creationId xmlns:p14="http://schemas.microsoft.com/office/powerpoint/2010/main" val="3490229021"/>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51" r:id="rId4"/>
    <p:sldLayoutId id="2147483652" r:id="rId5"/>
    <p:sldLayoutId id="2147483653" r:id="rId6"/>
    <p:sldLayoutId id="2147483654"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4.emf"/></Relationships>
</file>

<file path=ppt/slides/_rels/slide40.xml.rels><?xml version="1.0" encoding="UTF-8" standalone="yes"?>
<Relationships xmlns="http://schemas.openxmlformats.org/package/2006/relationships"><Relationship Id="rId8" Type="http://schemas.openxmlformats.org/officeDocument/2006/relationships/hyperlink" Target="https://www.sciencedirect.com/topics/computer-science/presentation-logic" TargetMode="External"/><Relationship Id="rId3" Type="http://schemas.openxmlformats.org/officeDocument/2006/relationships/hyperlink" Target="https://www.cleveroad.com/blog/web-application-architecture" TargetMode="External"/><Relationship Id="rId7" Type="http://schemas.openxmlformats.org/officeDocument/2006/relationships/hyperlink" Target="https://www.oreilly.com/library/view/software-architecture-patterns/9781491971437/ch01.html" TargetMode="External"/><Relationship Id="rId2" Type="http://schemas.openxmlformats.org/officeDocument/2006/relationships/hyperlink" Target="https://gearheart.io/articles/how-build-scalable-web-applications/" TargetMode="External"/><Relationship Id="rId1" Type="http://schemas.openxmlformats.org/officeDocument/2006/relationships/slideLayout" Target="../slideLayouts/slideLayout2.xml"/><Relationship Id="rId6" Type="http://schemas.openxmlformats.org/officeDocument/2006/relationships/hyperlink" Target="https://www.jinfonet.com/resources/bi-defined/3-tier-architecture-complete-overview/" TargetMode="External"/><Relationship Id="rId5" Type="http://schemas.openxmlformats.org/officeDocument/2006/relationships/hyperlink" Target="https://en.wikipedia.org/wiki/Software_architecture" TargetMode="External"/><Relationship Id="rId4" Type="http://schemas.openxmlformats.org/officeDocument/2006/relationships/hyperlink" Target="https://stackify.com/web-application-architecture/" TargetMode="External"/><Relationship Id="rId9" Type="http://schemas.openxmlformats.org/officeDocument/2006/relationships/hyperlink" Target="https://lanars.com/blog/web-application-architecture-10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E8B35-0FA4-4D88-9C5D-7C0CEF8A47C9}"/>
              </a:ext>
            </a:extLst>
          </p:cNvPr>
          <p:cNvSpPr>
            <a:spLocks noGrp="1"/>
          </p:cNvSpPr>
          <p:nvPr>
            <p:ph type="title"/>
          </p:nvPr>
        </p:nvSpPr>
        <p:spPr>
          <a:xfrm>
            <a:off x="622169" y="2098964"/>
            <a:ext cx="10897386" cy="1330036"/>
          </a:xfrm>
        </p:spPr>
        <p:style>
          <a:lnRef idx="2">
            <a:schemeClr val="accent1"/>
          </a:lnRef>
          <a:fillRef idx="1">
            <a:schemeClr val="lt1"/>
          </a:fillRef>
          <a:effectRef idx="0">
            <a:schemeClr val="accent1"/>
          </a:effectRef>
          <a:fontRef idx="minor">
            <a:schemeClr val="dk1"/>
          </a:fontRef>
        </p:style>
        <p:txBody>
          <a:bodyPr>
            <a:normAutofit/>
          </a:bodyPr>
          <a:lstStyle/>
          <a:p>
            <a:pPr algn="ctr"/>
            <a:r>
              <a:rPr lang="en-US" dirty="0"/>
              <a:t>Adv Web Dev Architecture </a:t>
            </a:r>
            <a:br>
              <a:rPr lang="en-US" dirty="0"/>
            </a:br>
            <a:r>
              <a:rPr lang="en-US" dirty="0"/>
              <a:t>Lecture 2</a:t>
            </a:r>
          </a:p>
        </p:txBody>
      </p:sp>
      <p:sp>
        <p:nvSpPr>
          <p:cNvPr id="3" name="Slide Number Placeholder 2">
            <a:extLst>
              <a:ext uri="{FF2B5EF4-FFF2-40B4-BE49-F238E27FC236}">
                <a16:creationId xmlns:a16="http://schemas.microsoft.com/office/drawing/2014/main" id="{98464896-864F-412F-9B34-ABB39A5EC31B}"/>
              </a:ext>
            </a:extLst>
          </p:cNvPr>
          <p:cNvSpPr>
            <a:spLocks noGrp="1"/>
          </p:cNvSpPr>
          <p:nvPr>
            <p:ph type="sldNum" sz="quarter" idx="10"/>
          </p:nvPr>
        </p:nvSpPr>
        <p:spPr/>
        <p:txBody>
          <a:bodyPr/>
          <a:lstStyle/>
          <a:p>
            <a:fld id="{FFDA1B5B-FD17-41CE-9005-2457CABDC26A}" type="slidenum">
              <a:rPr lang="en-US" smtClean="0"/>
              <a:t>1</a:t>
            </a:fld>
            <a:endParaRPr lang="en-US"/>
          </a:p>
        </p:txBody>
      </p:sp>
      <p:sp>
        <p:nvSpPr>
          <p:cNvPr id="4" name="Text Placeholder 3">
            <a:extLst>
              <a:ext uri="{FF2B5EF4-FFF2-40B4-BE49-F238E27FC236}">
                <a16:creationId xmlns:a16="http://schemas.microsoft.com/office/drawing/2014/main" id="{1AEA3FC9-B7FD-4F8E-844B-D3AD4EC97BF2}"/>
              </a:ext>
            </a:extLst>
          </p:cNvPr>
          <p:cNvSpPr>
            <a:spLocks noGrp="1"/>
          </p:cNvSpPr>
          <p:nvPr>
            <p:ph type="body" sz="quarter" idx="11"/>
          </p:nvPr>
        </p:nvSpPr>
        <p:spPr>
          <a:xfrm>
            <a:off x="1539711" y="3742443"/>
            <a:ext cx="8446416" cy="1178350"/>
          </a:xfrm>
        </p:spPr>
        <p:txBody>
          <a:bodyPr/>
          <a:lstStyle/>
          <a:p>
            <a:pPr marL="0" indent="0" algn="ctr">
              <a:buNone/>
            </a:pPr>
            <a:r>
              <a:rPr lang="en-US" dirty="0">
                <a:solidFill>
                  <a:schemeClr val="bg1"/>
                </a:solidFill>
              </a:rPr>
              <a:t>Amir </a:t>
            </a:r>
            <a:r>
              <a:rPr lang="en-US" dirty="0" err="1">
                <a:solidFill>
                  <a:schemeClr val="bg1"/>
                </a:solidFill>
              </a:rPr>
              <a:t>Amintabar</a:t>
            </a:r>
            <a:r>
              <a:rPr lang="en-US" dirty="0">
                <a:solidFill>
                  <a:schemeClr val="bg1"/>
                </a:solidFill>
              </a:rPr>
              <a:t>, </a:t>
            </a:r>
            <a:r>
              <a:rPr lang="en-US" sz="1800" dirty="0">
                <a:solidFill>
                  <a:schemeClr val="bg1"/>
                </a:solidFill>
              </a:rPr>
              <a:t>PhD</a:t>
            </a:r>
          </a:p>
        </p:txBody>
      </p:sp>
    </p:spTree>
    <p:extLst>
      <p:ext uri="{BB962C8B-B14F-4D97-AF65-F5344CB8AC3E}">
        <p14:creationId xmlns:p14="http://schemas.microsoft.com/office/powerpoint/2010/main" val="4068516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192F8-8649-4ED4-BB50-81995344F093}"/>
              </a:ext>
            </a:extLst>
          </p:cNvPr>
          <p:cNvSpPr>
            <a:spLocks noGrp="1"/>
          </p:cNvSpPr>
          <p:nvPr>
            <p:ph type="title"/>
          </p:nvPr>
        </p:nvSpPr>
        <p:spPr/>
        <p:txBody>
          <a:bodyPr>
            <a:normAutofit fontScale="90000"/>
          </a:bodyPr>
          <a:lstStyle/>
          <a:p>
            <a:r>
              <a:rPr lang="en-US" dirty="0"/>
              <a:t>Outline</a:t>
            </a:r>
          </a:p>
        </p:txBody>
      </p:sp>
      <p:sp>
        <p:nvSpPr>
          <p:cNvPr id="3" name="Slide Number Placeholder 2">
            <a:extLst>
              <a:ext uri="{FF2B5EF4-FFF2-40B4-BE49-F238E27FC236}">
                <a16:creationId xmlns:a16="http://schemas.microsoft.com/office/drawing/2014/main" id="{27901EE2-C0EF-42DD-A47F-F22F093AC325}"/>
              </a:ext>
            </a:extLst>
          </p:cNvPr>
          <p:cNvSpPr>
            <a:spLocks noGrp="1"/>
          </p:cNvSpPr>
          <p:nvPr>
            <p:ph type="sldNum" sz="quarter" idx="10"/>
          </p:nvPr>
        </p:nvSpPr>
        <p:spPr/>
        <p:txBody>
          <a:bodyPr/>
          <a:lstStyle/>
          <a:p>
            <a:fld id="{FFDA1B5B-FD17-41CE-9005-2457CABDC26A}" type="slidenum">
              <a:rPr lang="en-US" smtClean="0"/>
              <a:t>2</a:t>
            </a:fld>
            <a:endParaRPr lang="en-US"/>
          </a:p>
        </p:txBody>
      </p:sp>
      <p:sp>
        <p:nvSpPr>
          <p:cNvPr id="4" name="Text Placeholder 3">
            <a:extLst>
              <a:ext uri="{FF2B5EF4-FFF2-40B4-BE49-F238E27FC236}">
                <a16:creationId xmlns:a16="http://schemas.microsoft.com/office/drawing/2014/main" id="{52190247-9F12-4D49-8344-84520A1EB833}"/>
              </a:ext>
            </a:extLst>
          </p:cNvPr>
          <p:cNvSpPr>
            <a:spLocks noGrp="1"/>
          </p:cNvSpPr>
          <p:nvPr>
            <p:ph type="body" sz="quarter" idx="11"/>
          </p:nvPr>
        </p:nvSpPr>
        <p:spPr/>
        <p:txBody>
          <a:bodyPr/>
          <a:lstStyle/>
          <a:p>
            <a:r>
              <a:rPr lang="en-US" dirty="0"/>
              <a:t>1 Course structure </a:t>
            </a:r>
          </a:p>
          <a:p>
            <a:pPr lvl="1"/>
            <a:r>
              <a:rPr lang="en-US" dirty="0"/>
              <a:t>Course outline</a:t>
            </a:r>
          </a:p>
          <a:p>
            <a:pPr lvl="1"/>
            <a:r>
              <a:rPr lang="en-US" dirty="0"/>
              <a:t>Announcements on the learning hub front page</a:t>
            </a:r>
          </a:p>
          <a:p>
            <a:pPr lvl="1"/>
            <a:r>
              <a:rPr lang="en-US" dirty="0"/>
              <a:t>Assessments, assignments and term project topics </a:t>
            </a:r>
          </a:p>
          <a:p>
            <a:r>
              <a:rPr lang="en-US" dirty="0"/>
              <a:t>2 What is internet software architecture all about?</a:t>
            </a:r>
          </a:p>
          <a:p>
            <a:r>
              <a:rPr lang="en-US" dirty="0"/>
              <a:t>3 The architecture we focus on: API-centric, service based</a:t>
            </a:r>
          </a:p>
          <a:p>
            <a:r>
              <a:rPr lang="en-US" dirty="0"/>
              <a:t>4 JSON as a way of data payload in API communications </a:t>
            </a:r>
          </a:p>
          <a:p>
            <a:endParaRPr lang="en-US" dirty="0"/>
          </a:p>
          <a:p>
            <a:endParaRPr lang="en-US" dirty="0"/>
          </a:p>
        </p:txBody>
      </p:sp>
      <p:sp>
        <p:nvSpPr>
          <p:cNvPr id="6" name="Oval 5">
            <a:extLst>
              <a:ext uri="{FF2B5EF4-FFF2-40B4-BE49-F238E27FC236}">
                <a16:creationId xmlns:a16="http://schemas.microsoft.com/office/drawing/2014/main" id="{34C5BC5E-172A-4450-8F9D-8ED32CA940F0}"/>
              </a:ext>
            </a:extLst>
          </p:cNvPr>
          <p:cNvSpPr/>
          <p:nvPr/>
        </p:nvSpPr>
        <p:spPr>
          <a:xfrm>
            <a:off x="10276449" y="1555668"/>
            <a:ext cx="829994" cy="74558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t>1</a:t>
            </a:r>
          </a:p>
        </p:txBody>
      </p:sp>
    </p:spTree>
    <p:extLst>
      <p:ext uri="{BB962C8B-B14F-4D97-AF65-F5344CB8AC3E}">
        <p14:creationId xmlns:p14="http://schemas.microsoft.com/office/powerpoint/2010/main" val="2494528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D0983-13AC-4BD4-882A-90D50495D13B}"/>
              </a:ext>
            </a:extLst>
          </p:cNvPr>
          <p:cNvSpPr>
            <a:spLocks noGrp="1"/>
          </p:cNvSpPr>
          <p:nvPr>
            <p:ph type="title"/>
          </p:nvPr>
        </p:nvSpPr>
        <p:spPr/>
        <p:txBody>
          <a:bodyPr>
            <a:normAutofit fontScale="90000"/>
          </a:bodyPr>
          <a:lstStyle/>
          <a:p>
            <a:pPr rtl="0">
              <a:spcBef>
                <a:spcPts val="1800"/>
              </a:spcBef>
              <a:spcAft>
                <a:spcPts val="600"/>
              </a:spcAft>
            </a:pPr>
            <a:r>
              <a:rPr lang="en-CA" sz="4400" b="0" i="0" u="none" strike="noStrike" dirty="0">
                <a:solidFill>
                  <a:srgbClr val="1155CC"/>
                </a:solidFill>
                <a:effectLst/>
                <a:latin typeface="Comfortaa"/>
              </a:rPr>
              <a:t>What is internet software/Application Architecture?</a:t>
            </a:r>
            <a:endParaRPr lang="en-US" dirty="0"/>
          </a:p>
        </p:txBody>
      </p:sp>
      <p:sp>
        <p:nvSpPr>
          <p:cNvPr id="3" name="Slide Number Placeholder 2">
            <a:extLst>
              <a:ext uri="{FF2B5EF4-FFF2-40B4-BE49-F238E27FC236}">
                <a16:creationId xmlns:a16="http://schemas.microsoft.com/office/drawing/2014/main" id="{CC67B6A7-40AB-4D4F-8FB3-F85F1EA3E406}"/>
              </a:ext>
            </a:extLst>
          </p:cNvPr>
          <p:cNvSpPr>
            <a:spLocks noGrp="1"/>
          </p:cNvSpPr>
          <p:nvPr>
            <p:ph type="sldNum" sz="quarter" idx="10"/>
          </p:nvPr>
        </p:nvSpPr>
        <p:spPr/>
        <p:txBody>
          <a:bodyPr/>
          <a:lstStyle/>
          <a:p>
            <a:fld id="{FFDA1B5B-FD17-41CE-9005-2457CABDC26A}" type="slidenum">
              <a:rPr lang="en-US" smtClean="0"/>
              <a:t>3</a:t>
            </a:fld>
            <a:endParaRPr lang="en-US"/>
          </a:p>
        </p:txBody>
      </p:sp>
      <p:sp>
        <p:nvSpPr>
          <p:cNvPr id="4" name="Text Placeholder 3">
            <a:extLst>
              <a:ext uri="{FF2B5EF4-FFF2-40B4-BE49-F238E27FC236}">
                <a16:creationId xmlns:a16="http://schemas.microsoft.com/office/drawing/2014/main" id="{B4391249-95C2-42D6-A80D-C2577A3D4BE4}"/>
              </a:ext>
            </a:extLst>
          </p:cNvPr>
          <p:cNvSpPr>
            <a:spLocks noGrp="1"/>
          </p:cNvSpPr>
          <p:nvPr>
            <p:ph type="body" sz="quarter" idx="11"/>
          </p:nvPr>
        </p:nvSpPr>
        <p:spPr/>
        <p:txBody>
          <a:bodyPr/>
          <a:lstStyle/>
          <a:p>
            <a:r>
              <a:rPr lang="en-CA" b="1" dirty="0"/>
              <a:t>Architecture</a:t>
            </a:r>
            <a:r>
              <a:rPr lang="en-CA" dirty="0"/>
              <a:t> refers to interaction/relation among components.</a:t>
            </a:r>
          </a:p>
          <a:p>
            <a:endParaRPr lang="en-CA" dirty="0"/>
          </a:p>
          <a:p>
            <a:r>
              <a:rPr lang="en-CA" dirty="0"/>
              <a:t>In building construction: interaction/relation among walls , floors, stairs </a:t>
            </a:r>
          </a:p>
          <a:p>
            <a:pPr lvl="1"/>
            <a:r>
              <a:rPr lang="en-CA" dirty="0"/>
              <a:t>Focus is on space usage, flow, beauty, cost, style </a:t>
            </a:r>
          </a:p>
          <a:p>
            <a:endParaRPr lang="en-CA" dirty="0"/>
          </a:p>
          <a:p>
            <a:r>
              <a:rPr lang="en-CA" dirty="0"/>
              <a:t>In computer architecture: interaction/relation among CPU, Memory, Storage , I/O …</a:t>
            </a:r>
          </a:p>
          <a:p>
            <a:pPr lvl="1"/>
            <a:r>
              <a:rPr lang="en-CA" dirty="0"/>
              <a:t>Focus is on speed, power usage, efficiency, computational power</a:t>
            </a:r>
          </a:p>
          <a:p>
            <a:endParaRPr lang="en-CA" dirty="0"/>
          </a:p>
          <a:p>
            <a:r>
              <a:rPr lang="en-CA" dirty="0"/>
              <a:t> In web application: interaction/relation among UI, Database, logic, </a:t>
            </a:r>
            <a:r>
              <a:rPr lang="en-CA" dirty="0" err="1"/>
              <a:t>etc</a:t>
            </a:r>
            <a:endParaRPr lang="en-CA" dirty="0"/>
          </a:p>
          <a:p>
            <a:pPr lvl="1"/>
            <a:r>
              <a:rPr lang="en-CA" b="0" i="0" u="none" strike="noStrike" dirty="0">
                <a:solidFill>
                  <a:srgbClr val="000000"/>
                </a:solidFill>
                <a:effectLst/>
                <a:cs typeface="Arial" panose="020B0604020202020204" pitchFamily="34" charset="0"/>
              </a:rPr>
              <a:t>Focus is on reliability, scalability, security, ease of implementation, modularity </a:t>
            </a:r>
            <a:r>
              <a:rPr lang="en-CA" dirty="0">
                <a:cs typeface="Arial" panose="020B0604020202020204" pitchFamily="34" charset="0"/>
              </a:rPr>
              <a:t> </a:t>
            </a:r>
          </a:p>
          <a:p>
            <a:endParaRPr lang="en-US" dirty="0"/>
          </a:p>
        </p:txBody>
      </p:sp>
      <p:sp>
        <p:nvSpPr>
          <p:cNvPr id="6" name="Oval 5">
            <a:extLst>
              <a:ext uri="{FF2B5EF4-FFF2-40B4-BE49-F238E27FC236}">
                <a16:creationId xmlns:a16="http://schemas.microsoft.com/office/drawing/2014/main" id="{65B7D9E6-AF23-4C59-A9E8-C9F746CDA1CD}"/>
              </a:ext>
            </a:extLst>
          </p:cNvPr>
          <p:cNvSpPr/>
          <p:nvPr/>
        </p:nvSpPr>
        <p:spPr>
          <a:xfrm>
            <a:off x="11085922" y="315363"/>
            <a:ext cx="829994" cy="74558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t>2</a:t>
            </a:r>
          </a:p>
        </p:txBody>
      </p:sp>
    </p:spTree>
    <p:extLst>
      <p:ext uri="{BB962C8B-B14F-4D97-AF65-F5344CB8AC3E}">
        <p14:creationId xmlns:p14="http://schemas.microsoft.com/office/powerpoint/2010/main" val="3968642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053F586-A6A2-4667-A171-4E97EF39023C}"/>
              </a:ext>
            </a:extLst>
          </p:cNvPr>
          <p:cNvSpPr>
            <a:spLocks noGrp="1"/>
          </p:cNvSpPr>
          <p:nvPr>
            <p:ph type="sldNum" sz="quarter" idx="10"/>
          </p:nvPr>
        </p:nvSpPr>
        <p:spPr/>
        <p:txBody>
          <a:bodyPr/>
          <a:lstStyle/>
          <a:p>
            <a:fld id="{FFDA1B5B-FD17-41CE-9005-2457CABDC26A}" type="slidenum">
              <a:rPr lang="en-US" smtClean="0"/>
              <a:t>4</a:t>
            </a:fld>
            <a:endParaRPr lang="en-US"/>
          </a:p>
        </p:txBody>
      </p:sp>
      <p:sp>
        <p:nvSpPr>
          <p:cNvPr id="8" name="Title 7">
            <a:extLst>
              <a:ext uri="{FF2B5EF4-FFF2-40B4-BE49-F238E27FC236}">
                <a16:creationId xmlns:a16="http://schemas.microsoft.com/office/drawing/2014/main" id="{C50264AD-39C5-41FA-9DDE-7F3CA8EE8CD6}"/>
              </a:ext>
            </a:extLst>
          </p:cNvPr>
          <p:cNvSpPr>
            <a:spLocks noGrp="1"/>
          </p:cNvSpPr>
          <p:nvPr>
            <p:ph type="title"/>
          </p:nvPr>
        </p:nvSpPr>
        <p:spPr/>
        <p:txBody>
          <a:bodyPr>
            <a:noAutofit/>
          </a:bodyPr>
          <a:lstStyle/>
          <a:p>
            <a:r>
              <a:rPr lang="en-US" sz="3600" dirty="0"/>
              <a:t>What are the benefits of studying architectural patterns?</a:t>
            </a:r>
          </a:p>
        </p:txBody>
      </p:sp>
      <p:sp>
        <p:nvSpPr>
          <p:cNvPr id="9" name="Text Placeholder 3">
            <a:extLst>
              <a:ext uri="{FF2B5EF4-FFF2-40B4-BE49-F238E27FC236}">
                <a16:creationId xmlns:a16="http://schemas.microsoft.com/office/drawing/2014/main" id="{23067CA5-E0C4-4B46-81C8-CE24CE6BA53A}"/>
              </a:ext>
            </a:extLst>
          </p:cNvPr>
          <p:cNvSpPr txBox="1">
            <a:spLocks/>
          </p:cNvSpPr>
          <p:nvPr/>
        </p:nvSpPr>
        <p:spPr>
          <a:xfrm>
            <a:off x="169682" y="751329"/>
            <a:ext cx="11928836" cy="59866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dirty="0">
                <a:solidFill>
                  <a:srgbClr val="202122"/>
                </a:solidFill>
              </a:rPr>
              <a:t>Architectural patterns help us better evaluate the efficiency , robustness, security, performance, modularity, cost of maintenance, development and extension, cost of deployment  our designed application:  </a:t>
            </a:r>
          </a:p>
          <a:p>
            <a:r>
              <a:rPr lang="en-CA" b="1" dirty="0">
                <a:solidFill>
                  <a:srgbClr val="202122"/>
                </a:solidFill>
              </a:rPr>
              <a:t>Efficiency</a:t>
            </a:r>
            <a:r>
              <a:rPr lang="en-CA" dirty="0">
                <a:solidFill>
                  <a:srgbClr val="202122"/>
                </a:solidFill>
              </a:rPr>
              <a:t> (e.g. I am looking for a lightweight server, what backend technology works for me),</a:t>
            </a:r>
          </a:p>
          <a:p>
            <a:r>
              <a:rPr lang="en-CA" dirty="0">
                <a:solidFill>
                  <a:srgbClr val="202122"/>
                </a:solidFill>
              </a:rPr>
              <a:t>Cost of </a:t>
            </a:r>
            <a:r>
              <a:rPr lang="en-CA" b="1" dirty="0">
                <a:solidFill>
                  <a:srgbClr val="202122"/>
                </a:solidFill>
              </a:rPr>
              <a:t>maintenance</a:t>
            </a:r>
            <a:r>
              <a:rPr lang="en-CA" dirty="0">
                <a:solidFill>
                  <a:srgbClr val="202122"/>
                </a:solidFill>
              </a:rPr>
              <a:t> (e.g. my application is written in JavaScript and ASP </a:t>
            </a:r>
            <a:r>
              <a:rPr lang="en-CA" dirty="0" err="1">
                <a:solidFill>
                  <a:srgbClr val="202122"/>
                </a:solidFill>
              </a:rPr>
              <a:t>.net</a:t>
            </a:r>
            <a:r>
              <a:rPr lang="en-CA" dirty="0">
                <a:solidFill>
                  <a:srgbClr val="202122"/>
                </a:solidFill>
              </a:rPr>
              <a:t>, I need two developers. If I switch to </a:t>
            </a:r>
            <a:r>
              <a:rPr lang="en-CA" dirty="0" err="1">
                <a:solidFill>
                  <a:srgbClr val="202122"/>
                </a:solidFill>
              </a:rPr>
              <a:t>nodejs</a:t>
            </a:r>
            <a:r>
              <a:rPr lang="en-CA" dirty="0">
                <a:solidFill>
                  <a:srgbClr val="202122"/>
                </a:solidFill>
              </a:rPr>
              <a:t> I only need one developer good at JavaScript)</a:t>
            </a:r>
          </a:p>
          <a:p>
            <a:r>
              <a:rPr lang="en-CA" b="1" dirty="0">
                <a:solidFill>
                  <a:srgbClr val="202122"/>
                </a:solidFill>
              </a:rPr>
              <a:t>Development and extension </a:t>
            </a:r>
            <a:r>
              <a:rPr lang="en-CA" dirty="0">
                <a:solidFill>
                  <a:srgbClr val="202122"/>
                </a:solidFill>
              </a:rPr>
              <a:t>(e.g. my client wants me to add this new module to Django , but my Python developer left my company. Can I ask my </a:t>
            </a:r>
            <a:r>
              <a:rPr lang="en-CA" dirty="0" err="1">
                <a:solidFill>
                  <a:srgbClr val="202122"/>
                </a:solidFill>
              </a:rPr>
              <a:t>nodejs</a:t>
            </a:r>
            <a:r>
              <a:rPr lang="en-CA" dirty="0">
                <a:solidFill>
                  <a:srgbClr val="202122"/>
                </a:solidFill>
              </a:rPr>
              <a:t> guy to create a service and hook it up to Django via API? The answer is yes only if my Django application is originally developed as an API-centric application)</a:t>
            </a:r>
          </a:p>
          <a:p>
            <a:endParaRPr lang="en-CA" dirty="0">
              <a:solidFill>
                <a:srgbClr val="202122"/>
              </a:solidFill>
            </a:endParaRPr>
          </a:p>
          <a:p>
            <a:endParaRPr lang="en-CA" dirty="0"/>
          </a:p>
          <a:p>
            <a:endParaRPr lang="en-CA" dirty="0"/>
          </a:p>
          <a:p>
            <a:endParaRPr lang="en-CA" dirty="0"/>
          </a:p>
          <a:p>
            <a:endParaRPr lang="en-US" dirty="0"/>
          </a:p>
        </p:txBody>
      </p:sp>
    </p:spTree>
    <p:extLst>
      <p:ext uri="{BB962C8B-B14F-4D97-AF65-F5344CB8AC3E}">
        <p14:creationId xmlns:p14="http://schemas.microsoft.com/office/powerpoint/2010/main" val="1007468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053F586-A6A2-4667-A171-4E97EF39023C}"/>
              </a:ext>
            </a:extLst>
          </p:cNvPr>
          <p:cNvSpPr>
            <a:spLocks noGrp="1"/>
          </p:cNvSpPr>
          <p:nvPr>
            <p:ph type="sldNum" sz="quarter" idx="10"/>
          </p:nvPr>
        </p:nvSpPr>
        <p:spPr/>
        <p:txBody>
          <a:bodyPr/>
          <a:lstStyle/>
          <a:p>
            <a:fld id="{FFDA1B5B-FD17-41CE-9005-2457CABDC26A}" type="slidenum">
              <a:rPr lang="en-US" smtClean="0"/>
              <a:t>5</a:t>
            </a:fld>
            <a:endParaRPr lang="en-US"/>
          </a:p>
        </p:txBody>
      </p:sp>
      <p:sp>
        <p:nvSpPr>
          <p:cNvPr id="8" name="Title 7">
            <a:extLst>
              <a:ext uri="{FF2B5EF4-FFF2-40B4-BE49-F238E27FC236}">
                <a16:creationId xmlns:a16="http://schemas.microsoft.com/office/drawing/2014/main" id="{C50264AD-39C5-41FA-9DDE-7F3CA8EE8CD6}"/>
              </a:ext>
            </a:extLst>
          </p:cNvPr>
          <p:cNvSpPr>
            <a:spLocks noGrp="1"/>
          </p:cNvSpPr>
          <p:nvPr>
            <p:ph type="title"/>
          </p:nvPr>
        </p:nvSpPr>
        <p:spPr/>
        <p:txBody>
          <a:bodyPr>
            <a:noAutofit/>
          </a:bodyPr>
          <a:lstStyle/>
          <a:p>
            <a:r>
              <a:rPr lang="en-US" sz="3600" dirty="0"/>
              <a:t>What are the benefits of studying architectural patterns? …</a:t>
            </a:r>
          </a:p>
        </p:txBody>
      </p:sp>
      <p:sp>
        <p:nvSpPr>
          <p:cNvPr id="9" name="Text Placeholder 3">
            <a:extLst>
              <a:ext uri="{FF2B5EF4-FFF2-40B4-BE49-F238E27FC236}">
                <a16:creationId xmlns:a16="http://schemas.microsoft.com/office/drawing/2014/main" id="{23067CA5-E0C4-4B46-81C8-CE24CE6BA53A}"/>
              </a:ext>
            </a:extLst>
          </p:cNvPr>
          <p:cNvSpPr txBox="1">
            <a:spLocks/>
          </p:cNvSpPr>
          <p:nvPr/>
        </p:nvSpPr>
        <p:spPr>
          <a:xfrm>
            <a:off x="169682" y="751329"/>
            <a:ext cx="11928836" cy="59866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b="1" dirty="0">
                <a:solidFill>
                  <a:srgbClr val="202122"/>
                </a:solidFill>
              </a:rPr>
              <a:t>Robustness</a:t>
            </a:r>
            <a:r>
              <a:rPr lang="en-CA" dirty="0">
                <a:solidFill>
                  <a:srgbClr val="202122"/>
                </a:solidFill>
              </a:rPr>
              <a:t> ( e.g. is there a single point of failure in my design? How the requests' load is distributed among modules. What if the DB fails) </a:t>
            </a:r>
          </a:p>
          <a:p>
            <a:r>
              <a:rPr lang="en-CA" b="1" dirty="0">
                <a:solidFill>
                  <a:srgbClr val="202122"/>
                </a:solidFill>
              </a:rPr>
              <a:t>Security</a:t>
            </a:r>
            <a:r>
              <a:rPr lang="en-CA" dirty="0">
                <a:solidFill>
                  <a:srgbClr val="202122"/>
                </a:solidFill>
              </a:rPr>
              <a:t> ( e.g. how easy I can improve the security? Should I look into every single line of my code, or there is a gateway component I originally designed which is the only portal being in touch with the outside world. That gateway is the only place I need to secure) </a:t>
            </a:r>
          </a:p>
          <a:p>
            <a:r>
              <a:rPr lang="en-CA" b="1" dirty="0">
                <a:solidFill>
                  <a:srgbClr val="202122"/>
                </a:solidFill>
              </a:rPr>
              <a:t>Modularity</a:t>
            </a:r>
            <a:r>
              <a:rPr lang="en-CA" dirty="0">
                <a:solidFill>
                  <a:srgbClr val="202122"/>
                </a:solidFill>
              </a:rPr>
              <a:t> ( e.g. each module/service must carry one main functionality) </a:t>
            </a:r>
          </a:p>
          <a:p>
            <a:r>
              <a:rPr lang="en-CA" dirty="0">
                <a:solidFill>
                  <a:srgbClr val="202122"/>
                </a:solidFill>
              </a:rPr>
              <a:t>Cost of deployment ( e.g. do we need a dedicated server? If we use Ruby on Rails, perhaps we need a dedicated sever. Do we need docker?)</a:t>
            </a:r>
          </a:p>
          <a:p>
            <a:endParaRPr lang="en-CA" dirty="0">
              <a:solidFill>
                <a:srgbClr val="202122"/>
              </a:solidFill>
            </a:endParaRPr>
          </a:p>
          <a:p>
            <a:endParaRPr lang="en-CA" dirty="0">
              <a:solidFill>
                <a:srgbClr val="202122"/>
              </a:solidFill>
            </a:endParaRPr>
          </a:p>
          <a:p>
            <a:endParaRPr lang="en-CA" dirty="0"/>
          </a:p>
          <a:p>
            <a:endParaRPr lang="en-CA" dirty="0"/>
          </a:p>
          <a:p>
            <a:endParaRPr lang="en-CA" dirty="0"/>
          </a:p>
          <a:p>
            <a:endParaRPr lang="en-US" dirty="0"/>
          </a:p>
        </p:txBody>
      </p:sp>
    </p:spTree>
    <p:extLst>
      <p:ext uri="{BB962C8B-B14F-4D97-AF65-F5344CB8AC3E}">
        <p14:creationId xmlns:p14="http://schemas.microsoft.com/office/powerpoint/2010/main" val="2633113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AD586-9984-4899-BFEF-1201F2B5A4E5}"/>
              </a:ext>
            </a:extLst>
          </p:cNvPr>
          <p:cNvSpPr>
            <a:spLocks noGrp="1"/>
          </p:cNvSpPr>
          <p:nvPr>
            <p:ph type="title"/>
          </p:nvPr>
        </p:nvSpPr>
        <p:spPr/>
        <p:txBody>
          <a:bodyPr>
            <a:normAutofit fontScale="90000"/>
          </a:bodyPr>
          <a:lstStyle/>
          <a:p>
            <a:endParaRPr lang="en-US"/>
          </a:p>
        </p:txBody>
      </p:sp>
      <p:sp>
        <p:nvSpPr>
          <p:cNvPr id="3" name="Slide Number Placeholder 2">
            <a:extLst>
              <a:ext uri="{FF2B5EF4-FFF2-40B4-BE49-F238E27FC236}">
                <a16:creationId xmlns:a16="http://schemas.microsoft.com/office/drawing/2014/main" id="{9CF55896-82C8-4C97-97C6-07233AD19B06}"/>
              </a:ext>
            </a:extLst>
          </p:cNvPr>
          <p:cNvSpPr>
            <a:spLocks noGrp="1"/>
          </p:cNvSpPr>
          <p:nvPr>
            <p:ph type="sldNum" sz="quarter" idx="10"/>
          </p:nvPr>
        </p:nvSpPr>
        <p:spPr/>
        <p:txBody>
          <a:bodyPr/>
          <a:lstStyle/>
          <a:p>
            <a:fld id="{FFDA1B5B-FD17-41CE-9005-2457CABDC26A}" type="slidenum">
              <a:rPr lang="en-US" smtClean="0"/>
              <a:t>6</a:t>
            </a:fld>
            <a:endParaRPr lang="en-US"/>
          </a:p>
        </p:txBody>
      </p:sp>
      <p:sp>
        <p:nvSpPr>
          <p:cNvPr id="5" name="Text Placeholder 3">
            <a:extLst>
              <a:ext uri="{FF2B5EF4-FFF2-40B4-BE49-F238E27FC236}">
                <a16:creationId xmlns:a16="http://schemas.microsoft.com/office/drawing/2014/main" id="{908C082E-269B-4856-A39D-CEE8BC7E0A2C}"/>
              </a:ext>
            </a:extLst>
          </p:cNvPr>
          <p:cNvSpPr>
            <a:spLocks noGrp="1"/>
          </p:cNvSpPr>
          <p:nvPr>
            <p:ph type="body" sz="quarter" idx="11"/>
          </p:nvPr>
        </p:nvSpPr>
        <p:spPr>
          <a:xfrm>
            <a:off x="1508151" y="3548708"/>
            <a:ext cx="5820301" cy="901148"/>
          </a:xfrm>
        </p:spPr>
        <p:txBody>
          <a:bodyPr/>
          <a:lstStyle/>
          <a:p>
            <a:pPr marL="0" indent="0">
              <a:buNone/>
            </a:pPr>
            <a:r>
              <a:rPr lang="en-CA" dirty="0"/>
              <a:t>There are </a:t>
            </a:r>
            <a:r>
              <a:rPr lang="en-CA" b="0" i="0" dirty="0">
                <a:solidFill>
                  <a:srgbClr val="202122"/>
                </a:solidFill>
                <a:effectLst/>
              </a:rPr>
              <a:t>many recognized architectural patterns and styles, among them:</a:t>
            </a:r>
            <a:endParaRPr lang="en-CA" dirty="0"/>
          </a:p>
          <a:p>
            <a:endParaRPr lang="en-CA" dirty="0"/>
          </a:p>
          <a:p>
            <a:endParaRPr lang="en-CA" dirty="0"/>
          </a:p>
          <a:p>
            <a:endParaRPr lang="en-US" dirty="0"/>
          </a:p>
        </p:txBody>
      </p:sp>
    </p:spTree>
    <p:extLst>
      <p:ext uri="{BB962C8B-B14F-4D97-AF65-F5344CB8AC3E}">
        <p14:creationId xmlns:p14="http://schemas.microsoft.com/office/powerpoint/2010/main" val="1718428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F2C98-B14B-4907-B56A-72F857B4FEF7}"/>
              </a:ext>
            </a:extLst>
          </p:cNvPr>
          <p:cNvSpPr>
            <a:spLocks noGrp="1"/>
          </p:cNvSpPr>
          <p:nvPr>
            <p:ph type="title"/>
          </p:nvPr>
        </p:nvSpPr>
        <p:spPr/>
        <p:txBody>
          <a:bodyPr>
            <a:normAutofit fontScale="90000"/>
          </a:bodyPr>
          <a:lstStyle/>
          <a:p>
            <a:r>
              <a:rPr lang="en-US" dirty="0"/>
              <a:t>Layered (n-Tier) Architecture</a:t>
            </a:r>
          </a:p>
        </p:txBody>
      </p:sp>
      <p:sp>
        <p:nvSpPr>
          <p:cNvPr id="3" name="Slide Number Placeholder 2">
            <a:extLst>
              <a:ext uri="{FF2B5EF4-FFF2-40B4-BE49-F238E27FC236}">
                <a16:creationId xmlns:a16="http://schemas.microsoft.com/office/drawing/2014/main" id="{F70F2734-69F0-447D-B8DB-C76926E506FF}"/>
              </a:ext>
            </a:extLst>
          </p:cNvPr>
          <p:cNvSpPr>
            <a:spLocks noGrp="1"/>
          </p:cNvSpPr>
          <p:nvPr>
            <p:ph type="sldNum" sz="quarter" idx="10"/>
          </p:nvPr>
        </p:nvSpPr>
        <p:spPr/>
        <p:txBody>
          <a:bodyPr/>
          <a:lstStyle/>
          <a:p>
            <a:fld id="{FFDA1B5B-FD17-41CE-9005-2457CABDC26A}" type="slidenum">
              <a:rPr lang="en-US" smtClean="0"/>
              <a:t>7</a:t>
            </a:fld>
            <a:endParaRPr lang="en-US"/>
          </a:p>
        </p:txBody>
      </p:sp>
      <p:sp>
        <p:nvSpPr>
          <p:cNvPr id="4" name="Text Placeholder 3">
            <a:extLst>
              <a:ext uri="{FF2B5EF4-FFF2-40B4-BE49-F238E27FC236}">
                <a16:creationId xmlns:a16="http://schemas.microsoft.com/office/drawing/2014/main" id="{18A79D6F-7574-4253-8D2C-81BF8264AF0D}"/>
              </a:ext>
            </a:extLst>
          </p:cNvPr>
          <p:cNvSpPr>
            <a:spLocks noGrp="1"/>
          </p:cNvSpPr>
          <p:nvPr>
            <p:ph type="body" sz="quarter" idx="11"/>
          </p:nvPr>
        </p:nvSpPr>
        <p:spPr/>
        <p:txBody>
          <a:bodyPr/>
          <a:lstStyle/>
          <a:p>
            <a:r>
              <a:rPr lang="en-CA" dirty="0"/>
              <a:t>layers = functional elements.</a:t>
            </a:r>
          </a:p>
          <a:p>
            <a:r>
              <a:rPr lang="en-CA" dirty="0"/>
              <a:t>Presentation layer (UI layer)</a:t>
            </a:r>
          </a:p>
          <a:p>
            <a:pPr lvl="1"/>
            <a:r>
              <a:rPr lang="en-CA" dirty="0"/>
              <a:t>interaction with the end-user is handled(e.g. form page)</a:t>
            </a:r>
          </a:p>
          <a:p>
            <a:r>
              <a:rPr lang="en-CA" dirty="0"/>
              <a:t>Business layer ( business logic)</a:t>
            </a:r>
          </a:p>
          <a:p>
            <a:pPr lvl="1"/>
            <a:r>
              <a:rPr lang="en-CA" b="0" i="0" dirty="0">
                <a:solidFill>
                  <a:srgbClr val="202122"/>
                </a:solidFill>
                <a:effectLst/>
                <a:latin typeface="Arial" panose="020B0604020202020204" pitchFamily="34" charset="0"/>
              </a:rPr>
              <a:t>controls the application’s logic ( e.g. decision making, routing requests)</a:t>
            </a:r>
          </a:p>
          <a:p>
            <a:r>
              <a:rPr lang="en-CA" dirty="0"/>
              <a:t>Application layer </a:t>
            </a:r>
          </a:p>
          <a:p>
            <a:pPr lvl="1"/>
            <a:r>
              <a:rPr lang="en-CA" dirty="0"/>
              <a:t>where the core functions of the app is implemented( e.g. libraries)</a:t>
            </a:r>
          </a:p>
          <a:p>
            <a:r>
              <a:rPr lang="en-CA" dirty="0"/>
              <a:t>Data access layer</a:t>
            </a:r>
          </a:p>
          <a:p>
            <a:pPr lvl="1"/>
            <a:r>
              <a:rPr lang="en-CA" dirty="0"/>
              <a:t>where access and retrieval of data are handled ( e.g. databases)</a:t>
            </a:r>
          </a:p>
          <a:p>
            <a:endParaRPr lang="en-US" dirty="0"/>
          </a:p>
        </p:txBody>
      </p:sp>
    </p:spTree>
    <p:extLst>
      <p:ext uri="{BB962C8B-B14F-4D97-AF65-F5344CB8AC3E}">
        <p14:creationId xmlns:p14="http://schemas.microsoft.com/office/powerpoint/2010/main" val="2917749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ED011-79B1-4306-9197-0A71CC6E5B4F}"/>
              </a:ext>
            </a:extLst>
          </p:cNvPr>
          <p:cNvSpPr>
            <a:spLocks noGrp="1"/>
          </p:cNvSpPr>
          <p:nvPr>
            <p:ph type="title"/>
          </p:nvPr>
        </p:nvSpPr>
        <p:spPr/>
        <p:txBody>
          <a:bodyPr>
            <a:normAutofit fontScale="90000"/>
          </a:bodyPr>
          <a:lstStyle/>
          <a:p>
            <a:r>
              <a:rPr lang="en-US" dirty="0"/>
              <a:t>Service Oriented Architecture (Microservice) </a:t>
            </a:r>
          </a:p>
        </p:txBody>
      </p:sp>
      <p:sp>
        <p:nvSpPr>
          <p:cNvPr id="3" name="Slide Number Placeholder 2">
            <a:extLst>
              <a:ext uri="{FF2B5EF4-FFF2-40B4-BE49-F238E27FC236}">
                <a16:creationId xmlns:a16="http://schemas.microsoft.com/office/drawing/2014/main" id="{CE92A80F-E3FC-4540-B893-6A312BCBD22C}"/>
              </a:ext>
            </a:extLst>
          </p:cNvPr>
          <p:cNvSpPr>
            <a:spLocks noGrp="1"/>
          </p:cNvSpPr>
          <p:nvPr>
            <p:ph type="sldNum" sz="quarter" idx="10"/>
          </p:nvPr>
        </p:nvSpPr>
        <p:spPr/>
        <p:txBody>
          <a:bodyPr/>
          <a:lstStyle/>
          <a:p>
            <a:fld id="{FFDA1B5B-FD17-41CE-9005-2457CABDC26A}" type="slidenum">
              <a:rPr lang="en-US" smtClean="0"/>
              <a:t>8</a:t>
            </a:fld>
            <a:endParaRPr lang="en-US"/>
          </a:p>
        </p:txBody>
      </p:sp>
      <p:sp>
        <p:nvSpPr>
          <p:cNvPr id="4" name="Text Placeholder 3">
            <a:extLst>
              <a:ext uri="{FF2B5EF4-FFF2-40B4-BE49-F238E27FC236}">
                <a16:creationId xmlns:a16="http://schemas.microsoft.com/office/drawing/2014/main" id="{74858A32-347C-45D6-B194-BAC1AE67B01B}"/>
              </a:ext>
            </a:extLst>
          </p:cNvPr>
          <p:cNvSpPr>
            <a:spLocks noGrp="1"/>
          </p:cNvSpPr>
          <p:nvPr>
            <p:ph type="body" sz="quarter" idx="11"/>
          </p:nvPr>
        </p:nvSpPr>
        <p:spPr/>
        <p:txBody>
          <a:bodyPr/>
          <a:lstStyle/>
          <a:p>
            <a:r>
              <a:rPr lang="en-CA" dirty="0">
                <a:latin typeface="+mj-lt"/>
              </a:rPr>
              <a:t>The components could be each providing a separate. All forming </a:t>
            </a:r>
            <a:r>
              <a:rPr lang="en-CA" b="0" i="0" dirty="0">
                <a:solidFill>
                  <a:srgbClr val="202122"/>
                </a:solidFill>
                <a:effectLst/>
                <a:latin typeface="+mj-lt"/>
              </a:rPr>
              <a:t>a collection of loosely coupled (</a:t>
            </a:r>
            <a:r>
              <a:rPr lang="en-CA" dirty="0">
                <a:solidFill>
                  <a:srgbClr val="202122"/>
                </a:solidFill>
                <a:latin typeface="+mj-lt"/>
              </a:rPr>
              <a:t>almost independent)</a:t>
            </a:r>
            <a:r>
              <a:rPr lang="en-CA" b="0" i="0" dirty="0">
                <a:solidFill>
                  <a:srgbClr val="202122"/>
                </a:solidFill>
                <a:effectLst/>
                <a:latin typeface="+mj-lt"/>
              </a:rPr>
              <a:t> services. </a:t>
            </a:r>
            <a:r>
              <a:rPr lang="en-CA" dirty="0">
                <a:latin typeface="+mj-lt"/>
              </a:rPr>
              <a:t>When a service reaches a specific level, it could be created in the form of a separate, stand alone app. </a:t>
            </a:r>
          </a:p>
          <a:p>
            <a:r>
              <a:rPr lang="en-CA" dirty="0">
                <a:latin typeface="+mj-lt"/>
              </a:rPr>
              <a:t>We could as well split the services into smaller pieces so that each service executes a single functionality called </a:t>
            </a:r>
            <a:r>
              <a:rPr lang="en-CA" b="1" dirty="0">
                <a:latin typeface="+mj-lt"/>
              </a:rPr>
              <a:t>microservice</a:t>
            </a:r>
            <a:r>
              <a:rPr lang="en-CA" dirty="0">
                <a:latin typeface="+mj-lt"/>
              </a:rPr>
              <a:t>. </a:t>
            </a:r>
          </a:p>
          <a:p>
            <a:r>
              <a:rPr lang="en-CA" dirty="0">
                <a:latin typeface="+mj-lt"/>
              </a:rPr>
              <a:t>Each service can reside in a separate machine. Be written in a different technology stack and can be up and running separately. For example the messenger app is a service to the </a:t>
            </a:r>
            <a:r>
              <a:rPr lang="en-CA" dirty="0" err="1">
                <a:latin typeface="+mj-lt"/>
              </a:rPr>
              <a:t>facebook</a:t>
            </a:r>
            <a:r>
              <a:rPr lang="en-CA" dirty="0">
                <a:latin typeface="+mj-lt"/>
              </a:rPr>
              <a:t> app. If </a:t>
            </a:r>
            <a:r>
              <a:rPr lang="en-CA" dirty="0" err="1">
                <a:latin typeface="+mj-lt"/>
              </a:rPr>
              <a:t>facebook</a:t>
            </a:r>
            <a:r>
              <a:rPr lang="en-CA" dirty="0">
                <a:latin typeface="+mj-lt"/>
              </a:rPr>
              <a:t> shuts down, it does not necessarily cause the messenger app to shut down too</a:t>
            </a:r>
            <a:br>
              <a:rPr lang="en-CA" dirty="0">
                <a:latin typeface="+mj-lt"/>
              </a:rPr>
            </a:br>
            <a:br>
              <a:rPr lang="en-CA" dirty="0">
                <a:latin typeface="+mj-lt"/>
              </a:rPr>
            </a:br>
            <a:r>
              <a:rPr lang="en-CA" dirty="0">
                <a:latin typeface="+mj-lt"/>
              </a:rPr>
              <a:t>SOA: </a:t>
            </a:r>
            <a:r>
              <a:rPr lang="en-US" dirty="0">
                <a:latin typeface="+mj-lt"/>
              </a:rPr>
              <a:t>Service-Oriented Architecture</a:t>
            </a:r>
            <a:br>
              <a:rPr lang="en-US" dirty="0">
                <a:latin typeface="+mj-lt"/>
              </a:rPr>
            </a:br>
            <a:r>
              <a:rPr lang="en-US" dirty="0">
                <a:latin typeface="+mj-lt"/>
              </a:rPr>
              <a:t>MSA: Microservice Architecture           </a:t>
            </a:r>
            <a:r>
              <a:rPr lang="en-US" sz="2000" dirty="0"/>
              <a:t>slightly different but refer the same thing in this course</a:t>
            </a:r>
            <a:endParaRPr lang="en-CA" sz="2000" dirty="0"/>
          </a:p>
          <a:p>
            <a:endParaRPr lang="en-US" dirty="0"/>
          </a:p>
        </p:txBody>
      </p:sp>
    </p:spTree>
    <p:extLst>
      <p:ext uri="{BB962C8B-B14F-4D97-AF65-F5344CB8AC3E}">
        <p14:creationId xmlns:p14="http://schemas.microsoft.com/office/powerpoint/2010/main" val="3761134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B374-2225-4F7A-8202-3B2575530FE0}"/>
              </a:ext>
            </a:extLst>
          </p:cNvPr>
          <p:cNvSpPr>
            <a:spLocks noGrp="1"/>
          </p:cNvSpPr>
          <p:nvPr>
            <p:ph type="title"/>
          </p:nvPr>
        </p:nvSpPr>
        <p:spPr/>
        <p:txBody>
          <a:bodyPr>
            <a:normAutofit fontScale="90000"/>
          </a:bodyPr>
          <a:lstStyle/>
          <a:p>
            <a:r>
              <a:rPr lang="en-CA" dirty="0"/>
              <a:t>Monolithic Architecture</a:t>
            </a:r>
            <a:endParaRPr lang="en-US" dirty="0"/>
          </a:p>
        </p:txBody>
      </p:sp>
      <p:sp>
        <p:nvSpPr>
          <p:cNvPr id="3" name="Slide Number Placeholder 2">
            <a:extLst>
              <a:ext uri="{FF2B5EF4-FFF2-40B4-BE49-F238E27FC236}">
                <a16:creationId xmlns:a16="http://schemas.microsoft.com/office/drawing/2014/main" id="{A1141B56-8BC5-42FA-87E7-527807DC4F67}"/>
              </a:ext>
            </a:extLst>
          </p:cNvPr>
          <p:cNvSpPr>
            <a:spLocks noGrp="1"/>
          </p:cNvSpPr>
          <p:nvPr>
            <p:ph type="sldNum" sz="quarter" idx="10"/>
          </p:nvPr>
        </p:nvSpPr>
        <p:spPr/>
        <p:txBody>
          <a:bodyPr/>
          <a:lstStyle/>
          <a:p>
            <a:fld id="{FFDA1B5B-FD17-41CE-9005-2457CABDC26A}" type="slidenum">
              <a:rPr lang="en-US" smtClean="0"/>
              <a:t>9</a:t>
            </a:fld>
            <a:endParaRPr lang="en-US"/>
          </a:p>
        </p:txBody>
      </p:sp>
      <p:sp>
        <p:nvSpPr>
          <p:cNvPr id="4" name="Text Placeholder 3">
            <a:extLst>
              <a:ext uri="{FF2B5EF4-FFF2-40B4-BE49-F238E27FC236}">
                <a16:creationId xmlns:a16="http://schemas.microsoft.com/office/drawing/2014/main" id="{E625FFB5-3FA9-4224-B20C-42D440C8B9AF}"/>
              </a:ext>
            </a:extLst>
          </p:cNvPr>
          <p:cNvSpPr>
            <a:spLocks noGrp="1"/>
          </p:cNvSpPr>
          <p:nvPr>
            <p:ph type="body" sz="quarter" idx="11"/>
          </p:nvPr>
        </p:nvSpPr>
        <p:spPr/>
        <p:txBody>
          <a:bodyPr/>
          <a:lstStyle/>
          <a:p>
            <a:r>
              <a:rPr lang="en-CA" dirty="0"/>
              <a:t>Opposite to microservices is monolithic architecture where in this context, means composed all in one piece. </a:t>
            </a:r>
          </a:p>
          <a:p>
            <a:r>
              <a:rPr lang="en-CA" dirty="0"/>
              <a:t>A monolithic architecture is the traditional unified model for the design of a software program. Often entire software resides in one machine, entire software is written in one backend technology stack. </a:t>
            </a:r>
          </a:p>
          <a:p>
            <a:r>
              <a:rPr lang="en-CA" dirty="0"/>
              <a:t>For example in a monolithic web application entire application is usually written in one backend technology, say Java and hosted in one machine. If you want to add something new to it you </a:t>
            </a:r>
          </a:p>
          <a:p>
            <a:r>
              <a:rPr lang="en-CA" dirty="0"/>
              <a:t>1- shut down entire application</a:t>
            </a:r>
          </a:p>
          <a:p>
            <a:r>
              <a:rPr lang="en-CA" dirty="0"/>
              <a:t>2- add the new feature</a:t>
            </a:r>
          </a:p>
          <a:p>
            <a:r>
              <a:rPr lang="en-CA" dirty="0"/>
              <a:t>3- ( may need to ) recompile </a:t>
            </a:r>
            <a:r>
              <a:rPr lang="en-CA" i="1" dirty="0"/>
              <a:t>everything</a:t>
            </a:r>
            <a:r>
              <a:rPr lang="en-CA" dirty="0"/>
              <a:t> before deployment</a:t>
            </a:r>
          </a:p>
          <a:p>
            <a:pPr lvl="1"/>
            <a:r>
              <a:rPr lang="en-CA" dirty="0"/>
              <a:t>All application logic (UI, business logic, data access) is bundled together in a single deployable unit. Simple to build and deploy but hard to scale and maintain as complexity grows.</a:t>
            </a:r>
          </a:p>
          <a:p>
            <a:endParaRPr lang="en-CA" dirty="0"/>
          </a:p>
        </p:txBody>
      </p:sp>
    </p:spTree>
    <p:extLst>
      <p:ext uri="{BB962C8B-B14F-4D97-AF65-F5344CB8AC3E}">
        <p14:creationId xmlns:p14="http://schemas.microsoft.com/office/powerpoint/2010/main" val="2659639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D17B0-8E2E-428D-8B8C-D7ABB3FA8D66}"/>
              </a:ext>
            </a:extLst>
          </p:cNvPr>
          <p:cNvSpPr>
            <a:spLocks noGrp="1"/>
          </p:cNvSpPr>
          <p:nvPr>
            <p:ph type="title"/>
          </p:nvPr>
        </p:nvSpPr>
        <p:spPr/>
        <p:txBody>
          <a:bodyPr>
            <a:normAutofit fontScale="90000"/>
          </a:bodyPr>
          <a:lstStyle/>
          <a:p>
            <a:r>
              <a:rPr lang="en-US" dirty="0"/>
              <a:t>Microservice arch. pros and cons </a:t>
            </a:r>
          </a:p>
        </p:txBody>
      </p:sp>
      <p:sp>
        <p:nvSpPr>
          <p:cNvPr id="3" name="Slide Number Placeholder 2">
            <a:extLst>
              <a:ext uri="{FF2B5EF4-FFF2-40B4-BE49-F238E27FC236}">
                <a16:creationId xmlns:a16="http://schemas.microsoft.com/office/drawing/2014/main" id="{64E98FEE-5E7D-433E-B8DF-2949AFA53D08}"/>
              </a:ext>
            </a:extLst>
          </p:cNvPr>
          <p:cNvSpPr>
            <a:spLocks noGrp="1"/>
          </p:cNvSpPr>
          <p:nvPr>
            <p:ph type="sldNum" sz="quarter" idx="10"/>
          </p:nvPr>
        </p:nvSpPr>
        <p:spPr/>
        <p:txBody>
          <a:bodyPr/>
          <a:lstStyle/>
          <a:p>
            <a:fld id="{FFDA1B5B-FD17-41CE-9005-2457CABDC26A}" type="slidenum">
              <a:rPr lang="en-US" smtClean="0"/>
              <a:t>10</a:t>
            </a:fld>
            <a:endParaRPr lang="en-US"/>
          </a:p>
        </p:txBody>
      </p:sp>
      <p:sp>
        <p:nvSpPr>
          <p:cNvPr id="4" name="Text Placeholder 3">
            <a:extLst>
              <a:ext uri="{FF2B5EF4-FFF2-40B4-BE49-F238E27FC236}">
                <a16:creationId xmlns:a16="http://schemas.microsoft.com/office/drawing/2014/main" id="{52D566DA-BC2F-4D66-BB84-49103B72B378}"/>
              </a:ext>
            </a:extLst>
          </p:cNvPr>
          <p:cNvSpPr>
            <a:spLocks noGrp="1"/>
          </p:cNvSpPr>
          <p:nvPr>
            <p:ph type="body" sz="quarter" idx="11"/>
          </p:nvPr>
        </p:nvSpPr>
        <p:spPr/>
        <p:txBody>
          <a:bodyPr/>
          <a:lstStyle/>
          <a:p>
            <a:pPr algn="l" rtl="0"/>
            <a:r>
              <a:rPr lang="en-US" sz="2400" dirty="0"/>
              <a:t>Pros:</a:t>
            </a:r>
            <a:endParaRPr lang="en-CA" sz="2400" dirty="0">
              <a:solidFill>
                <a:srgbClr val="323838"/>
              </a:solidFill>
              <a:latin typeface="HelveticaNeue"/>
            </a:endParaRPr>
          </a:p>
          <a:p>
            <a:pPr algn="l" rtl="0"/>
            <a:r>
              <a:rPr lang="en-CA" sz="2400" b="0" i="0" dirty="0">
                <a:solidFill>
                  <a:srgbClr val="323838"/>
                </a:solidFill>
                <a:effectLst/>
                <a:latin typeface="HelveticaNeue"/>
              </a:rPr>
              <a:t>It enables you to add new components to the system and fix any bugs without shutting everything down.( you can fix messenger app without shutting down </a:t>
            </a:r>
            <a:r>
              <a:rPr lang="en-CA" sz="2400" b="0" i="0" dirty="0" err="1">
                <a:solidFill>
                  <a:srgbClr val="323838"/>
                </a:solidFill>
                <a:effectLst/>
                <a:latin typeface="HelveticaNeue"/>
              </a:rPr>
              <a:t>facebook</a:t>
            </a:r>
            <a:r>
              <a:rPr lang="en-CA" sz="2400" b="0" i="0" dirty="0">
                <a:solidFill>
                  <a:srgbClr val="323838"/>
                </a:solidFill>
                <a:effectLst/>
                <a:latin typeface="HelveticaNeue"/>
              </a:rPr>
              <a:t>)</a:t>
            </a:r>
          </a:p>
          <a:p>
            <a:pPr algn="l"/>
            <a:r>
              <a:rPr lang="en-CA" sz="2400" b="0" i="0" dirty="0">
                <a:solidFill>
                  <a:srgbClr val="323838"/>
                </a:solidFill>
                <a:effectLst/>
                <a:latin typeface="HelveticaNeue"/>
              </a:rPr>
              <a:t> One service is meant to be responsible for one function (for example, messaging, uploading files, registering users, and so on). That’s why you can assign different teams to work on each service and thus speed up the development process</a:t>
            </a:r>
          </a:p>
          <a:p>
            <a:pPr algn="l"/>
            <a:r>
              <a:rPr lang="en-CA" sz="2400" dirty="0">
                <a:solidFill>
                  <a:srgbClr val="323838"/>
                </a:solidFill>
                <a:latin typeface="HelveticaNeue"/>
              </a:rPr>
              <a:t>Cons</a:t>
            </a:r>
          </a:p>
          <a:p>
            <a:pPr algn="l"/>
            <a:r>
              <a:rPr lang="en-CA" sz="2400" dirty="0">
                <a:solidFill>
                  <a:srgbClr val="323838"/>
                </a:solidFill>
                <a:latin typeface="HelveticaNeue"/>
              </a:rPr>
              <a:t>Its complicated compared with monolithic. Since each service could be hosted in a different part of the globe, the only way the services can communicate is via API. Thus you have to deal with so many API calls!</a:t>
            </a:r>
          </a:p>
          <a:p>
            <a:pPr algn="l"/>
            <a:r>
              <a:rPr lang="en-CA" sz="2400" dirty="0">
                <a:solidFill>
                  <a:srgbClr val="323838"/>
                </a:solidFill>
                <a:latin typeface="HelveticaNeue"/>
              </a:rPr>
              <a:t>Nonetheless, many large firms choose the Microservice architecture: Uber, Netflix, Amazon, </a:t>
            </a:r>
            <a:r>
              <a:rPr lang="en-CA" sz="2400" dirty="0" err="1">
                <a:solidFill>
                  <a:srgbClr val="323838"/>
                </a:solidFill>
                <a:latin typeface="HelveticaNeue"/>
              </a:rPr>
              <a:t>Ebay</a:t>
            </a:r>
            <a:r>
              <a:rPr lang="en-CA" sz="2400" dirty="0">
                <a:solidFill>
                  <a:srgbClr val="323838"/>
                </a:solidFill>
                <a:latin typeface="HelveticaNeue"/>
              </a:rPr>
              <a:t>, Sound Cloud, Groupon, realtor.com ( Richmond BC)</a:t>
            </a:r>
          </a:p>
          <a:p>
            <a:pPr algn="l"/>
            <a:r>
              <a:rPr lang="en-CA" sz="2400" dirty="0"/>
              <a:t>Breaks the system into small, independent services, each responsible for a specific business </a:t>
            </a:r>
            <a:r>
              <a:rPr lang="en-CA" sz="2400" dirty="0" err="1"/>
              <a:t>capability.Improves</a:t>
            </a:r>
            <a:r>
              <a:rPr lang="en-CA" sz="2400" dirty="0"/>
              <a:t> scalability and flexibility but increases operational complexity.</a:t>
            </a:r>
            <a:endParaRPr lang="en-US" sz="2400" dirty="0"/>
          </a:p>
        </p:txBody>
      </p:sp>
    </p:spTree>
    <p:extLst>
      <p:ext uri="{BB962C8B-B14F-4D97-AF65-F5344CB8AC3E}">
        <p14:creationId xmlns:p14="http://schemas.microsoft.com/office/powerpoint/2010/main" val="2775013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D2CF1-9F76-DD7E-70EB-191FB7440E1C}"/>
              </a:ext>
            </a:extLst>
          </p:cNvPr>
          <p:cNvSpPr>
            <a:spLocks noGrp="1"/>
          </p:cNvSpPr>
          <p:nvPr>
            <p:ph type="title"/>
          </p:nvPr>
        </p:nvSpPr>
        <p:spPr>
          <a:solidFill>
            <a:schemeClr val="accent4">
              <a:lumMod val="20000"/>
              <a:lumOff val="80000"/>
            </a:schemeClr>
          </a:solidFill>
        </p:spPr>
        <p:txBody>
          <a:bodyPr>
            <a:normAutofit fontScale="90000"/>
          </a:bodyPr>
          <a:lstStyle/>
          <a:p>
            <a:r>
              <a:rPr lang="en-CA" dirty="0"/>
              <a:t>Summary and more by ChatGPT</a:t>
            </a:r>
            <a:r>
              <a:rPr lang="en-CA" sz="1800" dirty="0"/>
              <a:t> ( we need to verify ) </a:t>
            </a:r>
            <a:endParaRPr lang="en-CA" dirty="0"/>
          </a:p>
        </p:txBody>
      </p:sp>
      <p:sp>
        <p:nvSpPr>
          <p:cNvPr id="3" name="Slide Number Placeholder 2">
            <a:extLst>
              <a:ext uri="{FF2B5EF4-FFF2-40B4-BE49-F238E27FC236}">
                <a16:creationId xmlns:a16="http://schemas.microsoft.com/office/drawing/2014/main" id="{7F064448-11FD-5FDB-99D2-38959860CC62}"/>
              </a:ext>
            </a:extLst>
          </p:cNvPr>
          <p:cNvSpPr>
            <a:spLocks noGrp="1"/>
          </p:cNvSpPr>
          <p:nvPr>
            <p:ph type="sldNum" sz="quarter" idx="10"/>
          </p:nvPr>
        </p:nvSpPr>
        <p:spPr/>
        <p:txBody>
          <a:bodyPr/>
          <a:lstStyle/>
          <a:p>
            <a:fld id="{FFDA1B5B-FD17-41CE-9005-2457CABDC26A}" type="slidenum">
              <a:rPr lang="en-US" smtClean="0"/>
              <a:t>11</a:t>
            </a:fld>
            <a:endParaRPr lang="en-US"/>
          </a:p>
        </p:txBody>
      </p:sp>
      <p:sp>
        <p:nvSpPr>
          <p:cNvPr id="4" name="Text Placeholder 3">
            <a:extLst>
              <a:ext uri="{FF2B5EF4-FFF2-40B4-BE49-F238E27FC236}">
                <a16:creationId xmlns:a16="http://schemas.microsoft.com/office/drawing/2014/main" id="{5AA074AE-F3CF-2AC3-1499-1EB06324874F}"/>
              </a:ext>
            </a:extLst>
          </p:cNvPr>
          <p:cNvSpPr>
            <a:spLocks noGrp="1"/>
          </p:cNvSpPr>
          <p:nvPr>
            <p:ph type="body" sz="quarter" idx="11"/>
          </p:nvPr>
        </p:nvSpPr>
        <p:spPr/>
        <p:txBody>
          <a:bodyPr/>
          <a:lstStyle/>
          <a:p>
            <a:r>
              <a:rPr lang="en-CA" b="1" dirty="0"/>
              <a:t>1. Monolithic Architecture</a:t>
            </a:r>
          </a:p>
          <a:p>
            <a:r>
              <a:rPr lang="en-CA" b="1" dirty="0"/>
              <a:t>Purpose:</a:t>
            </a:r>
            <a:r>
              <a:rPr lang="en-CA" dirty="0"/>
              <a:t> Quick to build and deploy for small apps or MVPs.</a:t>
            </a:r>
          </a:p>
          <a:p>
            <a:r>
              <a:rPr lang="en-CA" dirty="0"/>
              <a:t>Best for: prototyping, or apps that don’t expect frequent independent feature updates(</a:t>
            </a:r>
            <a:r>
              <a:rPr lang="en-CA" dirty="0">
                <a:highlight>
                  <a:srgbClr val="00FF00"/>
                </a:highlight>
              </a:rPr>
              <a:t>Q</a:t>
            </a:r>
            <a:r>
              <a:rPr lang="en-CA" dirty="0"/>
              <a:t>: why not suitable for this?)</a:t>
            </a:r>
          </a:p>
          <a:p>
            <a:endParaRPr lang="en-CA" dirty="0"/>
          </a:p>
          <a:p>
            <a:r>
              <a:rPr lang="en-CA" b="1" dirty="0"/>
              <a:t>2. Layered (n-Tier) Architecture</a:t>
            </a:r>
          </a:p>
          <a:p>
            <a:r>
              <a:rPr lang="en-CA" b="1" dirty="0"/>
              <a:t>Purpose:</a:t>
            </a:r>
            <a:r>
              <a:rPr lang="en-CA" dirty="0"/>
              <a:t> Enforces separation of concerns (UI, business logic, data).</a:t>
            </a:r>
          </a:p>
          <a:p>
            <a:r>
              <a:rPr lang="en-CA" dirty="0"/>
              <a:t>Core banking platforms separate UI, business rules, and data persistence. This layered design ensures strict regulatory compliance, testability, and maintainability across millions of transactions.(</a:t>
            </a:r>
            <a:r>
              <a:rPr lang="en-CA" dirty="0">
                <a:highlight>
                  <a:srgbClr val="00FF00"/>
                </a:highlight>
              </a:rPr>
              <a:t>Q:</a:t>
            </a:r>
            <a:r>
              <a:rPr lang="en-CA" dirty="0"/>
              <a:t> What's especial about banking platforms that we need to separate data from business ?</a:t>
            </a:r>
          </a:p>
        </p:txBody>
      </p:sp>
    </p:spTree>
    <p:extLst>
      <p:ext uri="{BB962C8B-B14F-4D97-AF65-F5344CB8AC3E}">
        <p14:creationId xmlns:p14="http://schemas.microsoft.com/office/powerpoint/2010/main" val="305818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455D0-32D2-6342-3FDB-89D451D3D324}"/>
              </a:ext>
            </a:extLst>
          </p:cNvPr>
          <p:cNvSpPr>
            <a:spLocks noGrp="1"/>
          </p:cNvSpPr>
          <p:nvPr>
            <p:ph type="title"/>
          </p:nvPr>
        </p:nvSpPr>
        <p:spPr/>
        <p:txBody>
          <a:bodyPr>
            <a:normAutofit fontScale="90000"/>
          </a:bodyPr>
          <a:lstStyle/>
          <a:p>
            <a:endParaRPr lang="en-CA"/>
          </a:p>
        </p:txBody>
      </p:sp>
      <p:sp>
        <p:nvSpPr>
          <p:cNvPr id="3" name="Slide Number Placeholder 2">
            <a:extLst>
              <a:ext uri="{FF2B5EF4-FFF2-40B4-BE49-F238E27FC236}">
                <a16:creationId xmlns:a16="http://schemas.microsoft.com/office/drawing/2014/main" id="{D83A70BE-6B0F-64EC-92D8-1C920578A3BA}"/>
              </a:ext>
            </a:extLst>
          </p:cNvPr>
          <p:cNvSpPr>
            <a:spLocks noGrp="1"/>
          </p:cNvSpPr>
          <p:nvPr>
            <p:ph type="sldNum" sz="quarter" idx="10"/>
          </p:nvPr>
        </p:nvSpPr>
        <p:spPr/>
        <p:txBody>
          <a:bodyPr/>
          <a:lstStyle/>
          <a:p>
            <a:fld id="{FFDA1B5B-FD17-41CE-9005-2457CABDC26A}" type="slidenum">
              <a:rPr lang="en-US" smtClean="0"/>
              <a:t>12</a:t>
            </a:fld>
            <a:endParaRPr lang="en-US"/>
          </a:p>
        </p:txBody>
      </p:sp>
      <p:sp>
        <p:nvSpPr>
          <p:cNvPr id="4" name="Text Placeholder 3">
            <a:extLst>
              <a:ext uri="{FF2B5EF4-FFF2-40B4-BE49-F238E27FC236}">
                <a16:creationId xmlns:a16="http://schemas.microsoft.com/office/drawing/2014/main" id="{40940A1D-F95B-E74C-5069-DE2600AD4270}"/>
              </a:ext>
            </a:extLst>
          </p:cNvPr>
          <p:cNvSpPr>
            <a:spLocks noGrp="1"/>
          </p:cNvSpPr>
          <p:nvPr>
            <p:ph type="body" sz="quarter" idx="11"/>
          </p:nvPr>
        </p:nvSpPr>
        <p:spPr/>
        <p:txBody>
          <a:bodyPr/>
          <a:lstStyle/>
          <a:p>
            <a:r>
              <a:rPr lang="en-CA" b="1" dirty="0"/>
              <a:t>3. Microservices Architecture</a:t>
            </a:r>
          </a:p>
          <a:p>
            <a:r>
              <a:rPr lang="en-CA" b="1" dirty="0"/>
              <a:t>Purpose:</a:t>
            </a:r>
            <a:r>
              <a:rPr lang="en-CA" dirty="0"/>
              <a:t> Split complex systems into independently deployable services.</a:t>
            </a:r>
          </a:p>
          <a:p>
            <a:r>
              <a:rPr lang="en-CA" dirty="0"/>
              <a:t>Best for: Large-scale systems needing high scalability, agility, and independent team ownership (Netflix, Amazon </a:t>
            </a:r>
            <a:r>
              <a:rPr lang="en-CA" dirty="0">
                <a:highlight>
                  <a:srgbClr val="00FF00"/>
                </a:highlight>
              </a:rPr>
              <a:t>Q:</a:t>
            </a:r>
            <a:r>
              <a:rPr lang="en-CA" dirty="0"/>
              <a:t> who else?).</a:t>
            </a:r>
          </a:p>
          <a:p>
            <a:endParaRPr lang="en-CA" dirty="0"/>
          </a:p>
          <a:p>
            <a:r>
              <a:rPr lang="en-CA" b="1" dirty="0"/>
              <a:t>4. Event-Driven Architecture</a:t>
            </a:r>
          </a:p>
          <a:p>
            <a:r>
              <a:rPr lang="en-CA" dirty="0"/>
              <a:t>Purpose: Trigger actions asynchronously via events (publish/subscribe model).</a:t>
            </a:r>
          </a:p>
          <a:p>
            <a:r>
              <a:rPr lang="en-CA" dirty="0"/>
              <a:t>Best for</a:t>
            </a:r>
            <a:r>
              <a:rPr lang="en-CA" dirty="0">
                <a:highlight>
                  <a:srgbClr val="00FF00"/>
                </a:highlight>
              </a:rPr>
              <a:t>?</a:t>
            </a:r>
          </a:p>
          <a:p>
            <a:r>
              <a:rPr lang="en-CA" dirty="0">
                <a:highlight>
                  <a:srgbClr val="00FF00"/>
                </a:highlight>
              </a:rPr>
              <a:t>Q:</a:t>
            </a:r>
            <a:r>
              <a:rPr lang="en-CA" dirty="0"/>
              <a:t> Example?</a:t>
            </a:r>
          </a:p>
        </p:txBody>
      </p:sp>
    </p:spTree>
    <p:extLst>
      <p:ext uri="{BB962C8B-B14F-4D97-AF65-F5344CB8AC3E}">
        <p14:creationId xmlns:p14="http://schemas.microsoft.com/office/powerpoint/2010/main" val="1137882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223D3-3745-AD74-7929-0C4E46DE50E5}"/>
              </a:ext>
            </a:extLst>
          </p:cNvPr>
          <p:cNvSpPr>
            <a:spLocks noGrp="1"/>
          </p:cNvSpPr>
          <p:nvPr>
            <p:ph type="title"/>
          </p:nvPr>
        </p:nvSpPr>
        <p:spPr/>
        <p:txBody>
          <a:bodyPr>
            <a:normAutofit fontScale="90000"/>
          </a:bodyPr>
          <a:lstStyle/>
          <a:p>
            <a:endParaRPr lang="en-CA"/>
          </a:p>
        </p:txBody>
      </p:sp>
      <p:sp>
        <p:nvSpPr>
          <p:cNvPr id="3" name="Slide Number Placeholder 2">
            <a:extLst>
              <a:ext uri="{FF2B5EF4-FFF2-40B4-BE49-F238E27FC236}">
                <a16:creationId xmlns:a16="http://schemas.microsoft.com/office/drawing/2014/main" id="{CFAB3B6C-3108-8079-051B-E9485AA4BF71}"/>
              </a:ext>
            </a:extLst>
          </p:cNvPr>
          <p:cNvSpPr>
            <a:spLocks noGrp="1"/>
          </p:cNvSpPr>
          <p:nvPr>
            <p:ph type="sldNum" sz="quarter" idx="10"/>
          </p:nvPr>
        </p:nvSpPr>
        <p:spPr/>
        <p:txBody>
          <a:bodyPr/>
          <a:lstStyle/>
          <a:p>
            <a:fld id="{FFDA1B5B-FD17-41CE-9005-2457CABDC26A}" type="slidenum">
              <a:rPr lang="en-US" smtClean="0"/>
              <a:t>13</a:t>
            </a:fld>
            <a:endParaRPr lang="en-US"/>
          </a:p>
        </p:txBody>
      </p:sp>
      <p:sp>
        <p:nvSpPr>
          <p:cNvPr id="4" name="Text Placeholder 3">
            <a:extLst>
              <a:ext uri="{FF2B5EF4-FFF2-40B4-BE49-F238E27FC236}">
                <a16:creationId xmlns:a16="http://schemas.microsoft.com/office/drawing/2014/main" id="{77B7C78B-0F57-98A5-4C29-940EFD57F2D2}"/>
              </a:ext>
            </a:extLst>
          </p:cNvPr>
          <p:cNvSpPr>
            <a:spLocks noGrp="1"/>
          </p:cNvSpPr>
          <p:nvPr>
            <p:ph type="body" sz="quarter" idx="11"/>
          </p:nvPr>
        </p:nvSpPr>
        <p:spPr/>
        <p:txBody>
          <a:bodyPr/>
          <a:lstStyle/>
          <a:p>
            <a:r>
              <a:rPr lang="en-CA" b="1" dirty="0"/>
              <a:t>5. Serverless / Function-as-a-Service (</a:t>
            </a:r>
            <a:r>
              <a:rPr lang="en-CA" b="1" dirty="0" err="1"/>
              <a:t>FaaS</a:t>
            </a:r>
            <a:r>
              <a:rPr lang="en-CA" b="1" dirty="0"/>
              <a:t>)</a:t>
            </a:r>
          </a:p>
          <a:p>
            <a:r>
              <a:rPr lang="en-CA" b="1" dirty="0"/>
              <a:t>Purpose:</a:t>
            </a:r>
            <a:r>
              <a:rPr lang="en-CA" dirty="0"/>
              <a:t> Run small, stateless functions in the cloud without managing servers.</a:t>
            </a:r>
          </a:p>
          <a:p>
            <a:r>
              <a:rPr lang="en-CA" b="1" dirty="0"/>
              <a:t>Best for</a:t>
            </a:r>
            <a:r>
              <a:rPr lang="en-CA" dirty="0"/>
              <a:t>: Apps with unpredictable traffic (the server is developed by someone else and made available to you via API </a:t>
            </a:r>
            <a:r>
              <a:rPr lang="en-CA" dirty="0" err="1"/>
              <a:t>calles</a:t>
            </a:r>
            <a:r>
              <a:rPr lang="en-CA" dirty="0"/>
              <a:t>) tasks like image processing throw sending API request to an image server, vending machine payments</a:t>
            </a:r>
          </a:p>
          <a:p>
            <a:r>
              <a:rPr lang="en-CA" b="1" dirty="0"/>
              <a:t>Example</a:t>
            </a:r>
            <a:r>
              <a:rPr lang="en-CA" dirty="0"/>
              <a:t>: apps you developed in term one where you had no server side scripting involved </a:t>
            </a:r>
          </a:p>
          <a:p>
            <a:endParaRPr lang="en-CA" dirty="0"/>
          </a:p>
          <a:p>
            <a:r>
              <a:rPr lang="en-CA" b="1" dirty="0"/>
              <a:t>6. Model-View-Controller (MVC)</a:t>
            </a:r>
          </a:p>
          <a:p>
            <a:r>
              <a:rPr lang="en-CA" b="1" dirty="0"/>
              <a:t>Purpose:</a:t>
            </a:r>
            <a:r>
              <a:rPr lang="en-CA" dirty="0"/>
              <a:t> Organize code into UI (View), logic (Controller), and data (Model).</a:t>
            </a:r>
          </a:p>
          <a:p>
            <a:r>
              <a:rPr lang="en-CA" b="1" dirty="0"/>
              <a:t>Best for</a:t>
            </a:r>
            <a:r>
              <a:rPr lang="en-CA" dirty="0"/>
              <a:t>: Web frameworks (Django, Rails, ASP.NET MVC) — good when app logic is closely tied to views (</a:t>
            </a:r>
            <a:r>
              <a:rPr lang="en-CA" dirty="0">
                <a:highlight>
                  <a:srgbClr val="00FF00"/>
                </a:highlight>
              </a:rPr>
              <a:t>Q: </a:t>
            </a:r>
            <a:r>
              <a:rPr lang="en-CA" dirty="0"/>
              <a:t>what does this mean?).</a:t>
            </a:r>
            <a:br>
              <a:rPr lang="en-CA" dirty="0"/>
            </a:br>
            <a:r>
              <a:rPr lang="en-CA" b="1" dirty="0"/>
              <a:t>GitHub</a:t>
            </a:r>
            <a:r>
              <a:rPr lang="en-CA" dirty="0"/>
              <a:t> was originally built on </a:t>
            </a:r>
            <a:r>
              <a:rPr lang="en-CA" b="1" dirty="0"/>
              <a:t>Ruby on Rails (MVC)</a:t>
            </a:r>
            <a:r>
              <a:rPr lang="en-CA" dirty="0"/>
              <a:t>.(</a:t>
            </a:r>
            <a:r>
              <a:rPr lang="en-CA" dirty="0">
                <a:highlight>
                  <a:srgbClr val="00FF00"/>
                </a:highlight>
              </a:rPr>
              <a:t>true?</a:t>
            </a:r>
            <a:r>
              <a:rPr lang="en-CA" dirty="0"/>
              <a:t>)</a:t>
            </a:r>
          </a:p>
          <a:p>
            <a:endParaRPr lang="en-CA" dirty="0"/>
          </a:p>
        </p:txBody>
      </p:sp>
    </p:spTree>
    <p:extLst>
      <p:ext uri="{BB962C8B-B14F-4D97-AF65-F5344CB8AC3E}">
        <p14:creationId xmlns:p14="http://schemas.microsoft.com/office/powerpoint/2010/main" val="348478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C7DA0-B84F-BA45-7C5A-F3B97A8442C0}"/>
              </a:ext>
            </a:extLst>
          </p:cNvPr>
          <p:cNvSpPr>
            <a:spLocks noGrp="1"/>
          </p:cNvSpPr>
          <p:nvPr>
            <p:ph type="title"/>
          </p:nvPr>
        </p:nvSpPr>
        <p:spPr/>
        <p:txBody>
          <a:bodyPr>
            <a:normAutofit fontScale="90000"/>
          </a:bodyPr>
          <a:lstStyle/>
          <a:p>
            <a:endParaRPr lang="en-CA"/>
          </a:p>
        </p:txBody>
      </p:sp>
      <p:sp>
        <p:nvSpPr>
          <p:cNvPr id="3" name="Slide Number Placeholder 2">
            <a:extLst>
              <a:ext uri="{FF2B5EF4-FFF2-40B4-BE49-F238E27FC236}">
                <a16:creationId xmlns:a16="http://schemas.microsoft.com/office/drawing/2014/main" id="{5C743799-78A3-13E9-CD6A-6B4E6F59A11B}"/>
              </a:ext>
            </a:extLst>
          </p:cNvPr>
          <p:cNvSpPr>
            <a:spLocks noGrp="1"/>
          </p:cNvSpPr>
          <p:nvPr>
            <p:ph type="sldNum" sz="quarter" idx="10"/>
          </p:nvPr>
        </p:nvSpPr>
        <p:spPr/>
        <p:txBody>
          <a:bodyPr/>
          <a:lstStyle/>
          <a:p>
            <a:fld id="{FFDA1B5B-FD17-41CE-9005-2457CABDC26A}" type="slidenum">
              <a:rPr lang="en-US" smtClean="0"/>
              <a:t>14</a:t>
            </a:fld>
            <a:endParaRPr lang="en-US"/>
          </a:p>
        </p:txBody>
      </p:sp>
      <p:sp>
        <p:nvSpPr>
          <p:cNvPr id="4" name="Text Placeholder 3">
            <a:extLst>
              <a:ext uri="{FF2B5EF4-FFF2-40B4-BE49-F238E27FC236}">
                <a16:creationId xmlns:a16="http://schemas.microsoft.com/office/drawing/2014/main" id="{EA2A4FD9-4681-F5F4-6583-4AC239E5964F}"/>
              </a:ext>
            </a:extLst>
          </p:cNvPr>
          <p:cNvSpPr>
            <a:spLocks noGrp="1"/>
          </p:cNvSpPr>
          <p:nvPr>
            <p:ph type="body" sz="quarter" idx="11"/>
          </p:nvPr>
        </p:nvSpPr>
        <p:spPr/>
        <p:txBody>
          <a:bodyPr/>
          <a:lstStyle/>
          <a:p>
            <a:r>
              <a:rPr lang="en-CA" b="1" dirty="0"/>
              <a:t>7. Model-View-</a:t>
            </a:r>
            <a:r>
              <a:rPr lang="en-CA" b="1" dirty="0" err="1"/>
              <a:t>ViewModel</a:t>
            </a:r>
            <a:r>
              <a:rPr lang="en-CA" b="1" dirty="0"/>
              <a:t> (MVVM)</a:t>
            </a:r>
          </a:p>
          <a:p>
            <a:r>
              <a:rPr lang="en-CA" b="1" dirty="0"/>
              <a:t>Purpose:</a:t>
            </a:r>
            <a:r>
              <a:rPr lang="en-CA" dirty="0"/>
              <a:t> Improve UI separation, enable two-way data binding.</a:t>
            </a:r>
          </a:p>
          <a:p>
            <a:r>
              <a:rPr lang="en-CA" dirty="0"/>
              <a:t>Best for: Rich client-side apps with reactive UIs (Angular, Vue, React with state management).</a:t>
            </a:r>
          </a:p>
          <a:p>
            <a:r>
              <a:rPr lang="en-CA" dirty="0"/>
              <a:t>Real-Life Example</a:t>
            </a:r>
            <a:r>
              <a:rPr lang="en-CA" dirty="0">
                <a:highlight>
                  <a:srgbClr val="00FF00"/>
                </a:highlight>
              </a:rPr>
              <a:t>?</a:t>
            </a:r>
          </a:p>
          <a:p>
            <a:endParaRPr lang="en-CA" dirty="0"/>
          </a:p>
          <a:p>
            <a:r>
              <a:rPr lang="en-CA" b="1" dirty="0"/>
              <a:t>8. Micro-Frontends</a:t>
            </a:r>
          </a:p>
          <a:p>
            <a:r>
              <a:rPr lang="en-CA" b="1" dirty="0"/>
              <a:t>Purpose:</a:t>
            </a:r>
            <a:r>
              <a:rPr lang="en-CA" dirty="0"/>
              <a:t> Break large front-end apps into smaller, independently deployable parts.</a:t>
            </a:r>
          </a:p>
          <a:p>
            <a:r>
              <a:rPr lang="en-CA" dirty="0"/>
              <a:t>Best for: Enterprises with multiple teams contributing to a single large front-end (e-commerce sites, dashboards).</a:t>
            </a:r>
          </a:p>
          <a:p>
            <a:r>
              <a:rPr lang="en-CA" b="1" dirty="0"/>
              <a:t>Real-Life Example:</a:t>
            </a:r>
            <a:r>
              <a:rPr lang="en-CA" dirty="0"/>
              <a:t> </a:t>
            </a:r>
            <a:r>
              <a:rPr lang="en-CA" b="1" dirty="0"/>
              <a:t>Spotify</a:t>
            </a:r>
            <a:r>
              <a:rPr lang="en-CA" dirty="0"/>
              <a:t> uses micro-frontends to scale different parts of its web player.(</a:t>
            </a:r>
            <a:r>
              <a:rPr lang="en-CA" dirty="0">
                <a:highlight>
                  <a:srgbClr val="00FF00"/>
                </a:highlight>
              </a:rPr>
              <a:t>true?</a:t>
            </a:r>
            <a:r>
              <a:rPr lang="en-CA" dirty="0"/>
              <a:t>)</a:t>
            </a:r>
          </a:p>
          <a:p>
            <a:endParaRPr lang="en-CA" dirty="0"/>
          </a:p>
        </p:txBody>
      </p:sp>
    </p:spTree>
    <p:extLst>
      <p:ext uri="{BB962C8B-B14F-4D97-AF65-F5344CB8AC3E}">
        <p14:creationId xmlns:p14="http://schemas.microsoft.com/office/powerpoint/2010/main" val="196607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1F6BA-B7FF-1468-6E60-53D8D592C9CF}"/>
              </a:ext>
            </a:extLst>
          </p:cNvPr>
          <p:cNvSpPr>
            <a:spLocks noGrp="1"/>
          </p:cNvSpPr>
          <p:nvPr>
            <p:ph type="title"/>
          </p:nvPr>
        </p:nvSpPr>
        <p:spPr/>
        <p:txBody>
          <a:bodyPr>
            <a:normAutofit fontScale="90000"/>
          </a:bodyPr>
          <a:lstStyle/>
          <a:p>
            <a:endParaRPr lang="en-CA"/>
          </a:p>
        </p:txBody>
      </p:sp>
      <p:sp>
        <p:nvSpPr>
          <p:cNvPr id="3" name="Slide Number Placeholder 2">
            <a:extLst>
              <a:ext uri="{FF2B5EF4-FFF2-40B4-BE49-F238E27FC236}">
                <a16:creationId xmlns:a16="http://schemas.microsoft.com/office/drawing/2014/main" id="{95AEB948-3392-F714-152B-C321AD3C27A9}"/>
              </a:ext>
            </a:extLst>
          </p:cNvPr>
          <p:cNvSpPr>
            <a:spLocks noGrp="1"/>
          </p:cNvSpPr>
          <p:nvPr>
            <p:ph type="sldNum" sz="quarter" idx="10"/>
          </p:nvPr>
        </p:nvSpPr>
        <p:spPr/>
        <p:txBody>
          <a:bodyPr/>
          <a:lstStyle/>
          <a:p>
            <a:fld id="{FFDA1B5B-FD17-41CE-9005-2457CABDC26A}" type="slidenum">
              <a:rPr lang="en-US" smtClean="0"/>
              <a:t>15</a:t>
            </a:fld>
            <a:endParaRPr lang="en-US"/>
          </a:p>
        </p:txBody>
      </p:sp>
      <p:sp>
        <p:nvSpPr>
          <p:cNvPr id="4" name="Text Placeholder 3">
            <a:extLst>
              <a:ext uri="{FF2B5EF4-FFF2-40B4-BE49-F238E27FC236}">
                <a16:creationId xmlns:a16="http://schemas.microsoft.com/office/drawing/2014/main" id="{BDF920BB-9CEC-9674-49AB-A4FB8E4B8815}"/>
              </a:ext>
            </a:extLst>
          </p:cNvPr>
          <p:cNvSpPr>
            <a:spLocks noGrp="1"/>
          </p:cNvSpPr>
          <p:nvPr>
            <p:ph type="body" sz="quarter" idx="11"/>
          </p:nvPr>
        </p:nvSpPr>
        <p:spPr/>
        <p:txBody>
          <a:bodyPr/>
          <a:lstStyle/>
          <a:p>
            <a:r>
              <a:rPr lang="en-CA" b="1" dirty="0"/>
              <a:t>9. Hexagonal Architecture (Ports &amp; Adapters)</a:t>
            </a:r>
          </a:p>
          <a:p>
            <a:r>
              <a:rPr lang="en-CA" b="1" dirty="0"/>
              <a:t>Purpose:</a:t>
            </a:r>
            <a:r>
              <a:rPr lang="en-CA" dirty="0"/>
              <a:t> Decouple core business logic from external systems (DBs, UI, frameworks).</a:t>
            </a:r>
          </a:p>
          <a:p>
            <a:r>
              <a:rPr lang="en-CA" dirty="0"/>
              <a:t>Example: Lufthansa Systems (aviation software)</a:t>
            </a:r>
          </a:p>
          <a:p>
            <a:r>
              <a:rPr lang="en-CA" dirty="0"/>
              <a:t>They use hexagonal architecture to decouple flight scheduling logic from databases, UI, or external APIs. This makes systems testable, reliable, and adaptable to new data sources.</a:t>
            </a:r>
          </a:p>
          <a:p>
            <a:r>
              <a:rPr lang="en-CA" b="1" dirty="0"/>
              <a:t>10. CQRS (Command Query Responsibility Segregation)</a:t>
            </a:r>
          </a:p>
          <a:p>
            <a:r>
              <a:rPr lang="en-CA" b="1" dirty="0"/>
              <a:t>Purpose:</a:t>
            </a:r>
            <a:r>
              <a:rPr lang="en-CA" dirty="0"/>
              <a:t> Optimize performance by separating write (commands) from read (queries).</a:t>
            </a:r>
          </a:p>
          <a:p>
            <a:r>
              <a:rPr lang="en-CA" dirty="0"/>
              <a:t>LinkedIn </a:t>
            </a:r>
            <a:r>
              <a:rPr lang="en-CA" dirty="0">
                <a:highlight>
                  <a:srgbClr val="00FF00"/>
                </a:highlight>
              </a:rPr>
              <a:t>? </a:t>
            </a:r>
            <a:r>
              <a:rPr lang="en-CA" dirty="0"/>
              <a:t>uses CQRS in its feed and messaging systems. Write-heavy actions (posting updates, sending messages) are handled separately from read-heavy queries (loading millions of feeds), ensuring performance at scale.</a:t>
            </a:r>
          </a:p>
        </p:txBody>
      </p:sp>
    </p:spTree>
    <p:extLst>
      <p:ext uri="{BB962C8B-B14F-4D97-AF65-F5344CB8AC3E}">
        <p14:creationId xmlns:p14="http://schemas.microsoft.com/office/powerpoint/2010/main" val="3188253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DA0BE-1DDB-9F15-A051-4618DA0E5084}"/>
              </a:ext>
            </a:extLst>
          </p:cNvPr>
          <p:cNvSpPr>
            <a:spLocks noGrp="1"/>
          </p:cNvSpPr>
          <p:nvPr>
            <p:ph type="title"/>
          </p:nvPr>
        </p:nvSpPr>
        <p:spPr/>
        <p:txBody>
          <a:bodyPr>
            <a:noAutofit/>
          </a:bodyPr>
          <a:lstStyle/>
          <a:p>
            <a:r>
              <a:rPr lang="en-CA" sz="3200" dirty="0"/>
              <a:t>Can we utilize multiple architectural pattern into one products ?1/3</a:t>
            </a:r>
          </a:p>
        </p:txBody>
      </p:sp>
      <p:sp>
        <p:nvSpPr>
          <p:cNvPr id="3" name="Slide Number Placeholder 2">
            <a:extLst>
              <a:ext uri="{FF2B5EF4-FFF2-40B4-BE49-F238E27FC236}">
                <a16:creationId xmlns:a16="http://schemas.microsoft.com/office/drawing/2014/main" id="{AAB63DEB-5A9A-D3A3-BB85-B2C19E7FF12A}"/>
              </a:ext>
            </a:extLst>
          </p:cNvPr>
          <p:cNvSpPr>
            <a:spLocks noGrp="1"/>
          </p:cNvSpPr>
          <p:nvPr>
            <p:ph type="sldNum" sz="quarter" idx="10"/>
          </p:nvPr>
        </p:nvSpPr>
        <p:spPr/>
        <p:txBody>
          <a:bodyPr/>
          <a:lstStyle/>
          <a:p>
            <a:fld id="{FFDA1B5B-FD17-41CE-9005-2457CABDC26A}" type="slidenum">
              <a:rPr lang="en-US" smtClean="0"/>
              <a:t>16</a:t>
            </a:fld>
            <a:endParaRPr lang="en-US"/>
          </a:p>
        </p:txBody>
      </p:sp>
      <p:sp>
        <p:nvSpPr>
          <p:cNvPr id="4" name="Text Placeholder 3">
            <a:extLst>
              <a:ext uri="{FF2B5EF4-FFF2-40B4-BE49-F238E27FC236}">
                <a16:creationId xmlns:a16="http://schemas.microsoft.com/office/drawing/2014/main" id="{B29EA212-EF3D-8A69-E11A-4F7F0844F81E}"/>
              </a:ext>
            </a:extLst>
          </p:cNvPr>
          <p:cNvSpPr>
            <a:spLocks noGrp="1"/>
          </p:cNvSpPr>
          <p:nvPr>
            <p:ph type="body" sz="quarter" idx="11"/>
          </p:nvPr>
        </p:nvSpPr>
        <p:spPr/>
        <p:txBody>
          <a:bodyPr/>
          <a:lstStyle/>
          <a:p>
            <a:r>
              <a:rPr lang="en-CA" sz="2000" dirty="0"/>
              <a:t>Most big companies </a:t>
            </a:r>
            <a:r>
              <a:rPr lang="en-CA" sz="2000" b="1" dirty="0"/>
              <a:t>don’t stick to just one architecture</a:t>
            </a:r>
            <a:r>
              <a:rPr lang="en-CA" sz="2000" dirty="0"/>
              <a:t> — they evolve over time and mix patterns depending on the system’s needs. (examples from ChatGPT – to verify)</a:t>
            </a:r>
          </a:p>
          <a:p>
            <a:r>
              <a:rPr lang="en-CA" sz="2000" b="1" dirty="0">
                <a:highlight>
                  <a:srgbClr val="00FF00"/>
                </a:highlight>
              </a:rPr>
              <a:t>Netflix</a:t>
            </a:r>
          </a:p>
          <a:p>
            <a:r>
              <a:rPr lang="en-CA" sz="2000" b="1" dirty="0"/>
              <a:t>Started:</a:t>
            </a:r>
            <a:r>
              <a:rPr lang="en-CA" sz="2000" dirty="0"/>
              <a:t> Monolithic (early DVD rental days).</a:t>
            </a:r>
          </a:p>
          <a:p>
            <a:r>
              <a:rPr lang="en-CA" sz="2000" b="1" dirty="0"/>
              <a:t>Now:</a:t>
            </a:r>
            <a:r>
              <a:rPr lang="en-CA" sz="2000" dirty="0"/>
              <a:t> Microservices for core streaming (recommendations, billing, video encoding).</a:t>
            </a:r>
          </a:p>
          <a:p>
            <a:r>
              <a:rPr lang="en-CA" sz="2000" b="1" dirty="0"/>
              <a:t>Also uses:</a:t>
            </a:r>
            <a:r>
              <a:rPr lang="en-CA" sz="2000" dirty="0"/>
              <a:t> Event-driven patterns for streaming telemetry, CQRS for separating user actions (e.g., play, pause) from analytics queries.</a:t>
            </a:r>
          </a:p>
          <a:p>
            <a:r>
              <a:rPr lang="en-CA" sz="2000" dirty="0"/>
              <a:t>Netflix shows how companies </a:t>
            </a:r>
            <a:r>
              <a:rPr lang="en-CA" sz="2000" b="1" dirty="0"/>
              <a:t>don’t stick to one architecture</a:t>
            </a:r>
            <a:r>
              <a:rPr lang="en-CA" sz="2000" dirty="0"/>
              <a:t>. They evolve:</a:t>
            </a:r>
            <a:br>
              <a:rPr lang="en-CA" sz="2000" dirty="0"/>
            </a:br>
            <a:r>
              <a:rPr lang="en-CA" sz="2000" b="1" dirty="0"/>
              <a:t>Monolith → Layered → Microservices → Event-driven + CQRS</a:t>
            </a:r>
            <a:r>
              <a:rPr lang="en-CA" sz="2000" dirty="0"/>
              <a:t> as scale and complexity increase.</a:t>
            </a:r>
          </a:p>
          <a:p>
            <a:endParaRPr lang="en-CA" sz="2000" b="1" dirty="0">
              <a:highlight>
                <a:srgbClr val="00FF00"/>
              </a:highlight>
            </a:endParaRPr>
          </a:p>
          <a:p>
            <a:r>
              <a:rPr lang="en-CA" sz="2000" b="1" dirty="0">
                <a:highlight>
                  <a:srgbClr val="00FF00"/>
                </a:highlight>
              </a:rPr>
              <a:t>Spotify</a:t>
            </a:r>
          </a:p>
          <a:p>
            <a:r>
              <a:rPr lang="en-CA" sz="2000" b="1" dirty="0"/>
              <a:t>Front-end:</a:t>
            </a:r>
            <a:r>
              <a:rPr lang="en-CA" sz="2000" dirty="0"/>
              <a:t> Micro-frontends (different teams ship UI parts independently).</a:t>
            </a:r>
          </a:p>
          <a:p>
            <a:r>
              <a:rPr lang="en-CA" sz="2000" b="1" dirty="0"/>
              <a:t>Back-end:</a:t>
            </a:r>
            <a:r>
              <a:rPr lang="en-CA" sz="2000" dirty="0"/>
              <a:t> Microservices (recommendations, search, music catalog).</a:t>
            </a:r>
          </a:p>
          <a:p>
            <a:r>
              <a:rPr lang="en-CA" sz="2000" b="1" dirty="0"/>
              <a:t>Also uses:</a:t>
            </a:r>
            <a:r>
              <a:rPr lang="en-CA" sz="2000" dirty="0"/>
              <a:t> Event-driven patterns for real-time activity feeds (“Your friend is listening to…”).</a:t>
            </a:r>
          </a:p>
          <a:p>
            <a:endParaRPr lang="en-CA" sz="2000" dirty="0"/>
          </a:p>
          <a:p>
            <a:pPr marL="0" indent="0">
              <a:buNone/>
            </a:pPr>
            <a:endParaRPr lang="en-CA" dirty="0"/>
          </a:p>
        </p:txBody>
      </p:sp>
    </p:spTree>
    <p:extLst>
      <p:ext uri="{BB962C8B-B14F-4D97-AF65-F5344CB8AC3E}">
        <p14:creationId xmlns:p14="http://schemas.microsoft.com/office/powerpoint/2010/main" val="9012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 calcmode="lin" valueType="num">
                                      <p:cBhvr additive="base">
                                        <p:cTn id="3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 calcmode="lin" valueType="num">
                                      <p:cBhvr additive="base">
                                        <p:cTn id="3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anim calcmode="lin" valueType="num">
                                      <p:cBhvr additive="base">
                                        <p:cTn id="43"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 calcmode="lin" valueType="num">
                                      <p:cBhvr additive="base">
                                        <p:cTn id="4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A550-9C96-5F3E-BF26-59F9CC89F1B0}"/>
              </a:ext>
            </a:extLst>
          </p:cNvPr>
          <p:cNvSpPr>
            <a:spLocks noGrp="1"/>
          </p:cNvSpPr>
          <p:nvPr>
            <p:ph type="title"/>
          </p:nvPr>
        </p:nvSpPr>
        <p:spPr/>
        <p:txBody>
          <a:bodyPr>
            <a:normAutofit/>
          </a:bodyPr>
          <a:lstStyle/>
          <a:p>
            <a:r>
              <a:rPr lang="en-CA" sz="2800" dirty="0"/>
              <a:t>Can we utilize multiple architectural pattern into one products ? 2/3</a:t>
            </a:r>
          </a:p>
        </p:txBody>
      </p:sp>
      <p:sp>
        <p:nvSpPr>
          <p:cNvPr id="3" name="Slide Number Placeholder 2">
            <a:extLst>
              <a:ext uri="{FF2B5EF4-FFF2-40B4-BE49-F238E27FC236}">
                <a16:creationId xmlns:a16="http://schemas.microsoft.com/office/drawing/2014/main" id="{A519301B-49C5-90F2-FE17-253492BE324F}"/>
              </a:ext>
            </a:extLst>
          </p:cNvPr>
          <p:cNvSpPr>
            <a:spLocks noGrp="1"/>
          </p:cNvSpPr>
          <p:nvPr>
            <p:ph type="sldNum" sz="quarter" idx="10"/>
          </p:nvPr>
        </p:nvSpPr>
        <p:spPr/>
        <p:txBody>
          <a:bodyPr/>
          <a:lstStyle/>
          <a:p>
            <a:fld id="{FFDA1B5B-FD17-41CE-9005-2457CABDC26A}" type="slidenum">
              <a:rPr lang="en-US" smtClean="0"/>
              <a:t>17</a:t>
            </a:fld>
            <a:endParaRPr lang="en-US"/>
          </a:p>
        </p:txBody>
      </p:sp>
      <p:sp>
        <p:nvSpPr>
          <p:cNvPr id="4" name="Text Placeholder 3">
            <a:extLst>
              <a:ext uri="{FF2B5EF4-FFF2-40B4-BE49-F238E27FC236}">
                <a16:creationId xmlns:a16="http://schemas.microsoft.com/office/drawing/2014/main" id="{1A064651-9B2A-FB00-5321-E952CC73BF5B}"/>
              </a:ext>
            </a:extLst>
          </p:cNvPr>
          <p:cNvSpPr>
            <a:spLocks noGrp="1"/>
          </p:cNvSpPr>
          <p:nvPr>
            <p:ph type="body" sz="quarter" idx="11"/>
          </p:nvPr>
        </p:nvSpPr>
        <p:spPr/>
        <p:txBody>
          <a:bodyPr/>
          <a:lstStyle/>
          <a:p>
            <a:r>
              <a:rPr lang="en-CA" b="1" dirty="0">
                <a:highlight>
                  <a:srgbClr val="00FFFF"/>
                </a:highlight>
              </a:rPr>
              <a:t>Alibaba</a:t>
            </a:r>
          </a:p>
          <a:p>
            <a:r>
              <a:rPr lang="en-CA" b="1" dirty="0"/>
              <a:t>Front-end:</a:t>
            </a:r>
            <a:r>
              <a:rPr lang="en-CA" dirty="0"/>
              <a:t> MVVM (Vue.js for rich, reactive UIs).</a:t>
            </a:r>
          </a:p>
          <a:p>
            <a:r>
              <a:rPr lang="en-CA" b="1" dirty="0"/>
              <a:t>Back-end:</a:t>
            </a:r>
            <a:r>
              <a:rPr lang="en-CA" dirty="0"/>
              <a:t> Microservices to support large-scale e-commerce operations.</a:t>
            </a:r>
          </a:p>
          <a:p>
            <a:r>
              <a:rPr lang="en-CA" b="1" dirty="0"/>
              <a:t>Also uses:</a:t>
            </a:r>
            <a:r>
              <a:rPr lang="en-CA" dirty="0"/>
              <a:t> Serverless (Alibaba Cloud’s Function Compute) for handling burst traffic on events like Singles’ Day sales.</a:t>
            </a:r>
          </a:p>
          <a:p>
            <a:r>
              <a:rPr lang="en-CA" b="1" dirty="0">
                <a:highlight>
                  <a:srgbClr val="00FFFF"/>
                </a:highlight>
              </a:rPr>
              <a:t>LinkedIn</a:t>
            </a:r>
          </a:p>
          <a:p>
            <a:r>
              <a:rPr lang="en-CA" b="1" dirty="0"/>
              <a:t>Core:</a:t>
            </a:r>
            <a:r>
              <a:rPr lang="en-CA" dirty="0"/>
              <a:t> CQRS for feeds and messaging (separating reads/writes).</a:t>
            </a:r>
          </a:p>
          <a:p>
            <a:r>
              <a:rPr lang="en-CA" b="1" dirty="0"/>
              <a:t>Also uses:</a:t>
            </a:r>
            <a:r>
              <a:rPr lang="en-CA" dirty="0"/>
              <a:t> Event-driven architecture for notifications, microservices for modular scaling, and hexagonal architecture patterns in some domain-driven designs.</a:t>
            </a:r>
          </a:p>
          <a:p>
            <a:endParaRPr lang="en-CA" dirty="0"/>
          </a:p>
        </p:txBody>
      </p:sp>
    </p:spTree>
    <p:extLst>
      <p:ext uri="{BB962C8B-B14F-4D97-AF65-F5344CB8AC3E}">
        <p14:creationId xmlns:p14="http://schemas.microsoft.com/office/powerpoint/2010/main" val="3319361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 calcmode="lin" valueType="num">
                                      <p:cBhvr additive="base">
                                        <p:cTn id="3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39113-7BD8-EBB8-F255-40EED03DC61D}"/>
              </a:ext>
            </a:extLst>
          </p:cNvPr>
          <p:cNvSpPr>
            <a:spLocks noGrp="1"/>
          </p:cNvSpPr>
          <p:nvPr>
            <p:ph type="title"/>
          </p:nvPr>
        </p:nvSpPr>
        <p:spPr/>
        <p:txBody>
          <a:bodyPr>
            <a:normAutofit/>
          </a:bodyPr>
          <a:lstStyle/>
          <a:p>
            <a:r>
              <a:rPr lang="en-CA" sz="2800" dirty="0"/>
              <a:t>Can we utilize multiple architectural pattern into one products ? 3/3</a:t>
            </a:r>
          </a:p>
        </p:txBody>
      </p:sp>
      <p:sp>
        <p:nvSpPr>
          <p:cNvPr id="3" name="Slide Number Placeholder 2">
            <a:extLst>
              <a:ext uri="{FF2B5EF4-FFF2-40B4-BE49-F238E27FC236}">
                <a16:creationId xmlns:a16="http://schemas.microsoft.com/office/drawing/2014/main" id="{8849251F-702D-9BD3-4D29-A5D1A59035FE}"/>
              </a:ext>
            </a:extLst>
          </p:cNvPr>
          <p:cNvSpPr>
            <a:spLocks noGrp="1"/>
          </p:cNvSpPr>
          <p:nvPr>
            <p:ph type="sldNum" sz="quarter" idx="10"/>
          </p:nvPr>
        </p:nvSpPr>
        <p:spPr/>
        <p:txBody>
          <a:bodyPr/>
          <a:lstStyle/>
          <a:p>
            <a:fld id="{FFDA1B5B-FD17-41CE-9005-2457CABDC26A}" type="slidenum">
              <a:rPr lang="en-US" smtClean="0"/>
              <a:t>18</a:t>
            </a:fld>
            <a:endParaRPr lang="en-US"/>
          </a:p>
        </p:txBody>
      </p:sp>
      <p:sp>
        <p:nvSpPr>
          <p:cNvPr id="4" name="Text Placeholder 3">
            <a:extLst>
              <a:ext uri="{FF2B5EF4-FFF2-40B4-BE49-F238E27FC236}">
                <a16:creationId xmlns:a16="http://schemas.microsoft.com/office/drawing/2014/main" id="{F627E885-9274-3B73-E36C-231F2F33EA88}"/>
              </a:ext>
            </a:extLst>
          </p:cNvPr>
          <p:cNvSpPr>
            <a:spLocks noGrp="1"/>
          </p:cNvSpPr>
          <p:nvPr>
            <p:ph type="body" sz="quarter" idx="11"/>
          </p:nvPr>
        </p:nvSpPr>
        <p:spPr/>
        <p:txBody>
          <a:bodyPr/>
          <a:lstStyle/>
          <a:p>
            <a:r>
              <a:rPr lang="en-CA" sz="2400" b="1" dirty="0">
                <a:highlight>
                  <a:srgbClr val="C0C0C0"/>
                </a:highlight>
              </a:rPr>
              <a:t>Coca-Cola (IoT / vending machines)</a:t>
            </a:r>
          </a:p>
          <a:p>
            <a:r>
              <a:rPr lang="en-CA" sz="2400" b="1" dirty="0"/>
              <a:t>Uses:</a:t>
            </a:r>
            <a:r>
              <a:rPr lang="en-CA" sz="2400" dirty="0"/>
              <a:t> Serverless (AWS Lambda) for vending transactions.</a:t>
            </a:r>
          </a:p>
          <a:p>
            <a:r>
              <a:rPr lang="en-CA" sz="2400" b="1" dirty="0"/>
              <a:t>Also uses:</a:t>
            </a:r>
            <a:r>
              <a:rPr lang="en-CA" sz="2400" dirty="0"/>
              <a:t> Event-driven workflows for telemetry and inventory reporting, plus microservices for backend processing.</a:t>
            </a:r>
          </a:p>
          <a:p>
            <a:endParaRPr lang="en-CA" sz="2400" dirty="0"/>
          </a:p>
          <a:p>
            <a:r>
              <a:rPr lang="en-CA" sz="2400" b="1" dirty="0">
                <a:highlight>
                  <a:srgbClr val="C0C0C0"/>
                </a:highlight>
              </a:rPr>
              <a:t>Lufthansa Systems</a:t>
            </a:r>
          </a:p>
          <a:p>
            <a:r>
              <a:rPr lang="en-CA" sz="2400" b="1" dirty="0"/>
              <a:t>Core:</a:t>
            </a:r>
            <a:r>
              <a:rPr lang="en-CA" sz="2400" dirty="0"/>
              <a:t> Hexagonal architecture (domain-driven flight scheduling). </a:t>
            </a:r>
            <a:r>
              <a:rPr lang="en-CA" sz="2400" dirty="0">
                <a:highlight>
                  <a:srgbClr val="00FF00"/>
                </a:highlight>
              </a:rPr>
              <a:t>Q: Why </a:t>
            </a:r>
            <a:r>
              <a:rPr lang="en-CA" sz="2400" dirty="0" err="1">
                <a:highlight>
                  <a:srgbClr val="00FF00"/>
                </a:highlight>
              </a:rPr>
              <a:t>Hexa</a:t>
            </a:r>
            <a:r>
              <a:rPr lang="en-CA" sz="2400" dirty="0">
                <a:highlight>
                  <a:srgbClr val="00FF00"/>
                </a:highlight>
              </a:rPr>
              <a:t>?</a:t>
            </a:r>
          </a:p>
          <a:p>
            <a:r>
              <a:rPr lang="en-CA" sz="2400" b="1" dirty="0"/>
              <a:t>Also uses:</a:t>
            </a:r>
            <a:r>
              <a:rPr lang="en-CA" sz="2400" dirty="0"/>
              <a:t> Layered architecture for ERP-like internal tools, event-driven systems for real-time flight updates.</a:t>
            </a:r>
          </a:p>
          <a:p>
            <a:r>
              <a:rPr lang="en-CA" sz="2400" b="1" dirty="0">
                <a:highlight>
                  <a:srgbClr val="C0C0C0"/>
                </a:highlight>
              </a:rPr>
              <a:t>Uber</a:t>
            </a:r>
          </a:p>
          <a:p>
            <a:r>
              <a:rPr lang="en-CA" sz="2400" b="1" dirty="0"/>
              <a:t>Started:</a:t>
            </a:r>
            <a:r>
              <a:rPr lang="en-CA" sz="2400" dirty="0"/>
              <a:t> Monolithic Ruby on Rails app.</a:t>
            </a:r>
          </a:p>
          <a:p>
            <a:r>
              <a:rPr lang="en-CA" sz="2400" b="1" dirty="0"/>
              <a:t>Now:</a:t>
            </a:r>
            <a:r>
              <a:rPr lang="en-CA" sz="2400" dirty="0"/>
              <a:t> Migrated to Microservices to scale different domains (maps, payments, ride matching).</a:t>
            </a:r>
          </a:p>
          <a:p>
            <a:r>
              <a:rPr lang="en-CA" sz="2400" b="1" dirty="0"/>
              <a:t>Also uses:</a:t>
            </a:r>
            <a:r>
              <a:rPr lang="en-CA" sz="2400" dirty="0"/>
              <a:t> Event-driven architecture for real-time ride dispatch and pricing updates.</a:t>
            </a:r>
          </a:p>
          <a:p>
            <a:endParaRPr lang="en-CA" sz="2400" dirty="0"/>
          </a:p>
          <a:p>
            <a:endParaRPr lang="en-CA" sz="2400" dirty="0"/>
          </a:p>
        </p:txBody>
      </p:sp>
    </p:spTree>
    <p:extLst>
      <p:ext uri="{BB962C8B-B14F-4D97-AF65-F5344CB8AC3E}">
        <p14:creationId xmlns:p14="http://schemas.microsoft.com/office/powerpoint/2010/main" val="1975704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 calcmode="lin" valueType="num">
                                      <p:cBhvr additive="base">
                                        <p:cTn id="2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 calcmode="lin" valueType="num">
                                      <p:cBhvr additive="base">
                                        <p:cTn id="2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 calcmode="lin" valueType="num">
                                      <p:cBhvr additive="base">
                                        <p:cTn id="3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 calcmode="lin" valueType="num">
                                      <p:cBhvr additive="base">
                                        <p:cTn id="3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anim calcmode="lin" valueType="num">
                                      <p:cBhvr additive="base">
                                        <p:cTn id="43"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 calcmode="lin" valueType="num">
                                      <p:cBhvr additive="base">
                                        <p:cTn id="4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AEDB5-F27E-4212-AA2B-17B860918A46}"/>
              </a:ext>
            </a:extLst>
          </p:cNvPr>
          <p:cNvSpPr>
            <a:spLocks noGrp="1"/>
          </p:cNvSpPr>
          <p:nvPr>
            <p:ph type="title"/>
          </p:nvPr>
        </p:nvSpPr>
        <p:spPr>
          <a:xfrm>
            <a:off x="605780" y="2544416"/>
            <a:ext cx="5133838" cy="3165503"/>
          </a:xfrm>
        </p:spPr>
        <p:txBody>
          <a:bodyPr>
            <a:normAutofit fontScale="90000"/>
          </a:bodyPr>
          <a:lstStyle/>
          <a:p>
            <a:r>
              <a:rPr lang="en-US" sz="1800" dirty="0"/>
              <a:t>What we study in this course</a:t>
            </a:r>
            <a:br>
              <a:rPr lang="en-US" dirty="0"/>
            </a:br>
            <a:r>
              <a:rPr lang="en-US" dirty="0"/>
              <a:t>An API-Server with service based architecture  </a:t>
            </a:r>
            <a:br>
              <a:rPr lang="en-US" dirty="0"/>
            </a:br>
            <a:br>
              <a:rPr lang="en-US" dirty="0"/>
            </a:br>
            <a:r>
              <a:rPr lang="en-US" dirty="0"/>
              <a:t>which is also RESTful</a:t>
            </a:r>
            <a:br>
              <a:rPr lang="en-US" dirty="0"/>
            </a:br>
            <a:r>
              <a:rPr lang="en-US" dirty="0">
                <a:highlight>
                  <a:srgbClr val="00FF00"/>
                </a:highlight>
              </a:rPr>
              <a:t>Q: </a:t>
            </a:r>
            <a:r>
              <a:rPr lang="en-US" dirty="0"/>
              <a:t>it fully rests ?</a:t>
            </a:r>
          </a:p>
        </p:txBody>
      </p:sp>
      <p:sp>
        <p:nvSpPr>
          <p:cNvPr id="3" name="Slide Number Placeholder 2">
            <a:extLst>
              <a:ext uri="{FF2B5EF4-FFF2-40B4-BE49-F238E27FC236}">
                <a16:creationId xmlns:a16="http://schemas.microsoft.com/office/drawing/2014/main" id="{214340D1-2FFD-42E4-B788-FC8C13A1EFCA}"/>
              </a:ext>
            </a:extLst>
          </p:cNvPr>
          <p:cNvSpPr>
            <a:spLocks noGrp="1"/>
          </p:cNvSpPr>
          <p:nvPr>
            <p:ph type="sldNum" sz="quarter" idx="10"/>
          </p:nvPr>
        </p:nvSpPr>
        <p:spPr/>
        <p:txBody>
          <a:bodyPr/>
          <a:lstStyle/>
          <a:p>
            <a:fld id="{FFDA1B5B-FD17-41CE-9005-2457CABDC26A}" type="slidenum">
              <a:rPr lang="en-US" smtClean="0"/>
              <a:t>19</a:t>
            </a:fld>
            <a:endParaRPr lang="en-US"/>
          </a:p>
        </p:txBody>
      </p:sp>
      <p:sp>
        <p:nvSpPr>
          <p:cNvPr id="6" name="Oval 5">
            <a:extLst>
              <a:ext uri="{FF2B5EF4-FFF2-40B4-BE49-F238E27FC236}">
                <a16:creationId xmlns:a16="http://schemas.microsoft.com/office/drawing/2014/main" id="{866DCBAF-882A-4238-A8AE-FE968E1BDFE0}"/>
              </a:ext>
            </a:extLst>
          </p:cNvPr>
          <p:cNvSpPr/>
          <p:nvPr/>
        </p:nvSpPr>
        <p:spPr>
          <a:xfrm>
            <a:off x="10276449" y="1555668"/>
            <a:ext cx="829994" cy="74558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t>3</a:t>
            </a:r>
          </a:p>
        </p:txBody>
      </p:sp>
    </p:spTree>
    <p:extLst>
      <p:ext uri="{BB962C8B-B14F-4D97-AF65-F5344CB8AC3E}">
        <p14:creationId xmlns:p14="http://schemas.microsoft.com/office/powerpoint/2010/main" val="3179378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209BD221-A3F5-4ADE-8A00-9CD6359B46CA}"/>
              </a:ext>
            </a:extLst>
          </p:cNvPr>
          <p:cNvSpPr/>
          <p:nvPr/>
        </p:nvSpPr>
        <p:spPr>
          <a:xfrm>
            <a:off x="10921111" y="3813302"/>
            <a:ext cx="1077827" cy="974066"/>
          </a:xfrm>
          <a:prstGeom prst="rect">
            <a:avLst/>
          </a:prstGeom>
          <a:solidFill>
            <a:schemeClr val="accent1">
              <a:alpha val="45000"/>
            </a:schemeClr>
          </a:solidFill>
          <a:ln>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 name="Title 1">
            <a:extLst>
              <a:ext uri="{FF2B5EF4-FFF2-40B4-BE49-F238E27FC236}">
                <a16:creationId xmlns:a16="http://schemas.microsoft.com/office/drawing/2014/main" id="{A678BEA9-7A2A-43DF-9FCF-4FAD8F3483C0}"/>
              </a:ext>
            </a:extLst>
          </p:cNvPr>
          <p:cNvSpPr>
            <a:spLocks noGrp="1"/>
          </p:cNvSpPr>
          <p:nvPr>
            <p:ph type="title"/>
          </p:nvPr>
        </p:nvSpPr>
        <p:spPr>
          <a:xfrm>
            <a:off x="131582" y="27066"/>
            <a:ext cx="11928836" cy="483287"/>
          </a:xfrm>
        </p:spPr>
        <p:txBody>
          <a:bodyPr>
            <a:noAutofit/>
          </a:bodyPr>
          <a:lstStyle/>
          <a:p>
            <a:r>
              <a:rPr lang="en-US" sz="3600" dirty="0"/>
              <a:t>Web architecture we use to develop our app in this course </a:t>
            </a:r>
          </a:p>
        </p:txBody>
      </p:sp>
      <p:sp>
        <p:nvSpPr>
          <p:cNvPr id="3" name="Slide Number Placeholder 2">
            <a:extLst>
              <a:ext uri="{FF2B5EF4-FFF2-40B4-BE49-F238E27FC236}">
                <a16:creationId xmlns:a16="http://schemas.microsoft.com/office/drawing/2014/main" id="{B6217472-1976-429A-95F9-A8C9351C82F6}"/>
              </a:ext>
            </a:extLst>
          </p:cNvPr>
          <p:cNvSpPr>
            <a:spLocks noGrp="1"/>
          </p:cNvSpPr>
          <p:nvPr>
            <p:ph type="sldNum" sz="quarter" idx="10"/>
          </p:nvPr>
        </p:nvSpPr>
        <p:spPr/>
        <p:txBody>
          <a:bodyPr/>
          <a:lstStyle/>
          <a:p>
            <a:fld id="{FFDA1B5B-FD17-41CE-9005-2457CABDC26A}" type="slidenum">
              <a:rPr lang="en-US" smtClean="0"/>
              <a:t>20</a:t>
            </a:fld>
            <a:endParaRPr lang="en-US"/>
          </a:p>
        </p:txBody>
      </p:sp>
      <p:sp>
        <p:nvSpPr>
          <p:cNvPr id="4" name="Text Placeholder 3">
            <a:extLst>
              <a:ext uri="{FF2B5EF4-FFF2-40B4-BE49-F238E27FC236}">
                <a16:creationId xmlns:a16="http://schemas.microsoft.com/office/drawing/2014/main" id="{0D469DEF-2C70-4201-8A2B-2D6796F88B6F}"/>
              </a:ext>
            </a:extLst>
          </p:cNvPr>
          <p:cNvSpPr>
            <a:spLocks noGrp="1"/>
          </p:cNvSpPr>
          <p:nvPr>
            <p:ph type="body" sz="quarter" idx="11"/>
          </p:nvPr>
        </p:nvSpPr>
        <p:spPr>
          <a:xfrm>
            <a:off x="169682" y="1126435"/>
            <a:ext cx="11928836" cy="5526695"/>
          </a:xfrm>
        </p:spPr>
        <p:txBody>
          <a:bodyPr/>
          <a:lstStyle/>
          <a:p>
            <a:pPr marL="0" indent="0">
              <a:buNone/>
            </a:pPr>
            <a:r>
              <a:rPr lang="en-US" dirty="0"/>
              <a:t>We practice a simplified version of </a:t>
            </a:r>
            <a:br>
              <a:rPr lang="en-US" dirty="0"/>
            </a:br>
            <a:r>
              <a:rPr lang="en-US" dirty="0"/>
              <a:t>Microservice architecture (MSA) </a:t>
            </a:r>
          </a:p>
          <a:p>
            <a:pPr marL="0" indent="0">
              <a:buNone/>
            </a:pPr>
            <a:r>
              <a:rPr lang="en-US" dirty="0"/>
              <a:t>We design an API centric MSA</a:t>
            </a:r>
          </a:p>
          <a:p>
            <a:pPr marL="0" indent="0">
              <a:buNone/>
            </a:pPr>
            <a:r>
              <a:rPr lang="en-US" dirty="0">
                <a:solidFill>
                  <a:schemeClr val="accent6">
                    <a:lumMod val="75000"/>
                  </a:schemeClr>
                </a:solidFill>
              </a:rPr>
              <a:t>API</a:t>
            </a:r>
            <a:r>
              <a:rPr lang="en-US" dirty="0"/>
              <a:t>:</a:t>
            </a:r>
            <a:br>
              <a:rPr lang="en-US" dirty="0"/>
            </a:br>
            <a:r>
              <a:rPr lang="en-US" dirty="0"/>
              <a:t>API calls follow </a:t>
            </a:r>
            <a:r>
              <a:rPr lang="en-US" b="1" dirty="0">
                <a:solidFill>
                  <a:schemeClr val="accent1">
                    <a:lumMod val="75000"/>
                  </a:schemeClr>
                </a:solidFill>
              </a:rPr>
              <a:t>RESTful</a:t>
            </a:r>
            <a:r>
              <a:rPr lang="en-US" dirty="0"/>
              <a:t> architecture</a:t>
            </a:r>
          </a:p>
          <a:p>
            <a:pPr marL="0" indent="0">
              <a:buNone/>
            </a:pPr>
            <a:r>
              <a:rPr lang="en-US" dirty="0">
                <a:solidFill>
                  <a:schemeClr val="accent6">
                    <a:lumMod val="75000"/>
                  </a:schemeClr>
                </a:solidFill>
              </a:rPr>
              <a:t>Different origin:</a:t>
            </a:r>
          </a:p>
          <a:p>
            <a:pPr marL="0" indent="0">
              <a:buNone/>
            </a:pPr>
            <a:r>
              <a:rPr lang="en-US" dirty="0"/>
              <a:t>Clint and servers are not hosted on the same machine </a:t>
            </a:r>
          </a:p>
          <a:p>
            <a:pPr marL="0" indent="0">
              <a:buNone/>
            </a:pPr>
            <a:r>
              <a:rPr lang="en-US" dirty="0"/>
              <a:t>( HTML files and </a:t>
            </a:r>
            <a:r>
              <a:rPr lang="en-US" dirty="0" err="1"/>
              <a:t>nodejs</a:t>
            </a:r>
            <a:r>
              <a:rPr lang="en-US" dirty="0"/>
              <a:t> files are not in the same machine). </a:t>
            </a:r>
          </a:p>
          <a:p>
            <a:pPr marL="0" indent="0">
              <a:buNone/>
            </a:pPr>
            <a:r>
              <a:rPr lang="en-US" dirty="0"/>
              <a:t>Even services might not be hosted in the same machine.</a:t>
            </a:r>
          </a:p>
          <a:p>
            <a:pPr marL="0" indent="0">
              <a:buNone/>
            </a:pPr>
            <a:r>
              <a:rPr lang="en-US" dirty="0">
                <a:solidFill>
                  <a:schemeClr val="accent6">
                    <a:lumMod val="75000"/>
                  </a:schemeClr>
                </a:solidFill>
              </a:rPr>
              <a:t>Response</a:t>
            </a:r>
            <a:r>
              <a:rPr lang="en-US" dirty="0"/>
              <a:t>:</a:t>
            </a:r>
          </a:p>
          <a:p>
            <a:pPr marL="0" indent="0">
              <a:buNone/>
            </a:pPr>
            <a:r>
              <a:rPr lang="en-US" dirty="0"/>
              <a:t>Responses coming back from services are often in </a:t>
            </a:r>
            <a:r>
              <a:rPr lang="en-US" b="1" dirty="0">
                <a:solidFill>
                  <a:schemeClr val="accent1">
                    <a:lumMod val="75000"/>
                  </a:schemeClr>
                </a:solidFill>
              </a:rPr>
              <a:t>JSON</a:t>
            </a:r>
            <a:r>
              <a:rPr lang="en-US" dirty="0"/>
              <a:t> format </a:t>
            </a:r>
            <a:br>
              <a:rPr lang="en-US" dirty="0"/>
            </a:br>
            <a:br>
              <a:rPr lang="en-US" dirty="0"/>
            </a:br>
            <a:br>
              <a:rPr lang="en-US" dirty="0"/>
            </a:br>
            <a:r>
              <a:rPr lang="en-US" dirty="0"/>
              <a:t> </a:t>
            </a:r>
          </a:p>
        </p:txBody>
      </p:sp>
      <p:sp>
        <p:nvSpPr>
          <p:cNvPr id="7" name="Cloud 6">
            <a:extLst>
              <a:ext uri="{FF2B5EF4-FFF2-40B4-BE49-F238E27FC236}">
                <a16:creationId xmlns:a16="http://schemas.microsoft.com/office/drawing/2014/main" id="{3C7D739B-0F99-4EA0-9B15-B489BE8AB43C}"/>
              </a:ext>
            </a:extLst>
          </p:cNvPr>
          <p:cNvSpPr/>
          <p:nvPr/>
        </p:nvSpPr>
        <p:spPr>
          <a:xfrm>
            <a:off x="8356964" y="930967"/>
            <a:ext cx="3741554" cy="4173366"/>
          </a:xfrm>
          <a:prstGeom prst="cloud">
            <a:avLst/>
          </a:prstGeom>
          <a:noFill/>
          <a:ln>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D4D5AFD-AB5C-439D-9348-69479439822B}"/>
              </a:ext>
            </a:extLst>
          </p:cNvPr>
          <p:cNvSpPr/>
          <p:nvPr/>
        </p:nvSpPr>
        <p:spPr>
          <a:xfrm>
            <a:off x="9041548" y="475616"/>
            <a:ext cx="1921565" cy="3776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services </a:t>
            </a:r>
          </a:p>
        </p:txBody>
      </p:sp>
      <p:sp>
        <p:nvSpPr>
          <p:cNvPr id="9" name="Rectangle 8">
            <a:extLst>
              <a:ext uri="{FF2B5EF4-FFF2-40B4-BE49-F238E27FC236}">
                <a16:creationId xmlns:a16="http://schemas.microsoft.com/office/drawing/2014/main" id="{F990E961-7C59-4992-A801-8DCDD0E4F72A}"/>
              </a:ext>
            </a:extLst>
          </p:cNvPr>
          <p:cNvSpPr/>
          <p:nvPr/>
        </p:nvSpPr>
        <p:spPr>
          <a:xfrm>
            <a:off x="6134100" y="733581"/>
            <a:ext cx="1285461" cy="34787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Clients </a:t>
            </a:r>
          </a:p>
        </p:txBody>
      </p:sp>
      <p:cxnSp>
        <p:nvCxnSpPr>
          <p:cNvPr id="11" name="Straight Arrow Connector 10">
            <a:extLst>
              <a:ext uri="{FF2B5EF4-FFF2-40B4-BE49-F238E27FC236}">
                <a16:creationId xmlns:a16="http://schemas.microsoft.com/office/drawing/2014/main" id="{B581F95E-1F92-47DC-844D-D5B251E3F384}"/>
              </a:ext>
            </a:extLst>
          </p:cNvPr>
          <p:cNvCxnSpPr>
            <a:cxnSpLocks/>
          </p:cNvCxnSpPr>
          <p:nvPr/>
        </p:nvCxnSpPr>
        <p:spPr>
          <a:xfrm flipV="1">
            <a:off x="7061982" y="1745756"/>
            <a:ext cx="2179617" cy="791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8A65A02-225F-4A8A-884F-082F2FA3758D}"/>
              </a:ext>
            </a:extLst>
          </p:cNvPr>
          <p:cNvCxnSpPr>
            <a:cxnSpLocks/>
          </p:cNvCxnSpPr>
          <p:nvPr/>
        </p:nvCxnSpPr>
        <p:spPr>
          <a:xfrm flipH="1">
            <a:off x="6952910" y="2126618"/>
            <a:ext cx="208863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9066F73-4FC0-4DF8-8DEE-F52294514BFF}"/>
              </a:ext>
            </a:extLst>
          </p:cNvPr>
          <p:cNvSpPr txBox="1"/>
          <p:nvPr/>
        </p:nvSpPr>
        <p:spPr>
          <a:xfrm>
            <a:off x="7449740" y="1376424"/>
            <a:ext cx="2260964" cy="369332"/>
          </a:xfrm>
          <a:prstGeom prst="rect">
            <a:avLst/>
          </a:prstGeom>
          <a:noFill/>
        </p:spPr>
        <p:txBody>
          <a:bodyPr wrap="square" rtlCol="0">
            <a:spAutoFit/>
          </a:bodyPr>
          <a:lstStyle/>
          <a:p>
            <a:r>
              <a:rPr lang="en-US" dirty="0"/>
              <a:t>AJAX API calls</a:t>
            </a:r>
          </a:p>
        </p:txBody>
      </p:sp>
      <p:sp>
        <p:nvSpPr>
          <p:cNvPr id="18" name="Cloud 17">
            <a:extLst>
              <a:ext uri="{FF2B5EF4-FFF2-40B4-BE49-F238E27FC236}">
                <a16:creationId xmlns:a16="http://schemas.microsoft.com/office/drawing/2014/main" id="{5BA3230F-471B-4280-8DE1-48235B19946A}"/>
              </a:ext>
            </a:extLst>
          </p:cNvPr>
          <p:cNvSpPr/>
          <p:nvPr/>
        </p:nvSpPr>
        <p:spPr>
          <a:xfrm>
            <a:off x="4918327" y="1276919"/>
            <a:ext cx="2777260" cy="2541074"/>
          </a:xfrm>
          <a:prstGeom prst="cloud">
            <a:avLst/>
          </a:prstGeom>
          <a:noFill/>
          <a:ln w="28575">
            <a:solidFill>
              <a:schemeClr val="bg2">
                <a:lumMod val="9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04B565E-7A6A-41F3-9BC9-55355C6E43E2}"/>
              </a:ext>
            </a:extLst>
          </p:cNvPr>
          <p:cNvSpPr/>
          <p:nvPr/>
        </p:nvSpPr>
        <p:spPr>
          <a:xfrm>
            <a:off x="5648802" y="1620281"/>
            <a:ext cx="1285461" cy="131053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 scrips </a:t>
            </a:r>
            <a:br>
              <a:rPr lang="en-US" dirty="0"/>
            </a:br>
            <a:r>
              <a:rPr lang="en-US" dirty="0"/>
              <a:t>(HTML, AJAX) </a:t>
            </a:r>
          </a:p>
        </p:txBody>
      </p:sp>
      <p:sp>
        <p:nvSpPr>
          <p:cNvPr id="22" name="Rectangle 21">
            <a:extLst>
              <a:ext uri="{FF2B5EF4-FFF2-40B4-BE49-F238E27FC236}">
                <a16:creationId xmlns:a16="http://schemas.microsoft.com/office/drawing/2014/main" id="{44F29DA2-3F40-40E6-A764-8CBBA852FF7C}"/>
              </a:ext>
            </a:extLst>
          </p:cNvPr>
          <p:cNvSpPr/>
          <p:nvPr/>
        </p:nvSpPr>
        <p:spPr>
          <a:xfrm>
            <a:off x="9241599" y="1376424"/>
            <a:ext cx="1956853" cy="110984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API gateway  </a:t>
            </a:r>
          </a:p>
        </p:txBody>
      </p:sp>
      <p:sp>
        <p:nvSpPr>
          <p:cNvPr id="23" name="Rectangle 22">
            <a:extLst>
              <a:ext uri="{FF2B5EF4-FFF2-40B4-BE49-F238E27FC236}">
                <a16:creationId xmlns:a16="http://schemas.microsoft.com/office/drawing/2014/main" id="{E82FACC1-4913-4EB8-8A00-C09E17C9F88E}"/>
              </a:ext>
            </a:extLst>
          </p:cNvPr>
          <p:cNvSpPr/>
          <p:nvPr/>
        </p:nvSpPr>
        <p:spPr>
          <a:xfrm>
            <a:off x="8854922" y="3358782"/>
            <a:ext cx="1077827" cy="974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user profile service</a:t>
            </a:r>
          </a:p>
        </p:txBody>
      </p:sp>
      <p:sp>
        <p:nvSpPr>
          <p:cNvPr id="24" name="Rectangle 23">
            <a:extLst>
              <a:ext uri="{FF2B5EF4-FFF2-40B4-BE49-F238E27FC236}">
                <a16:creationId xmlns:a16="http://schemas.microsoft.com/office/drawing/2014/main" id="{B3321E67-F75E-488C-9284-EFD8D88A590A}"/>
              </a:ext>
            </a:extLst>
          </p:cNvPr>
          <p:cNvSpPr/>
          <p:nvPr/>
        </p:nvSpPr>
        <p:spPr>
          <a:xfrm>
            <a:off x="10666756" y="2978810"/>
            <a:ext cx="1077827" cy="993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inventory service </a:t>
            </a:r>
          </a:p>
        </p:txBody>
      </p:sp>
      <p:sp>
        <p:nvSpPr>
          <p:cNvPr id="28" name="TextBox 27">
            <a:extLst>
              <a:ext uri="{FF2B5EF4-FFF2-40B4-BE49-F238E27FC236}">
                <a16:creationId xmlns:a16="http://schemas.microsoft.com/office/drawing/2014/main" id="{61B5AF89-777A-4934-BA51-152A6DFC4B5D}"/>
              </a:ext>
            </a:extLst>
          </p:cNvPr>
          <p:cNvSpPr txBox="1"/>
          <p:nvPr/>
        </p:nvSpPr>
        <p:spPr>
          <a:xfrm>
            <a:off x="7171962" y="2182906"/>
            <a:ext cx="1447351" cy="369332"/>
          </a:xfrm>
          <a:prstGeom prst="rect">
            <a:avLst/>
          </a:prstGeom>
          <a:noFill/>
        </p:spPr>
        <p:txBody>
          <a:bodyPr wrap="square" rtlCol="0">
            <a:spAutoFit/>
          </a:bodyPr>
          <a:lstStyle/>
          <a:p>
            <a:r>
              <a:rPr lang="en-US" dirty="0"/>
              <a:t>JSON</a:t>
            </a:r>
          </a:p>
        </p:txBody>
      </p:sp>
      <p:cxnSp>
        <p:nvCxnSpPr>
          <p:cNvPr id="30" name="Straight Arrow Connector 29">
            <a:extLst>
              <a:ext uri="{FF2B5EF4-FFF2-40B4-BE49-F238E27FC236}">
                <a16:creationId xmlns:a16="http://schemas.microsoft.com/office/drawing/2014/main" id="{3449DDCB-E973-45E6-905D-00D22A7182F2}"/>
              </a:ext>
            </a:extLst>
          </p:cNvPr>
          <p:cNvCxnSpPr>
            <a:cxnSpLocks/>
          </p:cNvCxnSpPr>
          <p:nvPr/>
        </p:nvCxnSpPr>
        <p:spPr>
          <a:xfrm flipH="1">
            <a:off x="9241599" y="2486271"/>
            <a:ext cx="469105" cy="872511"/>
          </a:xfrm>
          <a:prstGeom prst="straightConnector1">
            <a:avLst/>
          </a:prstGeom>
          <a:ln w="381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6A33D43-F052-462A-86B2-F8D07952F51B}"/>
              </a:ext>
            </a:extLst>
          </p:cNvPr>
          <p:cNvCxnSpPr>
            <a:cxnSpLocks/>
          </p:cNvCxnSpPr>
          <p:nvPr/>
        </p:nvCxnSpPr>
        <p:spPr>
          <a:xfrm>
            <a:off x="10720987" y="2547456"/>
            <a:ext cx="353936" cy="476254"/>
          </a:xfrm>
          <a:prstGeom prst="straightConnector1">
            <a:avLst/>
          </a:prstGeom>
          <a:ln w="381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682D0FD9-8462-4130-979D-1C25F233861B}"/>
              </a:ext>
            </a:extLst>
          </p:cNvPr>
          <p:cNvSpPr/>
          <p:nvPr/>
        </p:nvSpPr>
        <p:spPr>
          <a:xfrm>
            <a:off x="9710704" y="3920839"/>
            <a:ext cx="1077827" cy="974066"/>
          </a:xfrm>
          <a:prstGeom prst="rect">
            <a:avLst/>
          </a:prstGeom>
          <a:solidFill>
            <a:schemeClr val="accent1">
              <a:alpha val="45000"/>
            </a:schemeClr>
          </a:solidFill>
          <a:ln>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file</a:t>
            </a:r>
          </a:p>
          <a:p>
            <a:pPr algn="ctr"/>
            <a:r>
              <a:rPr lang="en-US" dirty="0"/>
              <a:t>service</a:t>
            </a:r>
          </a:p>
        </p:txBody>
      </p:sp>
      <p:sp>
        <p:nvSpPr>
          <p:cNvPr id="36" name="Rectangle 35">
            <a:extLst>
              <a:ext uri="{FF2B5EF4-FFF2-40B4-BE49-F238E27FC236}">
                <a16:creationId xmlns:a16="http://schemas.microsoft.com/office/drawing/2014/main" id="{4A5C7DF7-DC1D-4F0A-A45A-2BD167FC16C7}"/>
              </a:ext>
            </a:extLst>
          </p:cNvPr>
          <p:cNvSpPr/>
          <p:nvPr/>
        </p:nvSpPr>
        <p:spPr>
          <a:xfrm>
            <a:off x="6591263" y="2670947"/>
            <a:ext cx="1285461" cy="1310534"/>
          </a:xfrm>
          <a:prstGeom prst="rect">
            <a:avLst/>
          </a:prstGeom>
          <a:solidFill>
            <a:schemeClr val="accent6">
              <a:lumMod val="60000"/>
              <a:lumOff val="40000"/>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 scrips </a:t>
            </a:r>
            <a:br>
              <a:rPr lang="en-US" dirty="0"/>
            </a:br>
            <a:r>
              <a:rPr lang="en-US" dirty="0"/>
              <a:t>(HTML, AJAX) </a:t>
            </a:r>
          </a:p>
        </p:txBody>
      </p:sp>
      <p:sp>
        <p:nvSpPr>
          <p:cNvPr id="37" name="TextBox 36">
            <a:extLst>
              <a:ext uri="{FF2B5EF4-FFF2-40B4-BE49-F238E27FC236}">
                <a16:creationId xmlns:a16="http://schemas.microsoft.com/office/drawing/2014/main" id="{C0A19028-A2CD-4F3A-9330-1E9BFFAA1A40}"/>
              </a:ext>
            </a:extLst>
          </p:cNvPr>
          <p:cNvSpPr txBox="1"/>
          <p:nvPr/>
        </p:nvSpPr>
        <p:spPr>
          <a:xfrm>
            <a:off x="11574867" y="4178652"/>
            <a:ext cx="723275" cy="369332"/>
          </a:xfrm>
          <a:prstGeom prst="rect">
            <a:avLst/>
          </a:prstGeom>
          <a:noFill/>
        </p:spPr>
        <p:txBody>
          <a:bodyPr wrap="none" rtlCol="0">
            <a:spAutoFit/>
          </a:bodyPr>
          <a:lstStyle/>
          <a:p>
            <a:r>
              <a:rPr lang="en-US" dirty="0"/>
              <a:t>Japan</a:t>
            </a:r>
          </a:p>
        </p:txBody>
      </p:sp>
      <p:sp>
        <p:nvSpPr>
          <p:cNvPr id="38" name="TextBox 37">
            <a:extLst>
              <a:ext uri="{FF2B5EF4-FFF2-40B4-BE49-F238E27FC236}">
                <a16:creationId xmlns:a16="http://schemas.microsoft.com/office/drawing/2014/main" id="{839E9C9A-E2EB-4FCF-93B3-55082FF8BB2F}"/>
              </a:ext>
            </a:extLst>
          </p:cNvPr>
          <p:cNvSpPr txBox="1"/>
          <p:nvPr/>
        </p:nvSpPr>
        <p:spPr>
          <a:xfrm>
            <a:off x="8428829" y="3993986"/>
            <a:ext cx="569323" cy="369332"/>
          </a:xfrm>
          <a:prstGeom prst="rect">
            <a:avLst/>
          </a:prstGeom>
          <a:noFill/>
        </p:spPr>
        <p:txBody>
          <a:bodyPr wrap="none" rtlCol="0">
            <a:spAutoFit/>
          </a:bodyPr>
          <a:lstStyle/>
          <a:p>
            <a:r>
              <a:rPr lang="en-US" dirty="0"/>
              <a:t>USA</a:t>
            </a:r>
          </a:p>
        </p:txBody>
      </p:sp>
      <p:sp>
        <p:nvSpPr>
          <p:cNvPr id="39" name="TextBox 38">
            <a:extLst>
              <a:ext uri="{FF2B5EF4-FFF2-40B4-BE49-F238E27FC236}">
                <a16:creationId xmlns:a16="http://schemas.microsoft.com/office/drawing/2014/main" id="{8A696B57-0526-4D04-980E-055157D54664}"/>
              </a:ext>
            </a:extLst>
          </p:cNvPr>
          <p:cNvSpPr txBox="1"/>
          <p:nvPr/>
        </p:nvSpPr>
        <p:spPr>
          <a:xfrm>
            <a:off x="7611738" y="3295326"/>
            <a:ext cx="572336" cy="369332"/>
          </a:xfrm>
          <a:prstGeom prst="rect">
            <a:avLst/>
          </a:prstGeom>
          <a:noFill/>
        </p:spPr>
        <p:txBody>
          <a:bodyPr wrap="none" rtlCol="0">
            <a:spAutoFit/>
          </a:bodyPr>
          <a:lstStyle/>
          <a:p>
            <a:r>
              <a:rPr lang="en-US" dirty="0"/>
              <a:t>UAE</a:t>
            </a:r>
          </a:p>
        </p:txBody>
      </p:sp>
      <p:sp>
        <p:nvSpPr>
          <p:cNvPr id="40" name="TextBox 39">
            <a:extLst>
              <a:ext uri="{FF2B5EF4-FFF2-40B4-BE49-F238E27FC236}">
                <a16:creationId xmlns:a16="http://schemas.microsoft.com/office/drawing/2014/main" id="{7B1CD675-FB56-4E33-9324-E500B76E71DF}"/>
              </a:ext>
            </a:extLst>
          </p:cNvPr>
          <p:cNvSpPr txBox="1"/>
          <p:nvPr/>
        </p:nvSpPr>
        <p:spPr>
          <a:xfrm>
            <a:off x="11123585" y="2705935"/>
            <a:ext cx="725711" cy="369332"/>
          </a:xfrm>
          <a:prstGeom prst="rect">
            <a:avLst/>
          </a:prstGeom>
          <a:noFill/>
        </p:spPr>
        <p:txBody>
          <a:bodyPr wrap="none" rtlCol="0">
            <a:spAutoFit/>
          </a:bodyPr>
          <a:lstStyle/>
          <a:p>
            <a:r>
              <a:rPr lang="en-US" dirty="0"/>
              <a:t>Korea</a:t>
            </a:r>
          </a:p>
        </p:txBody>
      </p:sp>
    </p:spTree>
    <p:extLst>
      <p:ext uri="{BB962C8B-B14F-4D97-AF65-F5344CB8AC3E}">
        <p14:creationId xmlns:p14="http://schemas.microsoft.com/office/powerpoint/2010/main" val="3393327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7B54E-6CC9-450A-B5DF-E6BB44567D10}"/>
              </a:ext>
            </a:extLst>
          </p:cNvPr>
          <p:cNvSpPr>
            <a:spLocks noGrp="1"/>
          </p:cNvSpPr>
          <p:nvPr>
            <p:ph type="title"/>
          </p:nvPr>
        </p:nvSpPr>
        <p:spPr/>
        <p:txBody>
          <a:bodyPr>
            <a:normAutofit/>
          </a:bodyPr>
          <a:lstStyle/>
          <a:p>
            <a:r>
              <a:rPr lang="en-US" sz="2800" dirty="0"/>
              <a:t>Learning outcome we seek from developing API centric architecture </a:t>
            </a:r>
          </a:p>
        </p:txBody>
      </p:sp>
      <p:sp>
        <p:nvSpPr>
          <p:cNvPr id="3" name="Slide Number Placeholder 2">
            <a:extLst>
              <a:ext uri="{FF2B5EF4-FFF2-40B4-BE49-F238E27FC236}">
                <a16:creationId xmlns:a16="http://schemas.microsoft.com/office/drawing/2014/main" id="{07BEFAB3-6597-4C56-AB88-5C8DD23A9FAD}"/>
              </a:ext>
            </a:extLst>
          </p:cNvPr>
          <p:cNvSpPr>
            <a:spLocks noGrp="1"/>
          </p:cNvSpPr>
          <p:nvPr>
            <p:ph type="sldNum" sz="quarter" idx="10"/>
          </p:nvPr>
        </p:nvSpPr>
        <p:spPr/>
        <p:txBody>
          <a:bodyPr/>
          <a:lstStyle/>
          <a:p>
            <a:fld id="{FFDA1B5B-FD17-41CE-9005-2457CABDC26A}" type="slidenum">
              <a:rPr lang="en-US" smtClean="0"/>
              <a:t>21</a:t>
            </a:fld>
            <a:endParaRPr lang="en-US"/>
          </a:p>
        </p:txBody>
      </p:sp>
      <p:sp>
        <p:nvSpPr>
          <p:cNvPr id="4" name="Text Placeholder 3">
            <a:extLst>
              <a:ext uri="{FF2B5EF4-FFF2-40B4-BE49-F238E27FC236}">
                <a16:creationId xmlns:a16="http://schemas.microsoft.com/office/drawing/2014/main" id="{2CD0BD3E-DAA3-439A-87F5-3EE798B9B251}"/>
              </a:ext>
            </a:extLst>
          </p:cNvPr>
          <p:cNvSpPr>
            <a:spLocks noGrp="1"/>
          </p:cNvSpPr>
          <p:nvPr>
            <p:ph type="body" sz="quarter" idx="11"/>
          </p:nvPr>
        </p:nvSpPr>
        <p:spPr/>
        <p:txBody>
          <a:bodyPr/>
          <a:lstStyle/>
          <a:p>
            <a:pPr algn="l">
              <a:buFont typeface="Arial" panose="020B0604020202020204" pitchFamily="34" charset="0"/>
              <a:buChar char="•"/>
            </a:pPr>
            <a:r>
              <a:rPr lang="en-CA" b="0" i="0" dirty="0">
                <a:solidFill>
                  <a:srgbClr val="003C71"/>
                </a:solidFill>
                <a:effectLst/>
                <a:latin typeface="avenir-regular"/>
              </a:rPr>
              <a:t>Design and develop programs using REST, JSON and HTTP.</a:t>
            </a:r>
          </a:p>
          <a:p>
            <a:pPr lvl="1"/>
            <a:r>
              <a:rPr lang="en-CA" dirty="0">
                <a:solidFill>
                  <a:srgbClr val="003C71"/>
                </a:solidFill>
                <a:latin typeface="avenir-regular"/>
              </a:rPr>
              <a:t>Learning the RESTful API architecture</a:t>
            </a:r>
          </a:p>
          <a:p>
            <a:pPr lvl="1"/>
            <a:r>
              <a:rPr lang="en-CA" dirty="0">
                <a:solidFill>
                  <a:srgbClr val="003C71"/>
                </a:solidFill>
                <a:latin typeface="avenir-regular"/>
              </a:rPr>
              <a:t>Working with </a:t>
            </a:r>
            <a:r>
              <a:rPr lang="en-CA" b="1" dirty="0">
                <a:solidFill>
                  <a:srgbClr val="003C71"/>
                </a:solidFill>
                <a:latin typeface="avenir-regular"/>
              </a:rPr>
              <a:t>HTTP methods </a:t>
            </a:r>
            <a:r>
              <a:rPr lang="en-CA" dirty="0">
                <a:solidFill>
                  <a:srgbClr val="003C71"/>
                </a:solidFill>
                <a:latin typeface="avenir-regular"/>
              </a:rPr>
              <a:t>(GET, POST, PUT </a:t>
            </a:r>
            <a:r>
              <a:rPr lang="en-CA" dirty="0" err="1">
                <a:solidFill>
                  <a:srgbClr val="003C71"/>
                </a:solidFill>
                <a:latin typeface="avenir-regular"/>
              </a:rPr>
              <a:t>etc</a:t>
            </a:r>
            <a:r>
              <a:rPr lang="en-CA" dirty="0">
                <a:solidFill>
                  <a:srgbClr val="003C71"/>
                </a:solidFill>
                <a:latin typeface="avenir-regular"/>
              </a:rPr>
              <a:t>)</a:t>
            </a:r>
          </a:p>
          <a:p>
            <a:pPr lvl="1"/>
            <a:r>
              <a:rPr lang="en-CA" b="0" i="0" dirty="0">
                <a:solidFill>
                  <a:srgbClr val="003C71"/>
                </a:solidFill>
                <a:effectLst/>
                <a:latin typeface="avenir-regular"/>
              </a:rPr>
              <a:t>Working with </a:t>
            </a:r>
            <a:r>
              <a:rPr lang="en-CA" b="1" i="0" dirty="0">
                <a:solidFill>
                  <a:srgbClr val="003C71"/>
                </a:solidFill>
                <a:effectLst/>
                <a:latin typeface="avenir-regular"/>
              </a:rPr>
              <a:t>JSON</a:t>
            </a:r>
            <a:r>
              <a:rPr lang="en-CA" b="0" i="0" dirty="0">
                <a:solidFill>
                  <a:srgbClr val="003C71"/>
                </a:solidFill>
                <a:effectLst/>
                <a:latin typeface="avenir-regular"/>
              </a:rPr>
              <a:t> as a format to pass </a:t>
            </a:r>
            <a:r>
              <a:rPr lang="en-CA" dirty="0">
                <a:solidFill>
                  <a:srgbClr val="003C71"/>
                </a:solidFill>
                <a:latin typeface="avenir-regular"/>
              </a:rPr>
              <a:t>data back and forth </a:t>
            </a:r>
            <a:endParaRPr lang="en-CA" b="0" i="0" dirty="0">
              <a:solidFill>
                <a:srgbClr val="003C71"/>
              </a:solidFill>
              <a:effectLst/>
              <a:latin typeface="avenir-regular"/>
            </a:endParaRPr>
          </a:p>
          <a:p>
            <a:pPr algn="l">
              <a:buFont typeface="Arial" panose="020B0604020202020204" pitchFamily="34" charset="0"/>
              <a:buChar char="•"/>
            </a:pPr>
            <a:r>
              <a:rPr lang="en-CA" b="0" i="0" dirty="0">
                <a:solidFill>
                  <a:srgbClr val="003C71"/>
                </a:solidFill>
                <a:effectLst/>
                <a:latin typeface="avenir-regular"/>
              </a:rPr>
              <a:t>Design a simple web service.</a:t>
            </a:r>
          </a:p>
          <a:p>
            <a:pPr lvl="1"/>
            <a:r>
              <a:rPr lang="en-CA" dirty="0">
                <a:solidFill>
                  <a:srgbClr val="003C71"/>
                </a:solidFill>
                <a:latin typeface="avenir-regular"/>
              </a:rPr>
              <a:t>A simple web service that returns result to AJAX requests like mydomain.com/API/Patients/1</a:t>
            </a:r>
            <a:endParaRPr lang="en-CA" b="0" i="0" dirty="0">
              <a:solidFill>
                <a:srgbClr val="003C71"/>
              </a:solidFill>
              <a:effectLst/>
              <a:latin typeface="avenir-regular"/>
            </a:endParaRPr>
          </a:p>
          <a:p>
            <a:pPr algn="l">
              <a:buFont typeface="Arial" panose="020B0604020202020204" pitchFamily="34" charset="0"/>
              <a:buChar char="•"/>
            </a:pPr>
            <a:r>
              <a:rPr lang="en-CA" b="0" i="0" dirty="0">
                <a:solidFill>
                  <a:srgbClr val="003C71"/>
                </a:solidFill>
                <a:effectLst/>
                <a:latin typeface="avenir-regular"/>
              </a:rPr>
              <a:t>Design and develop a RESTful API by applying the best practices and REST constraints.</a:t>
            </a:r>
          </a:p>
          <a:p>
            <a:pPr lvl="1"/>
            <a:r>
              <a:rPr lang="en-CA" dirty="0">
                <a:solidFill>
                  <a:srgbClr val="003C71"/>
                </a:solidFill>
                <a:latin typeface="avenir-regular"/>
              </a:rPr>
              <a:t>You practice this in one of your labs and in your term project</a:t>
            </a:r>
          </a:p>
          <a:p>
            <a:pPr lvl="1"/>
            <a:endParaRPr lang="en-CA" b="0" i="0" dirty="0">
              <a:solidFill>
                <a:srgbClr val="003C71"/>
              </a:solidFill>
              <a:effectLst/>
              <a:latin typeface="avenir-regular"/>
            </a:endParaRPr>
          </a:p>
          <a:p>
            <a:r>
              <a:rPr lang="en-CA" b="0" i="0" dirty="0">
                <a:solidFill>
                  <a:srgbClr val="003C71"/>
                </a:solidFill>
                <a:effectLst/>
                <a:latin typeface="avenir-regular"/>
              </a:rPr>
              <a:t>Document and write specifications.</a:t>
            </a:r>
          </a:p>
          <a:p>
            <a:pPr lvl="1"/>
            <a:r>
              <a:rPr lang="en-CA" b="0" i="0" dirty="0">
                <a:solidFill>
                  <a:srgbClr val="003C71"/>
                </a:solidFill>
                <a:effectLst/>
                <a:latin typeface="avenir-regular"/>
              </a:rPr>
              <a:t>using swagger</a:t>
            </a:r>
          </a:p>
          <a:p>
            <a:endParaRPr lang="en-CA" b="0" i="0" dirty="0">
              <a:solidFill>
                <a:srgbClr val="003C71"/>
              </a:solidFill>
              <a:effectLst/>
              <a:latin typeface="avenir-regular"/>
            </a:endParaRPr>
          </a:p>
          <a:p>
            <a:pPr algn="l">
              <a:buFont typeface="Arial" panose="020B0604020202020204" pitchFamily="34" charset="0"/>
              <a:buChar char="•"/>
            </a:pPr>
            <a:endParaRPr lang="en-CA" b="0" i="0" dirty="0">
              <a:solidFill>
                <a:srgbClr val="003C71"/>
              </a:solidFill>
              <a:effectLst/>
              <a:latin typeface="avenir-regular"/>
            </a:endParaRPr>
          </a:p>
          <a:p>
            <a:pPr algn="l">
              <a:buFont typeface="Arial" panose="020B0604020202020204" pitchFamily="34" charset="0"/>
              <a:buChar char="•"/>
            </a:pPr>
            <a:endParaRPr lang="en-CA" b="0" i="0" dirty="0">
              <a:solidFill>
                <a:srgbClr val="003C71"/>
              </a:solidFill>
              <a:effectLst/>
              <a:latin typeface="avenir-regular"/>
            </a:endParaRPr>
          </a:p>
        </p:txBody>
      </p:sp>
    </p:spTree>
    <p:extLst>
      <p:ext uri="{BB962C8B-B14F-4D97-AF65-F5344CB8AC3E}">
        <p14:creationId xmlns:p14="http://schemas.microsoft.com/office/powerpoint/2010/main" val="2161975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 calcmode="lin" valueType="num">
                                      <p:cBhvr additive="base">
                                        <p:cTn id="3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anim calcmode="lin" valueType="num">
                                      <p:cBhvr additive="base">
                                        <p:cTn id="3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anim calcmode="lin" valueType="num">
                                      <p:cBhvr additive="base">
                                        <p:cTn id="45"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
                                            <p:txEl>
                                              <p:pRg st="10" end="10"/>
                                            </p:txEl>
                                          </p:spTgt>
                                        </p:tgtEl>
                                        <p:attrNameLst>
                                          <p:attrName>style.visibility</p:attrName>
                                        </p:attrNameLst>
                                      </p:cBhvr>
                                      <p:to>
                                        <p:strVal val="visible"/>
                                      </p:to>
                                    </p:set>
                                    <p:anim calcmode="lin" valueType="num">
                                      <p:cBhvr additive="base">
                                        <p:cTn id="49"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4DDD8-3E0D-41D5-A1A0-BFAD49A96276}"/>
              </a:ext>
            </a:extLst>
          </p:cNvPr>
          <p:cNvSpPr>
            <a:spLocks noGrp="1"/>
          </p:cNvSpPr>
          <p:nvPr>
            <p:ph type="title"/>
          </p:nvPr>
        </p:nvSpPr>
        <p:spPr/>
        <p:txBody>
          <a:bodyPr>
            <a:normAutofit fontScale="90000"/>
          </a:bodyPr>
          <a:lstStyle/>
          <a:p>
            <a:endParaRPr lang="en-US"/>
          </a:p>
        </p:txBody>
      </p:sp>
      <p:sp>
        <p:nvSpPr>
          <p:cNvPr id="3" name="Slide Number Placeholder 2">
            <a:extLst>
              <a:ext uri="{FF2B5EF4-FFF2-40B4-BE49-F238E27FC236}">
                <a16:creationId xmlns:a16="http://schemas.microsoft.com/office/drawing/2014/main" id="{5C4A04CB-735C-4E48-8DBC-96CD0570B471}"/>
              </a:ext>
            </a:extLst>
          </p:cNvPr>
          <p:cNvSpPr>
            <a:spLocks noGrp="1"/>
          </p:cNvSpPr>
          <p:nvPr>
            <p:ph type="sldNum" sz="quarter" idx="10"/>
          </p:nvPr>
        </p:nvSpPr>
        <p:spPr/>
        <p:txBody>
          <a:bodyPr/>
          <a:lstStyle/>
          <a:p>
            <a:fld id="{FFDA1B5B-FD17-41CE-9005-2457CABDC26A}" type="slidenum">
              <a:rPr lang="en-US" smtClean="0"/>
              <a:t>22</a:t>
            </a:fld>
            <a:endParaRPr lang="en-US"/>
          </a:p>
        </p:txBody>
      </p:sp>
      <p:sp>
        <p:nvSpPr>
          <p:cNvPr id="4" name="Text Placeholder 3">
            <a:extLst>
              <a:ext uri="{FF2B5EF4-FFF2-40B4-BE49-F238E27FC236}">
                <a16:creationId xmlns:a16="http://schemas.microsoft.com/office/drawing/2014/main" id="{1AAE7059-4FF7-4FAA-9BA4-95FF2CD05D93}"/>
              </a:ext>
            </a:extLst>
          </p:cNvPr>
          <p:cNvSpPr>
            <a:spLocks noGrp="1"/>
          </p:cNvSpPr>
          <p:nvPr>
            <p:ph type="body" sz="quarter" idx="11"/>
          </p:nvPr>
        </p:nvSpPr>
        <p:spPr/>
        <p:txBody>
          <a:bodyPr/>
          <a:lstStyle/>
          <a:p>
            <a:pPr algn="l">
              <a:buFont typeface="Arial" panose="020B0604020202020204" pitchFamily="34" charset="0"/>
              <a:buChar char="•"/>
            </a:pPr>
            <a:r>
              <a:rPr lang="en-CA" b="0" i="0" dirty="0">
                <a:solidFill>
                  <a:srgbClr val="003C71"/>
                </a:solidFill>
                <a:effectLst/>
                <a:latin typeface="avenir-regular"/>
              </a:rPr>
              <a:t>Practice implementation of CRUD operations.</a:t>
            </a:r>
          </a:p>
          <a:p>
            <a:pPr lvl="1"/>
            <a:r>
              <a:rPr lang="en-CA" dirty="0">
                <a:solidFill>
                  <a:srgbClr val="003C71"/>
                </a:solidFill>
                <a:latin typeface="avenir-regular"/>
              </a:rPr>
              <a:t>Review of RDBM</a:t>
            </a:r>
          </a:p>
          <a:p>
            <a:pPr lvl="1"/>
            <a:r>
              <a:rPr lang="en-CA" dirty="0">
                <a:solidFill>
                  <a:srgbClr val="003C71"/>
                </a:solidFill>
                <a:latin typeface="avenir-regular"/>
              </a:rPr>
              <a:t>Doing </a:t>
            </a:r>
            <a:r>
              <a:rPr lang="en-CA" b="1" dirty="0">
                <a:solidFill>
                  <a:srgbClr val="003C71"/>
                </a:solidFill>
                <a:latin typeface="avenir-regular"/>
              </a:rPr>
              <a:t>C</a:t>
            </a:r>
            <a:r>
              <a:rPr lang="en-CA" dirty="0">
                <a:solidFill>
                  <a:srgbClr val="003C71"/>
                </a:solidFill>
                <a:latin typeface="avenir-regular"/>
              </a:rPr>
              <a:t>reate, </a:t>
            </a:r>
            <a:r>
              <a:rPr lang="en-CA" b="1" dirty="0">
                <a:solidFill>
                  <a:srgbClr val="003C71"/>
                </a:solidFill>
                <a:latin typeface="avenir-regular"/>
              </a:rPr>
              <a:t>R</a:t>
            </a:r>
            <a:r>
              <a:rPr lang="en-CA" dirty="0">
                <a:solidFill>
                  <a:srgbClr val="003C71"/>
                </a:solidFill>
                <a:latin typeface="avenir-regular"/>
              </a:rPr>
              <a:t>ead, </a:t>
            </a:r>
            <a:r>
              <a:rPr lang="en-CA" b="1" dirty="0">
                <a:solidFill>
                  <a:srgbClr val="003C71"/>
                </a:solidFill>
                <a:latin typeface="avenir-regular"/>
              </a:rPr>
              <a:t>U</a:t>
            </a:r>
            <a:r>
              <a:rPr lang="en-CA" dirty="0">
                <a:solidFill>
                  <a:srgbClr val="003C71"/>
                </a:solidFill>
                <a:latin typeface="avenir-regular"/>
              </a:rPr>
              <a:t>pdate and </a:t>
            </a:r>
            <a:r>
              <a:rPr lang="en-CA" b="1" dirty="0">
                <a:solidFill>
                  <a:srgbClr val="003C71"/>
                </a:solidFill>
                <a:latin typeface="avenir-regular"/>
              </a:rPr>
              <a:t>D</a:t>
            </a:r>
            <a:r>
              <a:rPr lang="en-CA" dirty="0">
                <a:solidFill>
                  <a:srgbClr val="003C71"/>
                </a:solidFill>
                <a:latin typeface="avenir-regular"/>
              </a:rPr>
              <a:t>elete operations on a database via API requests </a:t>
            </a:r>
            <a:endParaRPr lang="en-CA" b="0" i="0" dirty="0">
              <a:solidFill>
                <a:srgbClr val="003C71"/>
              </a:solidFill>
              <a:effectLst/>
              <a:latin typeface="avenir-regular"/>
            </a:endParaRPr>
          </a:p>
          <a:p>
            <a:pPr algn="l">
              <a:buFont typeface="Arial" panose="020B0604020202020204" pitchFamily="34" charset="0"/>
              <a:buChar char="•"/>
            </a:pPr>
            <a:r>
              <a:rPr lang="en-CA" b="0" i="0" dirty="0">
                <a:solidFill>
                  <a:srgbClr val="003C71"/>
                </a:solidFill>
                <a:effectLst/>
                <a:latin typeface="avenir-regular"/>
              </a:rPr>
              <a:t>Implement error handling, HTTP status codes, secure API.</a:t>
            </a:r>
          </a:p>
          <a:p>
            <a:pPr lvl="1"/>
            <a:r>
              <a:rPr lang="en-CA" dirty="0">
                <a:solidFill>
                  <a:srgbClr val="003C71"/>
                </a:solidFill>
                <a:latin typeface="avenir-regular"/>
              </a:rPr>
              <a:t>404, 303, 200, 505, …with messages such as</a:t>
            </a:r>
          </a:p>
          <a:p>
            <a:pPr lvl="1"/>
            <a:r>
              <a:rPr lang="en-CA" b="0" i="0" dirty="0">
                <a:solidFill>
                  <a:srgbClr val="003C71"/>
                </a:solidFill>
                <a:effectLst/>
                <a:latin typeface="avenir-regular"/>
              </a:rPr>
              <a:t>Bad request</a:t>
            </a:r>
          </a:p>
          <a:p>
            <a:pPr lvl="1"/>
            <a:r>
              <a:rPr lang="en-CA" dirty="0">
                <a:solidFill>
                  <a:srgbClr val="003C71"/>
                </a:solidFill>
                <a:latin typeface="avenir-regular"/>
              </a:rPr>
              <a:t>Unauthorized</a:t>
            </a:r>
          </a:p>
          <a:p>
            <a:pPr lvl="1"/>
            <a:r>
              <a:rPr lang="en-CA" b="0" i="0" dirty="0">
                <a:solidFill>
                  <a:srgbClr val="003C71"/>
                </a:solidFill>
                <a:effectLst/>
                <a:latin typeface="avenir-regular"/>
              </a:rPr>
              <a:t>Not found </a:t>
            </a:r>
          </a:p>
          <a:p>
            <a:pPr algn="l">
              <a:buFont typeface="Arial" panose="020B0604020202020204" pitchFamily="34" charset="0"/>
              <a:buChar char="•"/>
            </a:pPr>
            <a:r>
              <a:rPr lang="en-CA" b="0" i="0" dirty="0">
                <a:solidFill>
                  <a:srgbClr val="003C71"/>
                </a:solidFill>
                <a:effectLst/>
                <a:latin typeface="avenir-regular"/>
              </a:rPr>
              <a:t>Apply change management and versioning of designed APIs.</a:t>
            </a:r>
          </a:p>
          <a:p>
            <a:pPr lvl="1"/>
            <a:r>
              <a:rPr lang="en-CA" dirty="0">
                <a:solidFill>
                  <a:srgbClr val="003C71"/>
                </a:solidFill>
                <a:latin typeface="avenir-regular"/>
              </a:rPr>
              <a:t>mydomain.com/</a:t>
            </a:r>
            <a:r>
              <a:rPr lang="en-CA" b="1" dirty="0">
                <a:solidFill>
                  <a:srgbClr val="003C71"/>
                </a:solidFill>
                <a:latin typeface="avenir-regular"/>
              </a:rPr>
              <a:t>V1</a:t>
            </a:r>
            <a:r>
              <a:rPr lang="en-CA" dirty="0">
                <a:solidFill>
                  <a:srgbClr val="003C71"/>
                </a:solidFill>
                <a:latin typeface="avenir-regular"/>
              </a:rPr>
              <a:t>/API/Patients/1</a:t>
            </a:r>
          </a:p>
          <a:p>
            <a:pPr lvl="1"/>
            <a:r>
              <a:rPr lang="en-CA" dirty="0">
                <a:solidFill>
                  <a:srgbClr val="003C71"/>
                </a:solidFill>
                <a:latin typeface="avenir-regular"/>
              </a:rPr>
              <a:t>mydomain.com/</a:t>
            </a:r>
            <a:r>
              <a:rPr lang="en-CA" b="1" dirty="0">
                <a:solidFill>
                  <a:srgbClr val="003C71"/>
                </a:solidFill>
                <a:latin typeface="avenir-regular"/>
              </a:rPr>
              <a:t>V1.1</a:t>
            </a:r>
            <a:r>
              <a:rPr lang="en-CA" dirty="0">
                <a:solidFill>
                  <a:srgbClr val="003C71"/>
                </a:solidFill>
                <a:latin typeface="avenir-regular"/>
              </a:rPr>
              <a:t>/API/Patients/1</a:t>
            </a:r>
            <a:endParaRPr lang="en-CA" b="0" i="0" dirty="0">
              <a:solidFill>
                <a:srgbClr val="003C71"/>
              </a:solidFill>
              <a:effectLst/>
              <a:latin typeface="avenir-regular"/>
            </a:endParaRPr>
          </a:p>
          <a:p>
            <a:pPr algn="l">
              <a:buFont typeface="Arial" panose="020B0604020202020204" pitchFamily="34" charset="0"/>
              <a:buChar char="•"/>
            </a:pPr>
            <a:r>
              <a:rPr lang="en-CA" b="0" i="0" dirty="0">
                <a:solidFill>
                  <a:srgbClr val="003C71"/>
                </a:solidFill>
                <a:effectLst/>
                <a:latin typeface="avenir-regular"/>
              </a:rPr>
              <a:t>Secure a backend API server.</a:t>
            </a:r>
          </a:p>
          <a:p>
            <a:pPr lvl="1"/>
            <a:r>
              <a:rPr lang="en-CA" dirty="0">
                <a:solidFill>
                  <a:srgbClr val="003C71"/>
                </a:solidFill>
                <a:latin typeface="avenir-regular"/>
              </a:rPr>
              <a:t>simple token based approach</a:t>
            </a:r>
          </a:p>
          <a:p>
            <a:pPr lvl="1"/>
            <a:r>
              <a:rPr lang="en-CA" b="0" i="0" dirty="0">
                <a:solidFill>
                  <a:srgbClr val="003C71"/>
                </a:solidFill>
                <a:effectLst/>
                <a:latin typeface="avenir-regular"/>
              </a:rPr>
              <a:t>Hashing using promises </a:t>
            </a:r>
          </a:p>
          <a:p>
            <a:endParaRPr lang="en-US" dirty="0"/>
          </a:p>
        </p:txBody>
      </p:sp>
    </p:spTree>
    <p:extLst>
      <p:ext uri="{BB962C8B-B14F-4D97-AF65-F5344CB8AC3E}">
        <p14:creationId xmlns:p14="http://schemas.microsoft.com/office/powerpoint/2010/main" val="3835139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 calcmode="lin" valueType="num">
                                      <p:cBhvr additive="base">
                                        <p:cTn id="3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 calcmode="lin" valueType="num">
                                      <p:cBhvr additive="base">
                                        <p:cTn id="3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anim calcmode="lin" valueType="num">
                                      <p:cBhvr additive="base">
                                        <p:cTn id="43"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anim calcmode="lin" valueType="num">
                                      <p:cBhvr additive="base">
                                        <p:cTn id="4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anim calcmode="lin" valueType="num">
                                      <p:cBhvr additive="base">
                                        <p:cTn id="51"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4">
                                            <p:txEl>
                                              <p:pRg st="11" end="11"/>
                                            </p:txEl>
                                          </p:spTgt>
                                        </p:tgtEl>
                                        <p:attrNameLst>
                                          <p:attrName>style.visibility</p:attrName>
                                        </p:attrNameLst>
                                      </p:cBhvr>
                                      <p:to>
                                        <p:strVal val="visible"/>
                                      </p:to>
                                    </p:set>
                                    <p:anim calcmode="lin" valueType="num">
                                      <p:cBhvr additive="base">
                                        <p:cTn id="57"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
                                            <p:txEl>
                                              <p:pRg st="12" end="12"/>
                                            </p:txEl>
                                          </p:spTgt>
                                        </p:tgtEl>
                                        <p:attrNameLst>
                                          <p:attrName>style.visibility</p:attrName>
                                        </p:attrNameLst>
                                      </p:cBhvr>
                                      <p:to>
                                        <p:strVal val="visible"/>
                                      </p:to>
                                    </p:set>
                                    <p:anim calcmode="lin" valueType="num">
                                      <p:cBhvr additive="base">
                                        <p:cTn id="61"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4">
                                            <p:txEl>
                                              <p:pRg st="13" end="13"/>
                                            </p:txEl>
                                          </p:spTgt>
                                        </p:tgtEl>
                                        <p:attrNameLst>
                                          <p:attrName>style.visibility</p:attrName>
                                        </p:attrNameLst>
                                      </p:cBhvr>
                                      <p:to>
                                        <p:strVal val="visible"/>
                                      </p:to>
                                    </p:set>
                                    <p:anim calcmode="lin" valueType="num">
                                      <p:cBhvr additive="base">
                                        <p:cTn id="65"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070B9-EAAF-4DB1-B9D8-36E67BEDD892}"/>
              </a:ext>
            </a:extLst>
          </p:cNvPr>
          <p:cNvSpPr>
            <a:spLocks noGrp="1"/>
          </p:cNvSpPr>
          <p:nvPr>
            <p:ph type="title"/>
          </p:nvPr>
        </p:nvSpPr>
        <p:spPr/>
        <p:txBody>
          <a:bodyPr>
            <a:normAutofit fontScale="90000"/>
          </a:bodyPr>
          <a:lstStyle/>
          <a:p>
            <a:endParaRPr lang="en-US"/>
          </a:p>
        </p:txBody>
      </p:sp>
      <p:sp>
        <p:nvSpPr>
          <p:cNvPr id="3" name="Slide Number Placeholder 2">
            <a:extLst>
              <a:ext uri="{FF2B5EF4-FFF2-40B4-BE49-F238E27FC236}">
                <a16:creationId xmlns:a16="http://schemas.microsoft.com/office/drawing/2014/main" id="{DB0BDB35-FA81-45D7-90CD-81D81924AB43}"/>
              </a:ext>
            </a:extLst>
          </p:cNvPr>
          <p:cNvSpPr>
            <a:spLocks noGrp="1"/>
          </p:cNvSpPr>
          <p:nvPr>
            <p:ph type="sldNum" sz="quarter" idx="10"/>
          </p:nvPr>
        </p:nvSpPr>
        <p:spPr/>
        <p:txBody>
          <a:bodyPr/>
          <a:lstStyle/>
          <a:p>
            <a:fld id="{FFDA1B5B-FD17-41CE-9005-2457CABDC26A}" type="slidenum">
              <a:rPr lang="en-US" smtClean="0"/>
              <a:t>23</a:t>
            </a:fld>
            <a:endParaRPr lang="en-US"/>
          </a:p>
        </p:txBody>
      </p:sp>
      <p:sp>
        <p:nvSpPr>
          <p:cNvPr id="4" name="Text Placeholder 3">
            <a:extLst>
              <a:ext uri="{FF2B5EF4-FFF2-40B4-BE49-F238E27FC236}">
                <a16:creationId xmlns:a16="http://schemas.microsoft.com/office/drawing/2014/main" id="{5064DEDA-42DB-485C-98C8-FDF1F4240A49}"/>
              </a:ext>
            </a:extLst>
          </p:cNvPr>
          <p:cNvSpPr>
            <a:spLocks noGrp="1"/>
          </p:cNvSpPr>
          <p:nvPr>
            <p:ph type="body" sz="quarter" idx="11"/>
          </p:nvPr>
        </p:nvSpPr>
        <p:spPr/>
        <p:txBody>
          <a:bodyPr/>
          <a:lstStyle/>
          <a:p>
            <a:r>
              <a:rPr lang="en-US" sz="3200" dirty="0"/>
              <a:t>Also</a:t>
            </a:r>
          </a:p>
          <a:p>
            <a:pPr lvl="1"/>
            <a:r>
              <a:rPr lang="en-US" sz="3200" dirty="0"/>
              <a:t>Working with web storage</a:t>
            </a:r>
          </a:p>
          <a:p>
            <a:pPr lvl="1"/>
            <a:r>
              <a:rPr lang="en-US" sz="3200" dirty="0"/>
              <a:t>Private key/ public key</a:t>
            </a:r>
          </a:p>
          <a:p>
            <a:pPr lvl="1"/>
            <a:r>
              <a:rPr lang="en-US" sz="3200" dirty="0"/>
              <a:t>Asynchronous programming </a:t>
            </a:r>
          </a:p>
          <a:p>
            <a:pPr lvl="1"/>
            <a:r>
              <a:rPr lang="en-US" sz="3200" dirty="0"/>
              <a:t>Practicing denial of service attack</a:t>
            </a:r>
          </a:p>
          <a:p>
            <a:pPr lvl="1"/>
            <a:r>
              <a:rPr lang="en-US" sz="3200" dirty="0"/>
              <a:t>How to design scalable applications</a:t>
            </a:r>
          </a:p>
          <a:p>
            <a:pPr lvl="1"/>
            <a:r>
              <a:rPr lang="en-US" sz="3200" dirty="0"/>
              <a:t>How </a:t>
            </a:r>
            <a:r>
              <a:rPr lang="en-US" sz="3200" dirty="0" err="1"/>
              <a:t>oAuth</a:t>
            </a:r>
            <a:r>
              <a:rPr lang="en-US" sz="3200" dirty="0"/>
              <a:t> works</a:t>
            </a:r>
          </a:p>
          <a:p>
            <a:pPr lvl="1"/>
            <a:r>
              <a:rPr lang="en-US" sz="3200" dirty="0"/>
              <a:t>You may need to install SSL ( depends on your host provider how to do it)</a:t>
            </a:r>
          </a:p>
          <a:p>
            <a:pPr lvl="1"/>
            <a:endParaRPr lang="en-US" sz="3200" dirty="0"/>
          </a:p>
          <a:p>
            <a:pPr lvl="1"/>
            <a:endParaRPr lang="en-US" sz="3200" dirty="0"/>
          </a:p>
          <a:p>
            <a:pPr lvl="1"/>
            <a:endParaRPr lang="en-US" sz="3200" dirty="0"/>
          </a:p>
          <a:p>
            <a:pPr lvl="1"/>
            <a:endParaRPr lang="en-US" sz="3200" dirty="0"/>
          </a:p>
          <a:p>
            <a:pPr lvl="1"/>
            <a:endParaRPr lang="en-US" sz="3200" dirty="0"/>
          </a:p>
        </p:txBody>
      </p:sp>
    </p:spTree>
    <p:extLst>
      <p:ext uri="{BB962C8B-B14F-4D97-AF65-F5344CB8AC3E}">
        <p14:creationId xmlns:p14="http://schemas.microsoft.com/office/powerpoint/2010/main" val="3620216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C5AF9-69C5-4354-9B5A-9C426634FF8D}"/>
              </a:ext>
            </a:extLst>
          </p:cNvPr>
          <p:cNvSpPr>
            <a:spLocks noGrp="1"/>
          </p:cNvSpPr>
          <p:nvPr>
            <p:ph type="title"/>
          </p:nvPr>
        </p:nvSpPr>
        <p:spPr>
          <a:xfrm>
            <a:off x="3292710" y="3187356"/>
            <a:ext cx="4219438" cy="483287"/>
          </a:xfrm>
        </p:spPr>
        <p:txBody>
          <a:bodyPr>
            <a:normAutofit fontScale="90000"/>
          </a:bodyPr>
          <a:lstStyle/>
          <a:p>
            <a:r>
              <a:rPr lang="en-US" dirty="0"/>
              <a:t>Lets get started ….</a:t>
            </a:r>
          </a:p>
        </p:txBody>
      </p:sp>
      <p:sp>
        <p:nvSpPr>
          <p:cNvPr id="3" name="Slide Number Placeholder 2">
            <a:extLst>
              <a:ext uri="{FF2B5EF4-FFF2-40B4-BE49-F238E27FC236}">
                <a16:creationId xmlns:a16="http://schemas.microsoft.com/office/drawing/2014/main" id="{159691A4-578D-4360-841A-0FC877E28EA2}"/>
              </a:ext>
            </a:extLst>
          </p:cNvPr>
          <p:cNvSpPr>
            <a:spLocks noGrp="1"/>
          </p:cNvSpPr>
          <p:nvPr>
            <p:ph type="sldNum" sz="quarter" idx="10"/>
          </p:nvPr>
        </p:nvSpPr>
        <p:spPr/>
        <p:txBody>
          <a:bodyPr/>
          <a:lstStyle/>
          <a:p>
            <a:fld id="{FFDA1B5B-FD17-41CE-9005-2457CABDC26A}" type="slidenum">
              <a:rPr lang="en-US" smtClean="0"/>
              <a:t>24</a:t>
            </a:fld>
            <a:endParaRPr lang="en-US"/>
          </a:p>
        </p:txBody>
      </p:sp>
    </p:spTree>
    <p:extLst>
      <p:ext uri="{BB962C8B-B14F-4D97-AF65-F5344CB8AC3E}">
        <p14:creationId xmlns:p14="http://schemas.microsoft.com/office/powerpoint/2010/main" val="3929380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6056F-5456-491C-AAFD-33F50EF81B52}"/>
              </a:ext>
            </a:extLst>
          </p:cNvPr>
          <p:cNvSpPr>
            <a:spLocks noGrp="1"/>
          </p:cNvSpPr>
          <p:nvPr>
            <p:ph type="title"/>
          </p:nvPr>
        </p:nvSpPr>
        <p:spPr>
          <a:xfrm>
            <a:off x="2001872" y="2306037"/>
            <a:ext cx="5974510" cy="2245925"/>
          </a:xfrm>
        </p:spPr>
        <p:txBody>
          <a:bodyPr>
            <a:noAutofit/>
          </a:bodyPr>
          <a:lstStyle/>
          <a:p>
            <a:r>
              <a:rPr lang="en-US" sz="9600" dirty="0"/>
              <a:t>JSON</a:t>
            </a:r>
            <a:br>
              <a:rPr lang="en-US" sz="9600" dirty="0"/>
            </a:br>
            <a:r>
              <a:rPr lang="en-US" sz="2400" dirty="0"/>
              <a:t>and</a:t>
            </a:r>
            <a:br>
              <a:rPr lang="en-US" sz="9600" dirty="0"/>
            </a:br>
            <a:r>
              <a:rPr lang="en-US" dirty="0"/>
              <a:t>HTML Web Storage</a:t>
            </a:r>
            <a:br>
              <a:rPr lang="en-US" sz="6600" dirty="0"/>
            </a:br>
            <a:endParaRPr lang="en-US" sz="6600" dirty="0"/>
          </a:p>
        </p:txBody>
      </p:sp>
      <p:sp>
        <p:nvSpPr>
          <p:cNvPr id="3" name="Slide Number Placeholder 2">
            <a:extLst>
              <a:ext uri="{FF2B5EF4-FFF2-40B4-BE49-F238E27FC236}">
                <a16:creationId xmlns:a16="http://schemas.microsoft.com/office/drawing/2014/main" id="{012637AA-67B1-4BF7-897B-68003C157899}"/>
              </a:ext>
            </a:extLst>
          </p:cNvPr>
          <p:cNvSpPr>
            <a:spLocks noGrp="1"/>
          </p:cNvSpPr>
          <p:nvPr>
            <p:ph type="sldNum" sz="quarter" idx="10"/>
          </p:nvPr>
        </p:nvSpPr>
        <p:spPr/>
        <p:txBody>
          <a:bodyPr/>
          <a:lstStyle/>
          <a:p>
            <a:fld id="{FFDA1B5B-FD17-41CE-9005-2457CABDC26A}" type="slidenum">
              <a:rPr lang="en-US" smtClean="0"/>
              <a:t>25</a:t>
            </a:fld>
            <a:endParaRPr lang="en-US"/>
          </a:p>
        </p:txBody>
      </p:sp>
      <p:sp>
        <p:nvSpPr>
          <p:cNvPr id="4" name="Oval 3">
            <a:extLst>
              <a:ext uri="{FF2B5EF4-FFF2-40B4-BE49-F238E27FC236}">
                <a16:creationId xmlns:a16="http://schemas.microsoft.com/office/drawing/2014/main" id="{2976B456-98A2-4996-874D-518516704492}"/>
              </a:ext>
            </a:extLst>
          </p:cNvPr>
          <p:cNvSpPr/>
          <p:nvPr/>
        </p:nvSpPr>
        <p:spPr>
          <a:xfrm>
            <a:off x="9621078" y="1192696"/>
            <a:ext cx="1485365" cy="110856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dirty="0"/>
              <a:t>4</a:t>
            </a:r>
          </a:p>
        </p:txBody>
      </p:sp>
    </p:spTree>
    <p:extLst>
      <p:ext uri="{BB962C8B-B14F-4D97-AF65-F5344CB8AC3E}">
        <p14:creationId xmlns:p14="http://schemas.microsoft.com/office/powerpoint/2010/main" val="8406302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62027-E8B1-45C4-A7E2-75A0311AB188}"/>
              </a:ext>
            </a:extLst>
          </p:cNvPr>
          <p:cNvSpPr>
            <a:spLocks noGrp="1"/>
          </p:cNvSpPr>
          <p:nvPr>
            <p:ph type="title"/>
          </p:nvPr>
        </p:nvSpPr>
        <p:spPr/>
        <p:txBody>
          <a:bodyPr>
            <a:normAutofit fontScale="90000"/>
          </a:bodyPr>
          <a:lstStyle/>
          <a:p>
            <a:r>
              <a:rPr lang="en-US" dirty="0"/>
              <a:t>Web Storage ( inside your browser, not server)</a:t>
            </a:r>
          </a:p>
        </p:txBody>
      </p:sp>
      <p:sp>
        <p:nvSpPr>
          <p:cNvPr id="3" name="Slide Number Placeholder 2">
            <a:extLst>
              <a:ext uri="{FF2B5EF4-FFF2-40B4-BE49-F238E27FC236}">
                <a16:creationId xmlns:a16="http://schemas.microsoft.com/office/drawing/2014/main" id="{EAC82E21-9D1C-4357-9DCB-5849027DA85E}"/>
              </a:ext>
            </a:extLst>
          </p:cNvPr>
          <p:cNvSpPr>
            <a:spLocks noGrp="1"/>
          </p:cNvSpPr>
          <p:nvPr>
            <p:ph type="sldNum" sz="quarter" idx="10"/>
          </p:nvPr>
        </p:nvSpPr>
        <p:spPr/>
        <p:txBody>
          <a:bodyPr/>
          <a:lstStyle/>
          <a:p>
            <a:fld id="{FFDA1B5B-FD17-41CE-9005-2457CABDC26A}" type="slidenum">
              <a:rPr lang="en-US" smtClean="0"/>
              <a:t>26</a:t>
            </a:fld>
            <a:endParaRPr lang="en-US"/>
          </a:p>
        </p:txBody>
      </p:sp>
      <p:sp>
        <p:nvSpPr>
          <p:cNvPr id="4" name="Text Placeholder 3">
            <a:extLst>
              <a:ext uri="{FF2B5EF4-FFF2-40B4-BE49-F238E27FC236}">
                <a16:creationId xmlns:a16="http://schemas.microsoft.com/office/drawing/2014/main" id="{CECE7618-0CAA-47BB-B87A-33DA16DE780F}"/>
              </a:ext>
            </a:extLst>
          </p:cNvPr>
          <p:cNvSpPr>
            <a:spLocks noGrp="1"/>
          </p:cNvSpPr>
          <p:nvPr>
            <p:ph type="body" sz="quarter" idx="11"/>
          </p:nvPr>
        </p:nvSpPr>
        <p:spPr/>
        <p:txBody>
          <a:bodyPr/>
          <a:lstStyle/>
          <a:p>
            <a:pPr algn="l"/>
            <a:r>
              <a:rPr lang="en-CA" b="0" i="0" dirty="0">
                <a:solidFill>
                  <a:srgbClr val="000000"/>
                </a:solidFill>
                <a:effectLst/>
                <a:latin typeface="Verdana" panose="020B0604030504040204" pitchFamily="34" charset="0"/>
              </a:rPr>
              <a:t>We </a:t>
            </a:r>
            <a:r>
              <a:rPr lang="en-CA" dirty="0">
                <a:solidFill>
                  <a:srgbClr val="000000"/>
                </a:solidFill>
                <a:latin typeface="Verdana" panose="020B0604030504040204" pitchFamily="34" charset="0"/>
              </a:rPr>
              <a:t>want to </a:t>
            </a:r>
            <a:r>
              <a:rPr lang="en-CA" b="0" i="0" dirty="0">
                <a:solidFill>
                  <a:srgbClr val="000000"/>
                </a:solidFill>
                <a:effectLst/>
                <a:latin typeface="Verdana" panose="020B0604030504040204" pitchFamily="34" charset="0"/>
              </a:rPr>
              <a:t>store data locally within the user's browser.</a:t>
            </a:r>
          </a:p>
          <a:p>
            <a:pPr algn="l"/>
            <a:r>
              <a:rPr lang="en-CA" b="0" i="0" dirty="0">
                <a:solidFill>
                  <a:srgbClr val="000000"/>
                </a:solidFill>
                <a:effectLst/>
                <a:latin typeface="Verdana" panose="020B0604030504040204" pitchFamily="34" charset="0"/>
              </a:rPr>
              <a:t>Before HTML5, application data had to be stored in cookies.</a:t>
            </a:r>
          </a:p>
          <a:p>
            <a:pPr algn="l"/>
            <a:r>
              <a:rPr lang="en-CA" b="0" i="0" dirty="0">
                <a:solidFill>
                  <a:srgbClr val="000000"/>
                </a:solidFill>
                <a:effectLst/>
                <a:latin typeface="Verdana" panose="020B0604030504040204" pitchFamily="34" charset="0"/>
              </a:rPr>
              <a:t>Web storage is more secure, and large amounts of data can be stored locally</a:t>
            </a:r>
            <a:r>
              <a:rPr lang="en-CA" dirty="0">
                <a:solidFill>
                  <a:srgbClr val="000000"/>
                </a:solidFill>
                <a:latin typeface="Verdana" panose="020B0604030504040204" pitchFamily="34" charset="0"/>
              </a:rPr>
              <a:t> ( generally a couple of mega bytes, 5MB or up) </a:t>
            </a:r>
            <a:r>
              <a:rPr lang="en-CA" b="0" i="0" dirty="0">
                <a:solidFill>
                  <a:srgbClr val="000000"/>
                </a:solidFill>
                <a:effectLst/>
                <a:latin typeface="Verdana" panose="020B0604030504040204" pitchFamily="34" charset="0"/>
              </a:rPr>
              <a:t>.</a:t>
            </a:r>
          </a:p>
          <a:p>
            <a:pPr algn="l"/>
            <a:r>
              <a:rPr lang="en-CA" b="0" i="0" dirty="0">
                <a:solidFill>
                  <a:srgbClr val="FF0000"/>
                </a:solidFill>
                <a:effectLst/>
                <a:latin typeface="Verdana" panose="020B0604030504040204" pitchFamily="34" charset="0"/>
              </a:rPr>
              <a:t>Note tha</a:t>
            </a:r>
            <a:r>
              <a:rPr lang="en-CA" dirty="0">
                <a:solidFill>
                  <a:srgbClr val="FF0000"/>
                </a:solidFill>
                <a:latin typeface="Verdana" panose="020B0604030504040204" pitchFamily="34" charset="0"/>
              </a:rPr>
              <a:t>t w</a:t>
            </a:r>
            <a:r>
              <a:rPr lang="en-CA" b="0" i="0" dirty="0">
                <a:solidFill>
                  <a:srgbClr val="FF0000"/>
                </a:solidFill>
                <a:effectLst/>
                <a:latin typeface="Verdana" panose="020B0604030504040204" pitchFamily="34" charset="0"/>
              </a:rPr>
              <a:t>eb storage is per origin! That means per domain and protocol. </a:t>
            </a:r>
          </a:p>
          <a:p>
            <a:pPr algn="l"/>
            <a:r>
              <a:rPr lang="en-CA" b="0" i="0" dirty="0">
                <a:solidFill>
                  <a:srgbClr val="000000"/>
                </a:solidFill>
                <a:effectLst/>
                <a:latin typeface="Verdana" panose="020B0604030504040204" pitchFamily="34" charset="0"/>
              </a:rPr>
              <a:t>All pages, from same origin, can store and access the same data </a:t>
            </a:r>
            <a:r>
              <a:rPr lang="en-CA" b="1" i="0" dirty="0">
                <a:solidFill>
                  <a:srgbClr val="000000"/>
                </a:solidFill>
                <a:effectLst/>
                <a:latin typeface="Verdana" panose="020B0604030504040204" pitchFamily="34" charset="0"/>
              </a:rPr>
              <a:t>within same browser </a:t>
            </a:r>
            <a:r>
              <a:rPr lang="en-CA" b="0" i="0" dirty="0">
                <a:solidFill>
                  <a:srgbClr val="000000"/>
                </a:solidFill>
                <a:effectLst/>
                <a:latin typeface="Verdana" panose="020B0604030504040204" pitchFamily="34" charset="0"/>
              </a:rPr>
              <a:t>on your computer of course.</a:t>
            </a:r>
          </a:p>
          <a:p>
            <a:pPr algn="l"/>
            <a:r>
              <a:rPr lang="en-CA" dirty="0">
                <a:solidFill>
                  <a:srgbClr val="000000"/>
                </a:solidFill>
                <a:latin typeface="Verdana" panose="020B0604030504040204" pitchFamily="34" charset="0"/>
              </a:rPr>
              <a:t>It is a client thing (in your browser's local data) </a:t>
            </a:r>
            <a:endParaRPr lang="en-CA" b="0" i="0" dirty="0">
              <a:solidFill>
                <a:srgbClr val="000000"/>
              </a:solidFill>
              <a:effectLst/>
              <a:latin typeface="Verdana" panose="020B0604030504040204" pitchFamily="34" charset="0"/>
            </a:endParaRPr>
          </a:p>
          <a:p>
            <a:r>
              <a:rPr lang="en-CA" dirty="0"/>
              <a:t>Web storage is client-side storage, which means it resides in the local data storage of your browser</a:t>
            </a:r>
            <a:endParaRPr lang="en-US" dirty="0"/>
          </a:p>
        </p:txBody>
      </p:sp>
    </p:spTree>
    <p:extLst>
      <p:ext uri="{BB962C8B-B14F-4D97-AF65-F5344CB8AC3E}">
        <p14:creationId xmlns:p14="http://schemas.microsoft.com/office/powerpoint/2010/main" val="12812174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1060D-A511-47E9-A75F-CA57F7E0D5D9}"/>
              </a:ext>
            </a:extLst>
          </p:cNvPr>
          <p:cNvSpPr>
            <a:spLocks noGrp="1"/>
          </p:cNvSpPr>
          <p:nvPr>
            <p:ph type="title"/>
          </p:nvPr>
        </p:nvSpPr>
        <p:spPr/>
        <p:txBody>
          <a:bodyPr>
            <a:normAutofit fontScale="90000"/>
          </a:bodyPr>
          <a:lstStyle/>
          <a:p>
            <a:r>
              <a:rPr lang="en-US" dirty="0" err="1"/>
              <a:t>localStorage</a:t>
            </a:r>
            <a:r>
              <a:rPr lang="en-US" dirty="0"/>
              <a:t> vs </a:t>
            </a:r>
            <a:r>
              <a:rPr lang="en-US" dirty="0" err="1"/>
              <a:t>sessionStorage</a:t>
            </a:r>
            <a:endParaRPr lang="en-US" dirty="0"/>
          </a:p>
        </p:txBody>
      </p:sp>
      <p:sp>
        <p:nvSpPr>
          <p:cNvPr id="3" name="Slide Number Placeholder 2">
            <a:extLst>
              <a:ext uri="{FF2B5EF4-FFF2-40B4-BE49-F238E27FC236}">
                <a16:creationId xmlns:a16="http://schemas.microsoft.com/office/drawing/2014/main" id="{FBB842C3-B8F3-462D-B6F4-F0E75DBCFAE1}"/>
              </a:ext>
            </a:extLst>
          </p:cNvPr>
          <p:cNvSpPr>
            <a:spLocks noGrp="1"/>
          </p:cNvSpPr>
          <p:nvPr>
            <p:ph type="sldNum" sz="quarter" idx="10"/>
          </p:nvPr>
        </p:nvSpPr>
        <p:spPr/>
        <p:txBody>
          <a:bodyPr/>
          <a:lstStyle/>
          <a:p>
            <a:fld id="{FFDA1B5B-FD17-41CE-9005-2457CABDC26A}" type="slidenum">
              <a:rPr lang="en-US" smtClean="0"/>
              <a:t>27</a:t>
            </a:fld>
            <a:endParaRPr lang="en-US"/>
          </a:p>
        </p:txBody>
      </p:sp>
      <p:sp>
        <p:nvSpPr>
          <p:cNvPr id="4" name="Text Placeholder 3">
            <a:extLst>
              <a:ext uri="{FF2B5EF4-FFF2-40B4-BE49-F238E27FC236}">
                <a16:creationId xmlns:a16="http://schemas.microsoft.com/office/drawing/2014/main" id="{50B2E311-12BD-45E6-9C10-00DF3D737BB4}"/>
              </a:ext>
            </a:extLst>
          </p:cNvPr>
          <p:cNvSpPr>
            <a:spLocks noGrp="1"/>
          </p:cNvSpPr>
          <p:nvPr>
            <p:ph type="body" sz="quarter" idx="11"/>
          </p:nvPr>
        </p:nvSpPr>
        <p:spPr/>
        <p:txBody>
          <a:bodyPr/>
          <a:lstStyle/>
          <a:p>
            <a:r>
              <a:rPr lang="en-US" dirty="0"/>
              <a:t>There are two HTML web storage objects for storing data on the client:</a:t>
            </a:r>
          </a:p>
          <a:p>
            <a:endParaRPr lang="en-US" dirty="0"/>
          </a:p>
          <a:p>
            <a:r>
              <a:rPr lang="en-US" dirty="0" err="1"/>
              <a:t>window.</a:t>
            </a:r>
            <a:r>
              <a:rPr lang="en-US" u="sng" dirty="0" err="1">
                <a:solidFill>
                  <a:schemeClr val="accent1"/>
                </a:solidFill>
              </a:rPr>
              <a:t>local</a:t>
            </a:r>
            <a:r>
              <a:rPr lang="en-US" u="sng" dirty="0" err="1"/>
              <a:t>Storage</a:t>
            </a:r>
            <a:r>
              <a:rPr lang="en-US" dirty="0"/>
              <a:t> - stores data with </a:t>
            </a:r>
            <a:r>
              <a:rPr lang="en-US" b="1" dirty="0"/>
              <a:t>no expiration </a:t>
            </a:r>
            <a:r>
              <a:rPr lang="en-US" dirty="0"/>
              <a:t>date</a:t>
            </a:r>
          </a:p>
          <a:p>
            <a:r>
              <a:rPr lang="en-US" dirty="0" err="1"/>
              <a:t>window.</a:t>
            </a:r>
            <a:r>
              <a:rPr lang="en-US" u="sng" dirty="0" err="1">
                <a:solidFill>
                  <a:schemeClr val="accent6"/>
                </a:solidFill>
              </a:rPr>
              <a:t>session</a:t>
            </a:r>
            <a:r>
              <a:rPr lang="en-US" u="sng" dirty="0" err="1"/>
              <a:t>Storage</a:t>
            </a:r>
            <a:r>
              <a:rPr lang="en-US" dirty="0"/>
              <a:t> - stores data for one session (data is lost when the browser tab is closed)</a:t>
            </a:r>
          </a:p>
          <a:p>
            <a:endParaRPr lang="en-US" dirty="0"/>
          </a:p>
          <a:p>
            <a:r>
              <a:rPr lang="en-US" dirty="0"/>
              <a:t>Since it is a new thing, check browser support for </a:t>
            </a:r>
            <a:r>
              <a:rPr lang="en-US" dirty="0" err="1"/>
              <a:t>localStorage</a:t>
            </a:r>
            <a:r>
              <a:rPr lang="en-US" dirty="0"/>
              <a:t> and </a:t>
            </a:r>
            <a:r>
              <a:rPr lang="en-US" dirty="0" err="1"/>
              <a:t>sessionStorage</a:t>
            </a:r>
            <a:r>
              <a:rPr lang="en-US" dirty="0"/>
              <a:t> before using web storage, :</a:t>
            </a:r>
          </a:p>
          <a:p>
            <a:r>
              <a:rPr lang="en-US" b="0" i="0" dirty="0">
                <a:solidFill>
                  <a:srgbClr val="0000CD"/>
                </a:solidFill>
                <a:effectLst/>
                <a:latin typeface="Consolas" panose="020B0609020204030204" pitchFamily="49" charset="0"/>
              </a:rPr>
              <a:t>if</a:t>
            </a: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typeof</a:t>
            </a:r>
            <a:r>
              <a:rPr lang="en-US" b="0" i="0" dirty="0">
                <a:solidFill>
                  <a:srgbClr val="000000"/>
                </a:solidFill>
                <a:effectLst/>
                <a:latin typeface="Consolas" panose="020B0609020204030204" pitchFamily="49" charset="0"/>
              </a:rPr>
              <a:t>(Storage) !== </a:t>
            </a:r>
            <a:r>
              <a:rPr lang="en-US" b="0" i="0" dirty="0">
                <a:solidFill>
                  <a:srgbClr val="A52A2A"/>
                </a:solidFill>
                <a:effectLst/>
                <a:latin typeface="Consolas" panose="020B0609020204030204" pitchFamily="49" charset="0"/>
              </a:rPr>
              <a:t>"undefined"</a:t>
            </a:r>
            <a:r>
              <a:rPr lang="en-US" b="0" i="0" dirty="0">
                <a:solidFill>
                  <a:srgbClr val="000000"/>
                </a:solidFill>
                <a:effectLst/>
                <a:latin typeface="Consolas" panose="020B0609020204030204" pitchFamily="49" charset="0"/>
              </a:rPr>
              <a:t>) {</a:t>
            </a:r>
            <a:br>
              <a:rPr lang="en-US" dirty="0"/>
            </a:br>
            <a:r>
              <a:rPr lang="en-US" b="0" i="0" dirty="0">
                <a:solidFill>
                  <a:srgbClr val="000000"/>
                </a:solidFill>
                <a:effectLst/>
                <a:latin typeface="Consolas" panose="020B0609020204030204" pitchFamily="49" charset="0"/>
              </a:rPr>
              <a:t>  </a:t>
            </a:r>
            <a:r>
              <a:rPr lang="en-US" b="0" i="0" dirty="0">
                <a:solidFill>
                  <a:srgbClr val="008000"/>
                </a:solidFill>
                <a:effectLst/>
                <a:latin typeface="Consolas" panose="020B0609020204030204" pitchFamily="49" charset="0"/>
              </a:rPr>
              <a:t>// </a:t>
            </a:r>
            <a:r>
              <a:rPr lang="en-US" b="0" i="1" dirty="0">
                <a:solidFill>
                  <a:srgbClr val="008000"/>
                </a:solidFill>
                <a:effectLst/>
                <a:latin typeface="Consolas" panose="020B0609020204030204" pitchFamily="49" charset="0"/>
              </a:rPr>
              <a:t>Code for </a:t>
            </a:r>
            <a:r>
              <a:rPr lang="en-US" b="0" i="1" dirty="0" err="1">
                <a:solidFill>
                  <a:srgbClr val="008000"/>
                </a:solidFill>
                <a:effectLst/>
                <a:latin typeface="Consolas" panose="020B0609020204030204" pitchFamily="49" charset="0"/>
              </a:rPr>
              <a:t>sessionStorage</a:t>
            </a:r>
            <a:r>
              <a:rPr lang="en-US" b="0" i="1" dirty="0">
                <a:solidFill>
                  <a:srgbClr val="008000"/>
                </a:solidFill>
                <a:effectLst/>
                <a:latin typeface="Consolas" panose="020B0609020204030204" pitchFamily="49" charset="0"/>
              </a:rPr>
              <a:t>/ </a:t>
            </a:r>
            <a:r>
              <a:rPr lang="en-US" b="0" i="1" dirty="0" err="1">
                <a:solidFill>
                  <a:srgbClr val="008000"/>
                </a:solidFill>
                <a:effectLst/>
                <a:latin typeface="Consolas" panose="020B0609020204030204" pitchFamily="49" charset="0"/>
              </a:rPr>
              <a:t>localStorage</a:t>
            </a:r>
            <a:r>
              <a:rPr lang="en-US" b="0" i="1" dirty="0">
                <a:solidFill>
                  <a:srgbClr val="008000"/>
                </a:solidFill>
                <a:effectLst/>
                <a:latin typeface="Consolas" panose="020B0609020204030204" pitchFamily="49" charset="0"/>
              </a:rPr>
              <a:t>.</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 </a:t>
            </a:r>
            <a:r>
              <a:rPr lang="en-US" b="0" i="0" dirty="0">
                <a:solidFill>
                  <a:srgbClr val="0000CD"/>
                </a:solidFill>
                <a:effectLst/>
                <a:latin typeface="Consolas" panose="020B0609020204030204" pitchFamily="49" charset="0"/>
              </a:rPr>
              <a:t>else</a:t>
            </a:r>
            <a:r>
              <a:rPr lang="en-US" b="0" i="0" dirty="0">
                <a:solidFill>
                  <a:srgbClr val="000000"/>
                </a:solidFill>
                <a:effectLst/>
                <a:latin typeface="Consolas" panose="020B0609020204030204" pitchFamily="49" charset="0"/>
              </a:rPr>
              <a:t> {</a:t>
            </a:r>
            <a:br>
              <a:rPr lang="en-US" dirty="0"/>
            </a:br>
            <a:r>
              <a:rPr lang="en-US" b="0" i="0" dirty="0">
                <a:solidFill>
                  <a:srgbClr val="000000"/>
                </a:solidFill>
                <a:effectLst/>
                <a:latin typeface="Consolas" panose="020B0609020204030204" pitchFamily="49" charset="0"/>
              </a:rPr>
              <a:t>  </a:t>
            </a:r>
            <a:r>
              <a:rPr lang="en-US" b="0" i="0" dirty="0">
                <a:solidFill>
                  <a:srgbClr val="008000"/>
                </a:solidFill>
                <a:effectLst/>
                <a:latin typeface="Consolas" panose="020B0609020204030204" pitchFamily="49" charset="0"/>
              </a:rPr>
              <a:t>// Web Storage is not supported in this browser..</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dirty="0"/>
          </a:p>
        </p:txBody>
      </p:sp>
    </p:spTree>
    <p:extLst>
      <p:ext uri="{BB962C8B-B14F-4D97-AF65-F5344CB8AC3E}">
        <p14:creationId xmlns:p14="http://schemas.microsoft.com/office/powerpoint/2010/main" val="2958058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0C52E-2498-4799-A2F0-E26FB709E719}"/>
              </a:ext>
            </a:extLst>
          </p:cNvPr>
          <p:cNvSpPr>
            <a:spLocks noGrp="1"/>
          </p:cNvSpPr>
          <p:nvPr>
            <p:ph type="title"/>
          </p:nvPr>
        </p:nvSpPr>
        <p:spPr/>
        <p:txBody>
          <a:bodyPr>
            <a:normAutofit fontScale="90000"/>
          </a:bodyPr>
          <a:lstStyle/>
          <a:p>
            <a:r>
              <a:rPr lang="en-US" dirty="0"/>
              <a:t>The </a:t>
            </a:r>
            <a:r>
              <a:rPr lang="en-US" dirty="0" err="1"/>
              <a:t>localStorage</a:t>
            </a:r>
            <a:r>
              <a:rPr lang="en-US" dirty="0"/>
              <a:t> Object</a:t>
            </a:r>
          </a:p>
        </p:txBody>
      </p:sp>
      <p:sp>
        <p:nvSpPr>
          <p:cNvPr id="3" name="Slide Number Placeholder 2">
            <a:extLst>
              <a:ext uri="{FF2B5EF4-FFF2-40B4-BE49-F238E27FC236}">
                <a16:creationId xmlns:a16="http://schemas.microsoft.com/office/drawing/2014/main" id="{1C448DC9-4C3D-494B-B303-E860425709D0}"/>
              </a:ext>
            </a:extLst>
          </p:cNvPr>
          <p:cNvSpPr>
            <a:spLocks noGrp="1"/>
          </p:cNvSpPr>
          <p:nvPr>
            <p:ph type="sldNum" sz="quarter" idx="10"/>
          </p:nvPr>
        </p:nvSpPr>
        <p:spPr/>
        <p:txBody>
          <a:bodyPr/>
          <a:lstStyle/>
          <a:p>
            <a:fld id="{FFDA1B5B-FD17-41CE-9005-2457CABDC26A}" type="slidenum">
              <a:rPr lang="en-US" smtClean="0"/>
              <a:t>28</a:t>
            </a:fld>
            <a:endParaRPr lang="en-US"/>
          </a:p>
        </p:txBody>
      </p:sp>
      <p:sp>
        <p:nvSpPr>
          <p:cNvPr id="4" name="Text Placeholder 3">
            <a:extLst>
              <a:ext uri="{FF2B5EF4-FFF2-40B4-BE49-F238E27FC236}">
                <a16:creationId xmlns:a16="http://schemas.microsoft.com/office/drawing/2014/main" id="{BD6096CA-C260-46F2-B8E6-8D35FC479C29}"/>
              </a:ext>
            </a:extLst>
          </p:cNvPr>
          <p:cNvSpPr>
            <a:spLocks noGrp="1"/>
          </p:cNvSpPr>
          <p:nvPr>
            <p:ph type="body" sz="quarter" idx="11"/>
          </p:nvPr>
        </p:nvSpPr>
        <p:spPr/>
        <p:txBody>
          <a:bodyPr/>
          <a:lstStyle/>
          <a:p>
            <a:r>
              <a:rPr lang="en-CA" b="0" i="0" dirty="0">
                <a:solidFill>
                  <a:srgbClr val="000000"/>
                </a:solidFill>
                <a:effectLst/>
                <a:latin typeface="Verdana" panose="020B0604030504040204" pitchFamily="34" charset="0"/>
              </a:rPr>
              <a:t>no expiration date. </a:t>
            </a:r>
          </a:p>
          <a:p>
            <a:r>
              <a:rPr lang="en-CA" b="0" i="0" dirty="0">
                <a:solidFill>
                  <a:srgbClr val="000000"/>
                </a:solidFill>
                <a:effectLst/>
                <a:latin typeface="Verdana" panose="020B0604030504040204" pitchFamily="34" charset="0"/>
              </a:rPr>
              <a:t>The data will not be deleted when the browser is closed</a:t>
            </a:r>
            <a:endParaRPr lang="en-CA" dirty="0">
              <a:solidFill>
                <a:srgbClr val="000000"/>
              </a:solidFill>
              <a:latin typeface="Verdana" panose="020B0604030504040204" pitchFamily="34" charset="0"/>
            </a:endParaRPr>
          </a:p>
          <a:p>
            <a:r>
              <a:rPr lang="en-CA" b="0" i="0" dirty="0">
                <a:solidFill>
                  <a:srgbClr val="000000"/>
                </a:solidFill>
                <a:effectLst/>
                <a:latin typeface="Verdana" panose="020B0604030504040204" pitchFamily="34" charset="0"/>
              </a:rPr>
              <a:t>will be available the next day, week, or year.</a:t>
            </a:r>
          </a:p>
          <a:p>
            <a:r>
              <a:rPr lang="en-CA" dirty="0">
                <a:solidFill>
                  <a:srgbClr val="000000"/>
                </a:solidFill>
                <a:latin typeface="Verdana" panose="020B0604030504040204" pitchFamily="34" charset="0"/>
              </a:rPr>
              <a:t>Example</a:t>
            </a:r>
          </a:p>
          <a:p>
            <a:r>
              <a:rPr lang="en-US" b="0" i="0" dirty="0">
                <a:solidFill>
                  <a:srgbClr val="008000"/>
                </a:solidFill>
                <a:effectLst/>
                <a:latin typeface="Consolas" panose="020B0609020204030204" pitchFamily="49" charset="0"/>
              </a:rPr>
              <a:t>// Store</a:t>
            </a:r>
            <a:br>
              <a:rPr lang="en-US" b="0" i="0" dirty="0">
                <a:solidFill>
                  <a:srgbClr val="008000"/>
                </a:solidFill>
                <a:effectLst/>
                <a:latin typeface="Consolas" panose="020B0609020204030204" pitchFamily="49" charset="0"/>
              </a:rPr>
            </a:br>
            <a:r>
              <a:rPr lang="en-US" b="0" i="0" dirty="0" err="1">
                <a:solidFill>
                  <a:srgbClr val="000000"/>
                </a:solidFill>
                <a:effectLst/>
                <a:latin typeface="Consolas" panose="020B0609020204030204" pitchFamily="49" charset="0"/>
              </a:rPr>
              <a:t>localStorage.setItem</a:t>
            </a:r>
            <a:r>
              <a:rPr lang="en-US" b="0" i="0" dirty="0">
                <a:solidFill>
                  <a:srgbClr val="000000"/>
                </a:solidFill>
                <a:effectLst/>
                <a:latin typeface="Consolas" panose="020B0609020204030204" pitchFamily="49" charset="0"/>
              </a:rPr>
              <a: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myKey</a:t>
            </a:r>
            <a:r>
              <a:rPr lang="en-US" b="0" i="0" dirty="0">
                <a:solidFill>
                  <a:srgbClr val="A52A2A"/>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A52A2A"/>
                </a:solidFill>
                <a:effectLst/>
                <a:latin typeface="Consolas" panose="020B0609020204030204" pitchFamily="49" charset="0"/>
              </a:rPr>
              <a:t>"Monday and Friday"</a:t>
            </a:r>
            <a:r>
              <a:rPr lang="en-US" b="0" i="0" dirty="0">
                <a:solidFill>
                  <a:srgbClr val="000000"/>
                </a:solidFill>
                <a:effectLst/>
                <a:latin typeface="Consolas" panose="020B0609020204030204" pitchFamily="49" charset="0"/>
              </a:rPr>
              <a:t>);</a:t>
            </a:r>
          </a:p>
          <a:p>
            <a:endParaRPr lang="en-US" dirty="0">
              <a:solidFill>
                <a:srgbClr val="000000"/>
              </a:solidFill>
              <a:latin typeface="Consolas" panose="020B0609020204030204" pitchFamily="49" charset="0"/>
            </a:endParaRPr>
          </a:p>
          <a:p>
            <a:r>
              <a:rPr lang="en-US" b="0" i="0" dirty="0">
                <a:solidFill>
                  <a:srgbClr val="008000"/>
                </a:solidFill>
                <a:effectLst/>
                <a:latin typeface="Consolas" panose="020B0609020204030204" pitchFamily="49" charset="0"/>
              </a:rPr>
              <a:t>// Retrieve</a:t>
            </a:r>
            <a:br>
              <a:rPr lang="en-US" b="0" i="0" dirty="0">
                <a:solidFill>
                  <a:srgbClr val="008000"/>
                </a:solidFill>
                <a:effectLst/>
                <a:latin typeface="Consolas" panose="020B0609020204030204" pitchFamily="49" charset="0"/>
              </a:rPr>
            </a:br>
            <a:r>
              <a:rPr lang="en-US" b="0" i="0" dirty="0" err="1">
                <a:solidFill>
                  <a:srgbClr val="000000"/>
                </a:solidFill>
                <a:effectLst/>
                <a:latin typeface="Consolas" panose="020B0609020204030204" pitchFamily="49" charset="0"/>
              </a:rPr>
              <a:t>localStorage.getItem</a:t>
            </a:r>
            <a:r>
              <a:rPr lang="en-US" b="0" i="0" dirty="0">
                <a:solidFill>
                  <a:srgbClr val="000000"/>
                </a:solidFill>
                <a:effectLst/>
                <a:latin typeface="Consolas" panose="020B0609020204030204" pitchFamily="49" charset="0"/>
              </a:rPr>
              <a:t>(</a:t>
            </a:r>
            <a:r>
              <a:rPr lang="en-US" b="0" i="0" dirty="0">
                <a:solidFill>
                  <a:srgbClr val="A52A2A"/>
                </a:solidFill>
                <a:effectLst/>
                <a:latin typeface="Consolas" panose="020B0609020204030204" pitchFamily="49" charset="0"/>
              </a:rPr>
              <a:t>"</a:t>
            </a:r>
            <a:r>
              <a:rPr lang="en-US" b="0" i="0" dirty="0" err="1">
                <a:solidFill>
                  <a:srgbClr val="A52A2A"/>
                </a:solidFill>
                <a:effectLst/>
                <a:latin typeface="Consolas" panose="020B0609020204030204" pitchFamily="49" charset="0"/>
              </a:rPr>
              <a:t>myKey</a:t>
            </a:r>
            <a:r>
              <a:rPr lang="en-US" b="0" i="0" dirty="0">
                <a:solidFill>
                  <a:srgbClr val="A52A2A"/>
                </a:solidFill>
                <a:effectLst/>
                <a:latin typeface="Consolas" panose="020B0609020204030204" pitchFamily="49" charset="0"/>
              </a:rPr>
              <a:t>"</a:t>
            </a:r>
            <a:r>
              <a:rPr lang="en-US" b="0" i="0" dirty="0">
                <a:solidFill>
                  <a:srgbClr val="000000"/>
                </a:solidFill>
                <a:effectLst/>
                <a:latin typeface="Consolas" panose="020B0609020204030204" pitchFamily="49" charset="0"/>
              </a:rPr>
              <a:t>);</a:t>
            </a:r>
          </a:p>
          <a:p>
            <a:pPr algn="l"/>
            <a:r>
              <a:rPr lang="en-CA" b="1" i="0" dirty="0">
                <a:solidFill>
                  <a:srgbClr val="000000"/>
                </a:solidFill>
                <a:effectLst/>
                <a:latin typeface="Verdana" panose="020B0604030504040204" pitchFamily="34" charset="0"/>
              </a:rPr>
              <a:t>Note:</a:t>
            </a:r>
            <a:r>
              <a:rPr lang="en-CA" b="0" i="0" dirty="0">
                <a:solidFill>
                  <a:srgbClr val="000000"/>
                </a:solidFill>
                <a:effectLst/>
                <a:latin typeface="Verdana" panose="020B0604030504040204" pitchFamily="34" charset="0"/>
              </a:rPr>
              <a:t> Name/value pairs are always stored as strings. Remember to convert them to another format when needed!</a:t>
            </a:r>
          </a:p>
          <a:p>
            <a:br>
              <a:rPr lang="en-CA" dirty="0"/>
            </a:br>
            <a:endParaRPr lang="en-US" dirty="0"/>
          </a:p>
        </p:txBody>
      </p:sp>
    </p:spTree>
    <p:extLst>
      <p:ext uri="{BB962C8B-B14F-4D97-AF65-F5344CB8AC3E}">
        <p14:creationId xmlns:p14="http://schemas.microsoft.com/office/powerpoint/2010/main" val="731896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A5DFD-34AC-4D0C-9AE0-3720FB74A5F7}"/>
              </a:ext>
            </a:extLst>
          </p:cNvPr>
          <p:cNvSpPr>
            <a:spLocks noGrp="1"/>
          </p:cNvSpPr>
          <p:nvPr>
            <p:ph type="title"/>
          </p:nvPr>
        </p:nvSpPr>
        <p:spPr>
          <a:xfrm>
            <a:off x="824024" y="2385054"/>
            <a:ext cx="7766303" cy="483287"/>
          </a:xfrm>
        </p:spPr>
        <p:txBody>
          <a:bodyPr>
            <a:normAutofit fontScale="90000"/>
          </a:bodyPr>
          <a:lstStyle/>
          <a:p>
            <a:r>
              <a:rPr lang="en-US" dirty="0"/>
              <a:t>Example</a:t>
            </a:r>
          </a:p>
        </p:txBody>
      </p:sp>
      <p:sp>
        <p:nvSpPr>
          <p:cNvPr id="3" name="Slide Number Placeholder 2">
            <a:extLst>
              <a:ext uri="{FF2B5EF4-FFF2-40B4-BE49-F238E27FC236}">
                <a16:creationId xmlns:a16="http://schemas.microsoft.com/office/drawing/2014/main" id="{3DDD534C-368B-4089-ABF0-2A0754DD1902}"/>
              </a:ext>
            </a:extLst>
          </p:cNvPr>
          <p:cNvSpPr>
            <a:spLocks noGrp="1"/>
          </p:cNvSpPr>
          <p:nvPr>
            <p:ph type="sldNum" sz="quarter" idx="10"/>
          </p:nvPr>
        </p:nvSpPr>
        <p:spPr/>
        <p:txBody>
          <a:bodyPr/>
          <a:lstStyle/>
          <a:p>
            <a:fld id="{FFDA1B5B-FD17-41CE-9005-2457CABDC26A}" type="slidenum">
              <a:rPr lang="en-US" smtClean="0"/>
              <a:t>29</a:t>
            </a:fld>
            <a:endParaRPr lang="en-US"/>
          </a:p>
        </p:txBody>
      </p:sp>
      <p:sp>
        <p:nvSpPr>
          <p:cNvPr id="4" name="Text Placeholder 3">
            <a:extLst>
              <a:ext uri="{FF2B5EF4-FFF2-40B4-BE49-F238E27FC236}">
                <a16:creationId xmlns:a16="http://schemas.microsoft.com/office/drawing/2014/main" id="{28122A10-2F36-4E91-9CC3-F48CCAFD62AA}"/>
              </a:ext>
            </a:extLst>
          </p:cNvPr>
          <p:cNvSpPr>
            <a:spLocks noGrp="1"/>
          </p:cNvSpPr>
          <p:nvPr>
            <p:ph type="body" sz="quarter" idx="11"/>
          </p:nvPr>
        </p:nvSpPr>
        <p:spPr>
          <a:xfrm>
            <a:off x="0" y="3204855"/>
            <a:ext cx="11928836" cy="1098698"/>
          </a:xfrm>
        </p:spPr>
        <p:txBody>
          <a:bodyPr/>
          <a:lstStyle/>
          <a:p>
            <a:r>
              <a:rPr lang="en-US" dirty="0"/>
              <a:t>You write stuff in a browser tab ( open writer.html)</a:t>
            </a:r>
          </a:p>
          <a:p>
            <a:r>
              <a:rPr lang="en-US" dirty="0"/>
              <a:t>reader.html reads the same stuff written(stored) by writer.html next day or same time in different tab</a:t>
            </a:r>
          </a:p>
        </p:txBody>
      </p:sp>
    </p:spTree>
    <p:extLst>
      <p:ext uri="{BB962C8B-B14F-4D97-AF65-F5344CB8AC3E}">
        <p14:creationId xmlns:p14="http://schemas.microsoft.com/office/powerpoint/2010/main" val="2492102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1DB87-C5E8-49EF-B659-E62FE5BCAA8E}"/>
              </a:ext>
            </a:extLst>
          </p:cNvPr>
          <p:cNvSpPr>
            <a:spLocks noGrp="1"/>
          </p:cNvSpPr>
          <p:nvPr>
            <p:ph type="title"/>
          </p:nvPr>
        </p:nvSpPr>
        <p:spPr/>
        <p:txBody>
          <a:bodyPr>
            <a:normAutofit fontScale="90000"/>
          </a:bodyPr>
          <a:lstStyle/>
          <a:p>
            <a:r>
              <a:rPr lang="en-US" dirty="0"/>
              <a:t>The </a:t>
            </a:r>
            <a:r>
              <a:rPr lang="en-US" dirty="0" err="1"/>
              <a:t>localStorage</a:t>
            </a:r>
            <a:r>
              <a:rPr lang="en-US" dirty="0"/>
              <a:t> Object Example/ writer.html </a:t>
            </a:r>
          </a:p>
        </p:txBody>
      </p:sp>
      <p:sp>
        <p:nvSpPr>
          <p:cNvPr id="3" name="Slide Number Placeholder 2">
            <a:extLst>
              <a:ext uri="{FF2B5EF4-FFF2-40B4-BE49-F238E27FC236}">
                <a16:creationId xmlns:a16="http://schemas.microsoft.com/office/drawing/2014/main" id="{D9B91161-6D37-4619-BE10-1B8274B85054}"/>
              </a:ext>
            </a:extLst>
          </p:cNvPr>
          <p:cNvSpPr>
            <a:spLocks noGrp="1"/>
          </p:cNvSpPr>
          <p:nvPr>
            <p:ph type="sldNum" sz="quarter" idx="10"/>
          </p:nvPr>
        </p:nvSpPr>
        <p:spPr/>
        <p:txBody>
          <a:bodyPr/>
          <a:lstStyle/>
          <a:p>
            <a:fld id="{FFDA1B5B-FD17-41CE-9005-2457CABDC26A}" type="slidenum">
              <a:rPr lang="en-US" smtClean="0"/>
              <a:t>30</a:t>
            </a:fld>
            <a:endParaRPr lang="en-US"/>
          </a:p>
        </p:txBody>
      </p:sp>
      <p:sp>
        <p:nvSpPr>
          <p:cNvPr id="4" name="Text Placeholder 3">
            <a:extLst>
              <a:ext uri="{FF2B5EF4-FFF2-40B4-BE49-F238E27FC236}">
                <a16:creationId xmlns:a16="http://schemas.microsoft.com/office/drawing/2014/main" id="{41331B95-B8A4-4EEA-97D5-17D4F6EB0614}"/>
              </a:ext>
            </a:extLst>
          </p:cNvPr>
          <p:cNvSpPr>
            <a:spLocks noGrp="1"/>
          </p:cNvSpPr>
          <p:nvPr>
            <p:ph type="body" sz="quarter" idx="11"/>
          </p:nvPr>
        </p:nvSpPr>
        <p:spPr/>
        <p:txBody>
          <a:bodyPr/>
          <a:lstStyle/>
          <a:p>
            <a:pPr marL="0" indent="0">
              <a:buNone/>
            </a:pPr>
            <a:r>
              <a:rPr lang="en-US" sz="1800" b="0" dirty="0">
                <a:effectLst/>
                <a:latin typeface="Consolas" panose="020B0609020204030204" pitchFamily="49" charset="0"/>
              </a:rPr>
              <a:t>This code snippet writes something onto local storage </a:t>
            </a:r>
          </a:p>
          <a:p>
            <a:pPr marL="0" indent="0">
              <a:buNone/>
            </a:pPr>
            <a:r>
              <a:rPr lang="en-US" sz="1800" b="0" dirty="0">
                <a:solidFill>
                  <a:srgbClr val="800000"/>
                </a:solidFill>
                <a:effectLst/>
                <a:latin typeface="Consolas" panose="020B0609020204030204" pitchFamily="49" charset="0"/>
              </a:rPr>
              <a:t>&lt;html</a:t>
            </a:r>
            <a:r>
              <a:rPr lang="en-US" sz="1800" b="0" dirty="0">
                <a:solidFill>
                  <a:srgbClr val="000000"/>
                </a:solidFill>
                <a:effectLst/>
                <a:latin typeface="Consolas" panose="020B0609020204030204" pitchFamily="49" charset="0"/>
              </a:rPr>
              <a:t> </a:t>
            </a:r>
            <a:r>
              <a:rPr lang="en-US" sz="1800" b="0" dirty="0">
                <a:solidFill>
                  <a:srgbClr val="FF0000"/>
                </a:solidFill>
                <a:effectLst/>
                <a:latin typeface="Consolas" panose="020B0609020204030204" pitchFamily="49" charset="0"/>
              </a:rPr>
              <a:t>lang</a:t>
            </a:r>
            <a:r>
              <a:rPr lang="en-US" sz="1800" b="0" dirty="0">
                <a:solidFill>
                  <a:srgbClr val="000000"/>
                </a:solidFill>
                <a:effectLst/>
                <a:latin typeface="Consolas" panose="020B0609020204030204" pitchFamily="49" charset="0"/>
              </a:rPr>
              <a:t>=</a:t>
            </a:r>
            <a:r>
              <a:rPr lang="en-US" sz="1800" b="0" dirty="0">
                <a:solidFill>
                  <a:srgbClr val="0000FF"/>
                </a:solidFill>
                <a:effectLst/>
                <a:latin typeface="Consolas" panose="020B0609020204030204" pitchFamily="49" charset="0"/>
              </a:rPr>
              <a:t>"</a:t>
            </a:r>
            <a:r>
              <a:rPr lang="en-US" sz="1800" b="0" dirty="0" err="1">
                <a:solidFill>
                  <a:srgbClr val="0000FF"/>
                </a:solidFill>
                <a:effectLst/>
                <a:latin typeface="Consolas" panose="020B0609020204030204" pitchFamily="49" charset="0"/>
              </a:rPr>
              <a:t>en</a:t>
            </a:r>
            <a:r>
              <a:rPr lang="en-US" sz="1800" b="0" dirty="0">
                <a:solidFill>
                  <a:srgbClr val="0000FF"/>
                </a:solidFill>
                <a:effectLst/>
                <a:latin typeface="Consolas" panose="020B0609020204030204" pitchFamily="49" charset="0"/>
              </a:rPr>
              <a:t>"</a:t>
            </a:r>
            <a:r>
              <a:rPr lang="en-US" sz="1800" b="0" dirty="0">
                <a:solidFill>
                  <a:srgbClr val="800000"/>
                </a:solidFill>
                <a:effectLst/>
                <a:latin typeface="Consolas" panose="020B0609020204030204" pitchFamily="49" charset="0"/>
              </a:rPr>
              <a: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800000"/>
                </a:solidFill>
                <a:effectLst/>
                <a:latin typeface="Consolas" panose="020B0609020204030204" pitchFamily="49" charset="0"/>
              </a:rPr>
              <a:t>&lt;body&gt;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&lt;script&gt;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msg_notSupported</a:t>
            </a:r>
            <a:r>
              <a:rPr lang="en-US" sz="1800" b="0" dirty="0">
                <a:solidFill>
                  <a:srgbClr val="000000"/>
                </a:solidFill>
                <a:effectLst/>
                <a:latin typeface="Consolas" panose="020B0609020204030204" pitchFamily="49" charset="0"/>
              </a:rPr>
              <a:t> = </a:t>
            </a:r>
            <a:r>
              <a:rPr lang="en-US" sz="1800" b="0" dirty="0">
                <a:solidFill>
                  <a:srgbClr val="A31515"/>
                </a:solidFill>
                <a:effectLst/>
                <a:latin typeface="Consolas" panose="020B0609020204030204" pitchFamily="49" charset="0"/>
              </a:rPr>
              <a:t>"Sorry web Storage is not supported!"</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msg_key</a:t>
            </a:r>
            <a:r>
              <a:rPr lang="en-US" sz="1800" b="0" dirty="0">
                <a:solidFill>
                  <a:srgbClr val="000000"/>
                </a:solidFill>
                <a:effectLst/>
                <a:latin typeface="Consolas" panose="020B0609020204030204" pitchFamily="49" charset="0"/>
              </a:rPr>
              <a:t> = </a:t>
            </a:r>
            <a:r>
              <a:rPr lang="en-US" sz="1800" b="0" dirty="0">
                <a:solidFill>
                  <a:srgbClr val="A31515"/>
                </a:solidFill>
                <a:effectLst/>
                <a:latin typeface="Consolas" panose="020B0609020204030204" pitchFamily="49" charset="0"/>
              </a:rPr>
              <a:t>"hidden secret"</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msg_written</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"A piece of data was written in local storage for the key:"</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typeof</a:t>
            </a:r>
            <a:r>
              <a:rPr lang="en-US" sz="1800" b="0" dirty="0">
                <a:solidFill>
                  <a:srgbClr val="000000"/>
                </a:solidFill>
                <a:effectLst/>
                <a:latin typeface="Consolas" panose="020B0609020204030204" pitchFamily="49" charset="0"/>
              </a:rPr>
              <a:t> (Storage) == </a:t>
            </a:r>
            <a:r>
              <a:rPr lang="en-US" sz="1800" b="0" dirty="0">
                <a:solidFill>
                  <a:srgbClr val="A31515"/>
                </a:solidFill>
                <a:effectLst/>
                <a:latin typeface="Consolas" panose="020B0609020204030204" pitchFamily="49" charset="0"/>
              </a:rPr>
              <a:t>"undefined"</a:t>
            </a:r>
            <a:r>
              <a:rPr lang="en-US" sz="1800" b="0" dirty="0">
                <a:solidFill>
                  <a:srgbClr val="000000"/>
                </a:solidFill>
                <a:effectLst/>
                <a:latin typeface="Consolas" panose="020B0609020204030204" pitchFamily="49" charset="0"/>
              </a:rPr>
              <a:t>) {</a:t>
            </a:r>
          </a:p>
          <a:p>
            <a:pPr marL="0" indent="0">
              <a:buNone/>
            </a:pPr>
            <a:br>
              <a:rPr lang="en-US" sz="1800" b="0" dirty="0">
                <a:solidFill>
                  <a:srgbClr val="000000"/>
                </a:solidFill>
                <a:effectLst/>
                <a:latin typeface="Consolas" panose="020B0609020204030204" pitchFamily="49" charset="0"/>
              </a:rPr>
            </a:b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document.write</a:t>
            </a:r>
            <a:r>
              <a:rPr lang="en-US" sz="1800" b="0" dirty="0">
                <a:solidFill>
                  <a:srgbClr val="000000"/>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msg_notSupported</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window.stop</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localStorage.setItem</a:t>
            </a:r>
            <a:r>
              <a:rPr lang="en-US" sz="1800" b="0" dirty="0">
                <a:solidFill>
                  <a:srgbClr val="000000"/>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msg_key</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"2021"</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document.write</a:t>
            </a:r>
            <a:r>
              <a:rPr lang="en-US" sz="1800" b="0" dirty="0">
                <a:solidFill>
                  <a:srgbClr val="000000"/>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msg_written+msg_key</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&lt;/script&gt;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800000"/>
                </a:solidFill>
                <a:effectLst/>
                <a:latin typeface="Consolas" panose="020B0609020204030204" pitchFamily="49" charset="0"/>
              </a:rPr>
              <a:t>&lt;/body&gt;</a:t>
            </a:r>
            <a:endParaRPr lang="en-US" sz="1800" b="0" dirty="0">
              <a:solidFill>
                <a:srgbClr val="000000"/>
              </a:solidFill>
              <a:effectLst/>
              <a:latin typeface="Consolas" panose="020B0609020204030204" pitchFamily="49" charset="0"/>
            </a:endParaRPr>
          </a:p>
          <a:p>
            <a:pPr marL="0" indent="0">
              <a:buNone/>
            </a:pPr>
            <a:r>
              <a:rPr lang="en-US" sz="1800" b="0" dirty="0">
                <a:solidFill>
                  <a:srgbClr val="800000"/>
                </a:solidFill>
                <a:effectLst/>
                <a:latin typeface="Consolas" panose="020B0609020204030204" pitchFamily="49" charset="0"/>
              </a:rPr>
              <a:t>&lt;/html&gt;</a:t>
            </a:r>
            <a:endParaRPr lang="en-US" sz="1800" b="0" dirty="0">
              <a:solidFill>
                <a:srgbClr val="000000"/>
              </a:solidFill>
              <a:effectLst/>
              <a:latin typeface="Consolas" panose="020B0609020204030204" pitchFamily="49" charset="0"/>
            </a:endParaRPr>
          </a:p>
          <a:p>
            <a:endParaRPr lang="en-US" sz="1800" dirty="0"/>
          </a:p>
        </p:txBody>
      </p:sp>
    </p:spTree>
    <p:extLst>
      <p:ext uri="{BB962C8B-B14F-4D97-AF65-F5344CB8AC3E}">
        <p14:creationId xmlns:p14="http://schemas.microsoft.com/office/powerpoint/2010/main" val="1521549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C91DF-AE58-42D9-8D82-8E2228BD07BB}"/>
              </a:ext>
            </a:extLst>
          </p:cNvPr>
          <p:cNvSpPr>
            <a:spLocks noGrp="1"/>
          </p:cNvSpPr>
          <p:nvPr>
            <p:ph type="title"/>
          </p:nvPr>
        </p:nvSpPr>
        <p:spPr/>
        <p:txBody>
          <a:bodyPr>
            <a:normAutofit fontScale="90000"/>
          </a:bodyPr>
          <a:lstStyle/>
          <a:p>
            <a:r>
              <a:rPr lang="en-US" dirty="0"/>
              <a:t>The </a:t>
            </a:r>
            <a:r>
              <a:rPr lang="en-US" dirty="0" err="1"/>
              <a:t>localStorage</a:t>
            </a:r>
            <a:r>
              <a:rPr lang="en-US" dirty="0"/>
              <a:t> Object Example/ reader.html </a:t>
            </a:r>
          </a:p>
        </p:txBody>
      </p:sp>
      <p:sp>
        <p:nvSpPr>
          <p:cNvPr id="3" name="Slide Number Placeholder 2">
            <a:extLst>
              <a:ext uri="{FF2B5EF4-FFF2-40B4-BE49-F238E27FC236}">
                <a16:creationId xmlns:a16="http://schemas.microsoft.com/office/drawing/2014/main" id="{4ECF5AB5-8619-4006-952F-A6E2F4806C17}"/>
              </a:ext>
            </a:extLst>
          </p:cNvPr>
          <p:cNvSpPr>
            <a:spLocks noGrp="1"/>
          </p:cNvSpPr>
          <p:nvPr>
            <p:ph type="sldNum" sz="quarter" idx="10"/>
          </p:nvPr>
        </p:nvSpPr>
        <p:spPr/>
        <p:txBody>
          <a:bodyPr/>
          <a:lstStyle/>
          <a:p>
            <a:fld id="{FFDA1B5B-FD17-41CE-9005-2457CABDC26A}" type="slidenum">
              <a:rPr lang="en-US" smtClean="0"/>
              <a:t>31</a:t>
            </a:fld>
            <a:endParaRPr lang="en-US"/>
          </a:p>
        </p:txBody>
      </p:sp>
      <p:sp>
        <p:nvSpPr>
          <p:cNvPr id="4" name="Text Placeholder 3">
            <a:extLst>
              <a:ext uri="{FF2B5EF4-FFF2-40B4-BE49-F238E27FC236}">
                <a16:creationId xmlns:a16="http://schemas.microsoft.com/office/drawing/2014/main" id="{70C1B45C-D461-427A-B08A-748F805CEFFF}"/>
              </a:ext>
            </a:extLst>
          </p:cNvPr>
          <p:cNvSpPr>
            <a:spLocks noGrp="1"/>
          </p:cNvSpPr>
          <p:nvPr>
            <p:ph type="body" sz="quarter" idx="11"/>
          </p:nvPr>
        </p:nvSpPr>
        <p:spPr/>
        <p:txBody>
          <a:bodyPr/>
          <a:lstStyle/>
          <a:p>
            <a:pPr marL="0" indent="0">
              <a:buNone/>
            </a:pPr>
            <a:r>
              <a:rPr lang="en-US" sz="1800" b="0" dirty="0">
                <a:effectLst/>
                <a:latin typeface="Consolas" panose="020B0609020204030204" pitchFamily="49" charset="0"/>
              </a:rPr>
              <a:t>This code snippet tries to read from local storage </a:t>
            </a:r>
            <a:r>
              <a:rPr lang="en-US" sz="1200" b="0" dirty="0">
                <a:effectLst/>
                <a:latin typeface="Consolas" panose="020B0609020204030204" pitchFamily="49" charset="0"/>
              </a:rPr>
              <a:t>( remember same domain, same browser, same machine)</a:t>
            </a:r>
          </a:p>
          <a:p>
            <a:pPr marL="0" indent="0">
              <a:buNone/>
            </a:pPr>
            <a:r>
              <a:rPr lang="en-US" sz="1800" b="0" dirty="0">
                <a:solidFill>
                  <a:srgbClr val="800000"/>
                </a:solidFill>
                <a:effectLst/>
                <a:latin typeface="Consolas" panose="020B0609020204030204" pitchFamily="49" charset="0"/>
              </a:rPr>
              <a:t>&lt;html</a:t>
            </a:r>
            <a:r>
              <a:rPr lang="en-US" sz="1800" b="0" dirty="0">
                <a:solidFill>
                  <a:srgbClr val="000000"/>
                </a:solidFill>
                <a:effectLst/>
                <a:latin typeface="Consolas" panose="020B0609020204030204" pitchFamily="49" charset="0"/>
              </a:rPr>
              <a:t> </a:t>
            </a:r>
            <a:r>
              <a:rPr lang="en-US" sz="1800" b="0" dirty="0">
                <a:solidFill>
                  <a:srgbClr val="FF0000"/>
                </a:solidFill>
                <a:effectLst/>
                <a:latin typeface="Consolas" panose="020B0609020204030204" pitchFamily="49" charset="0"/>
              </a:rPr>
              <a:t>lang</a:t>
            </a:r>
            <a:r>
              <a:rPr lang="en-US" sz="1800" b="0" dirty="0">
                <a:solidFill>
                  <a:srgbClr val="000000"/>
                </a:solidFill>
                <a:effectLst/>
                <a:latin typeface="Consolas" panose="020B0609020204030204" pitchFamily="49" charset="0"/>
              </a:rPr>
              <a:t>=</a:t>
            </a:r>
            <a:r>
              <a:rPr lang="en-US" sz="1800" b="0" dirty="0">
                <a:solidFill>
                  <a:srgbClr val="0000FF"/>
                </a:solidFill>
                <a:effectLst/>
                <a:latin typeface="Consolas" panose="020B0609020204030204" pitchFamily="49" charset="0"/>
              </a:rPr>
              <a:t>"</a:t>
            </a:r>
            <a:r>
              <a:rPr lang="en-US" sz="1800" b="0" dirty="0" err="1">
                <a:solidFill>
                  <a:srgbClr val="0000FF"/>
                </a:solidFill>
                <a:effectLst/>
                <a:latin typeface="Consolas" panose="020B0609020204030204" pitchFamily="49" charset="0"/>
              </a:rPr>
              <a:t>en</a:t>
            </a:r>
            <a:r>
              <a:rPr lang="en-US" sz="1800" b="0" dirty="0">
                <a:solidFill>
                  <a:srgbClr val="0000FF"/>
                </a:solidFill>
                <a:effectLst/>
                <a:latin typeface="Consolas" panose="020B0609020204030204" pitchFamily="49" charset="0"/>
              </a:rPr>
              <a:t>"</a:t>
            </a:r>
            <a:r>
              <a:rPr lang="en-US" sz="1800" b="0" dirty="0">
                <a:solidFill>
                  <a:srgbClr val="800000"/>
                </a:solidFill>
                <a:effectLst/>
                <a:latin typeface="Consolas" panose="020B0609020204030204" pitchFamily="49" charset="0"/>
              </a:rPr>
              <a: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800000"/>
                </a:solidFill>
                <a:effectLst/>
                <a:latin typeface="Consolas" panose="020B0609020204030204" pitchFamily="49" charset="0"/>
              </a:rPr>
              <a:t>&lt;body&gt;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&lt;script&gt;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msg_notSupported</a:t>
            </a:r>
            <a:r>
              <a:rPr lang="en-US" sz="1800" b="0" dirty="0">
                <a:solidFill>
                  <a:srgbClr val="000000"/>
                </a:solidFill>
                <a:effectLst/>
                <a:latin typeface="Consolas" panose="020B0609020204030204" pitchFamily="49" charset="0"/>
              </a:rPr>
              <a:t> = </a:t>
            </a:r>
            <a:r>
              <a:rPr lang="en-US" sz="1800" b="0" dirty="0">
                <a:solidFill>
                  <a:srgbClr val="A31515"/>
                </a:solidFill>
                <a:effectLst/>
                <a:latin typeface="Consolas" panose="020B0609020204030204" pitchFamily="49" charset="0"/>
              </a:rPr>
              <a:t>"Sorry web Storage is not supported!"</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msg_key</a:t>
            </a:r>
            <a:r>
              <a:rPr lang="en-US" sz="1800" b="0" dirty="0">
                <a:solidFill>
                  <a:srgbClr val="000000"/>
                </a:solidFill>
                <a:effectLst/>
                <a:latin typeface="Consolas" panose="020B0609020204030204" pitchFamily="49" charset="0"/>
              </a:rPr>
              <a:t> = </a:t>
            </a:r>
            <a:r>
              <a:rPr lang="en-US" sz="1800" b="0" dirty="0">
                <a:solidFill>
                  <a:srgbClr val="A31515"/>
                </a:solidFill>
                <a:effectLst/>
                <a:latin typeface="Consolas" panose="020B0609020204030204" pitchFamily="49" charset="0"/>
              </a:rPr>
              <a:t>"hidden secret"</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msg_read</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"stored data for the key "</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typeof</a:t>
            </a:r>
            <a:r>
              <a:rPr lang="en-US" sz="1800" b="0" dirty="0">
                <a:solidFill>
                  <a:srgbClr val="000000"/>
                </a:solidFill>
                <a:effectLst/>
                <a:latin typeface="Consolas" panose="020B0609020204030204" pitchFamily="49" charset="0"/>
              </a:rPr>
              <a:t> (Storage) == </a:t>
            </a:r>
            <a:r>
              <a:rPr lang="en-US" sz="1800" b="0" dirty="0">
                <a:solidFill>
                  <a:srgbClr val="A31515"/>
                </a:solidFill>
                <a:effectLst/>
                <a:latin typeface="Consolas" panose="020B0609020204030204" pitchFamily="49" charset="0"/>
              </a:rPr>
              <a:t>"undefined"</a:t>
            </a:r>
            <a:r>
              <a:rPr lang="en-US" sz="1800" b="0" dirty="0">
                <a:solidFill>
                  <a:srgbClr val="000000"/>
                </a:solidFill>
                <a:effectLst/>
                <a:latin typeface="Consolas" panose="020B0609020204030204" pitchFamily="49" charset="0"/>
              </a:rPr>
              <a:t>) {</a:t>
            </a:r>
          </a:p>
          <a:p>
            <a:pPr marL="0" indent="0">
              <a:buNone/>
            </a:pPr>
            <a:br>
              <a:rPr lang="en-US" sz="1800" b="0" dirty="0">
                <a:solidFill>
                  <a:srgbClr val="000000"/>
                </a:solidFill>
                <a:effectLst/>
                <a:latin typeface="Consolas" panose="020B0609020204030204" pitchFamily="49" charset="0"/>
              </a:rPr>
            </a:b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document.write</a:t>
            </a:r>
            <a:r>
              <a:rPr lang="en-US" sz="1800" b="0" dirty="0">
                <a:solidFill>
                  <a:srgbClr val="000000"/>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msg_notSupported</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window.stop</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document.write</a:t>
            </a:r>
            <a:r>
              <a:rPr lang="en-US" sz="1800" b="0" dirty="0">
                <a:solidFill>
                  <a:srgbClr val="000000"/>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msg_read+msg_key</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localStorage.getItem</a:t>
            </a:r>
            <a:r>
              <a:rPr lang="en-US" sz="1800" b="0" dirty="0">
                <a:solidFill>
                  <a:srgbClr val="000000"/>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msg_key</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800000"/>
                </a:solidFill>
                <a:effectLst/>
                <a:latin typeface="Consolas" panose="020B0609020204030204" pitchFamily="49" charset="0"/>
              </a:rPr>
              <a:t>&lt;/script&gt;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800000"/>
                </a:solidFill>
                <a:effectLst/>
                <a:latin typeface="Consolas" panose="020B0609020204030204" pitchFamily="49" charset="0"/>
              </a:rPr>
              <a:t>&lt;/body&gt;</a:t>
            </a:r>
            <a:endParaRPr lang="en-US" sz="1800" b="0" dirty="0">
              <a:solidFill>
                <a:srgbClr val="000000"/>
              </a:solidFill>
              <a:effectLst/>
              <a:latin typeface="Consolas" panose="020B0609020204030204" pitchFamily="49" charset="0"/>
            </a:endParaRPr>
          </a:p>
          <a:p>
            <a:pPr marL="0" indent="0">
              <a:buNone/>
            </a:pPr>
            <a:r>
              <a:rPr lang="en-US" sz="1800" b="0" dirty="0">
                <a:solidFill>
                  <a:srgbClr val="800000"/>
                </a:solidFill>
                <a:effectLst/>
                <a:latin typeface="Consolas" panose="020B0609020204030204" pitchFamily="49" charset="0"/>
              </a:rPr>
              <a:t>&lt;/html&gt;</a:t>
            </a:r>
            <a:endParaRPr lang="en-US" sz="1800" b="0" dirty="0">
              <a:solidFill>
                <a:srgbClr val="000000"/>
              </a:solidFill>
              <a:effectLst/>
              <a:latin typeface="Consolas" panose="020B0609020204030204" pitchFamily="49" charset="0"/>
            </a:endParaRPr>
          </a:p>
          <a:p>
            <a:endParaRPr lang="en-US" dirty="0"/>
          </a:p>
        </p:txBody>
      </p:sp>
    </p:spTree>
    <p:extLst>
      <p:ext uri="{BB962C8B-B14F-4D97-AF65-F5344CB8AC3E}">
        <p14:creationId xmlns:p14="http://schemas.microsoft.com/office/powerpoint/2010/main" val="37965299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8FB1C-64E4-45F1-8C1E-3D8A14606B44}"/>
              </a:ext>
            </a:extLst>
          </p:cNvPr>
          <p:cNvSpPr>
            <a:spLocks noGrp="1"/>
          </p:cNvSpPr>
          <p:nvPr>
            <p:ph type="title"/>
          </p:nvPr>
        </p:nvSpPr>
        <p:spPr/>
        <p:txBody>
          <a:bodyPr>
            <a:normAutofit fontScale="90000"/>
          </a:bodyPr>
          <a:lstStyle/>
          <a:p>
            <a:r>
              <a:rPr lang="en-US" dirty="0"/>
              <a:t>Question!</a:t>
            </a:r>
          </a:p>
        </p:txBody>
      </p:sp>
      <p:sp>
        <p:nvSpPr>
          <p:cNvPr id="3" name="Slide Number Placeholder 2">
            <a:extLst>
              <a:ext uri="{FF2B5EF4-FFF2-40B4-BE49-F238E27FC236}">
                <a16:creationId xmlns:a16="http://schemas.microsoft.com/office/drawing/2014/main" id="{7000C780-2CAE-495A-BFFA-6CE616BAB830}"/>
              </a:ext>
            </a:extLst>
          </p:cNvPr>
          <p:cNvSpPr>
            <a:spLocks noGrp="1"/>
          </p:cNvSpPr>
          <p:nvPr>
            <p:ph type="sldNum" sz="quarter" idx="10"/>
          </p:nvPr>
        </p:nvSpPr>
        <p:spPr/>
        <p:txBody>
          <a:bodyPr/>
          <a:lstStyle/>
          <a:p>
            <a:fld id="{FFDA1B5B-FD17-41CE-9005-2457CABDC26A}" type="slidenum">
              <a:rPr lang="en-US" smtClean="0"/>
              <a:t>32</a:t>
            </a:fld>
            <a:endParaRPr lang="en-US"/>
          </a:p>
        </p:txBody>
      </p:sp>
      <p:sp>
        <p:nvSpPr>
          <p:cNvPr id="4" name="Text Placeholder 3">
            <a:extLst>
              <a:ext uri="{FF2B5EF4-FFF2-40B4-BE49-F238E27FC236}">
                <a16:creationId xmlns:a16="http://schemas.microsoft.com/office/drawing/2014/main" id="{2CBDE3EA-9D59-4A32-9AF8-EF167DBBD83D}"/>
              </a:ext>
            </a:extLst>
          </p:cNvPr>
          <p:cNvSpPr>
            <a:spLocks noGrp="1"/>
          </p:cNvSpPr>
          <p:nvPr>
            <p:ph type="body" sz="quarter" idx="11"/>
          </p:nvPr>
        </p:nvSpPr>
        <p:spPr>
          <a:xfrm>
            <a:off x="2489109" y="4345497"/>
            <a:ext cx="8596813" cy="483287"/>
          </a:xfrm>
        </p:spPr>
        <p:txBody>
          <a:bodyPr/>
          <a:lstStyle/>
          <a:p>
            <a:pPr marL="0" indent="0">
              <a:buNone/>
            </a:pPr>
            <a:r>
              <a:rPr lang="en-US" dirty="0"/>
              <a:t>How can I store the entire object into the local storage ?</a:t>
            </a:r>
          </a:p>
        </p:txBody>
      </p:sp>
    </p:spTree>
    <p:extLst>
      <p:ext uri="{BB962C8B-B14F-4D97-AF65-F5344CB8AC3E}">
        <p14:creationId xmlns:p14="http://schemas.microsoft.com/office/powerpoint/2010/main" val="2166941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6056F-5456-491C-AAFD-33F50EF81B52}"/>
              </a:ext>
            </a:extLst>
          </p:cNvPr>
          <p:cNvSpPr>
            <a:spLocks noGrp="1"/>
          </p:cNvSpPr>
          <p:nvPr>
            <p:ph type="title"/>
          </p:nvPr>
        </p:nvSpPr>
        <p:spPr>
          <a:xfrm>
            <a:off x="4186106" y="3048757"/>
            <a:ext cx="3685685" cy="483287"/>
          </a:xfrm>
        </p:spPr>
        <p:txBody>
          <a:bodyPr>
            <a:noAutofit/>
          </a:bodyPr>
          <a:lstStyle/>
          <a:p>
            <a:r>
              <a:rPr lang="en-US" dirty="0"/>
              <a:t>JSON</a:t>
            </a:r>
            <a:br>
              <a:rPr lang="en-US" sz="6600" dirty="0"/>
            </a:br>
            <a:r>
              <a:rPr lang="en-US" sz="3200" b="0" i="0" dirty="0">
                <a:solidFill>
                  <a:srgbClr val="222222"/>
                </a:solidFill>
                <a:effectLst/>
                <a:latin typeface="Google Sans"/>
              </a:rPr>
              <a:t>JavaScript Object Notation</a:t>
            </a:r>
            <a:endParaRPr lang="en-US" sz="6600" dirty="0"/>
          </a:p>
        </p:txBody>
      </p:sp>
      <p:sp>
        <p:nvSpPr>
          <p:cNvPr id="3" name="Slide Number Placeholder 2">
            <a:extLst>
              <a:ext uri="{FF2B5EF4-FFF2-40B4-BE49-F238E27FC236}">
                <a16:creationId xmlns:a16="http://schemas.microsoft.com/office/drawing/2014/main" id="{012637AA-67B1-4BF7-897B-68003C157899}"/>
              </a:ext>
            </a:extLst>
          </p:cNvPr>
          <p:cNvSpPr>
            <a:spLocks noGrp="1"/>
          </p:cNvSpPr>
          <p:nvPr>
            <p:ph type="sldNum" sz="quarter" idx="10"/>
          </p:nvPr>
        </p:nvSpPr>
        <p:spPr/>
        <p:txBody>
          <a:bodyPr/>
          <a:lstStyle/>
          <a:p>
            <a:fld id="{FFDA1B5B-FD17-41CE-9005-2457CABDC26A}" type="slidenum">
              <a:rPr lang="en-US" smtClean="0"/>
              <a:t>33</a:t>
            </a:fld>
            <a:endParaRPr lang="en-US"/>
          </a:p>
        </p:txBody>
      </p:sp>
    </p:spTree>
    <p:extLst>
      <p:ext uri="{BB962C8B-B14F-4D97-AF65-F5344CB8AC3E}">
        <p14:creationId xmlns:p14="http://schemas.microsoft.com/office/powerpoint/2010/main" val="2355599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F6FBC-3783-49D2-A1A5-3D3ADE0D9F5B}"/>
              </a:ext>
            </a:extLst>
          </p:cNvPr>
          <p:cNvSpPr>
            <a:spLocks noGrp="1"/>
          </p:cNvSpPr>
          <p:nvPr>
            <p:ph type="title"/>
          </p:nvPr>
        </p:nvSpPr>
        <p:spPr/>
        <p:txBody>
          <a:bodyPr>
            <a:normAutofit fontScale="90000"/>
          </a:bodyPr>
          <a:lstStyle/>
          <a:p>
            <a:r>
              <a:rPr lang="en-CA" b="0" i="0" dirty="0">
                <a:solidFill>
                  <a:srgbClr val="222222"/>
                </a:solidFill>
                <a:effectLst/>
                <a:latin typeface="Google Sans"/>
              </a:rPr>
              <a:t>JSON or JavaScript Object Notation</a:t>
            </a:r>
            <a:endParaRPr lang="en-US" dirty="0"/>
          </a:p>
        </p:txBody>
      </p:sp>
      <p:sp>
        <p:nvSpPr>
          <p:cNvPr id="3" name="Slide Number Placeholder 2">
            <a:extLst>
              <a:ext uri="{FF2B5EF4-FFF2-40B4-BE49-F238E27FC236}">
                <a16:creationId xmlns:a16="http://schemas.microsoft.com/office/drawing/2014/main" id="{7B214DD2-363B-4EC2-84C7-BA07B0744890}"/>
              </a:ext>
            </a:extLst>
          </p:cNvPr>
          <p:cNvSpPr>
            <a:spLocks noGrp="1"/>
          </p:cNvSpPr>
          <p:nvPr>
            <p:ph type="sldNum" sz="quarter" idx="10"/>
          </p:nvPr>
        </p:nvSpPr>
        <p:spPr/>
        <p:txBody>
          <a:bodyPr/>
          <a:lstStyle/>
          <a:p>
            <a:fld id="{FFDA1B5B-FD17-41CE-9005-2457CABDC26A}" type="slidenum">
              <a:rPr lang="en-US" smtClean="0"/>
              <a:t>34</a:t>
            </a:fld>
            <a:endParaRPr lang="en-US"/>
          </a:p>
        </p:txBody>
      </p:sp>
      <p:sp>
        <p:nvSpPr>
          <p:cNvPr id="4" name="Text Placeholder 3">
            <a:extLst>
              <a:ext uri="{FF2B5EF4-FFF2-40B4-BE49-F238E27FC236}">
                <a16:creationId xmlns:a16="http://schemas.microsoft.com/office/drawing/2014/main" id="{EF8E2819-23B3-4500-BD63-D169066E3692}"/>
              </a:ext>
            </a:extLst>
          </p:cNvPr>
          <p:cNvSpPr>
            <a:spLocks noGrp="1"/>
          </p:cNvSpPr>
          <p:nvPr>
            <p:ph type="body" sz="quarter" idx="11"/>
          </p:nvPr>
        </p:nvSpPr>
        <p:spPr>
          <a:xfrm>
            <a:off x="169682" y="688158"/>
            <a:ext cx="11928836" cy="2002034"/>
          </a:xfrm>
        </p:spPr>
        <p:txBody>
          <a:bodyPr/>
          <a:lstStyle/>
          <a:p>
            <a:pPr marL="0" indent="0">
              <a:buNone/>
            </a:pPr>
            <a:r>
              <a:rPr lang="en-CA" sz="2000" dirty="0">
                <a:solidFill>
                  <a:srgbClr val="000000"/>
                </a:solidFill>
                <a:latin typeface="+mj-lt"/>
              </a:rPr>
              <a:t>1. Y</a:t>
            </a:r>
            <a:r>
              <a:rPr lang="en-CA" sz="2000" b="0" i="0" dirty="0">
                <a:solidFill>
                  <a:srgbClr val="000000"/>
                </a:solidFill>
                <a:effectLst/>
                <a:latin typeface="+mj-lt"/>
              </a:rPr>
              <a:t>ou can flatten a JavaScript object into </a:t>
            </a:r>
            <a:r>
              <a:rPr lang="en-CA" sz="2000" dirty="0">
                <a:solidFill>
                  <a:srgbClr val="000000"/>
                </a:solidFill>
                <a:latin typeface="+mj-lt"/>
              </a:rPr>
              <a:t>a </a:t>
            </a:r>
            <a:r>
              <a:rPr lang="en-CA" sz="2000" b="0" i="0" dirty="0">
                <a:solidFill>
                  <a:srgbClr val="000000"/>
                </a:solidFill>
                <a:effectLst/>
                <a:latin typeface="+mj-lt"/>
              </a:rPr>
              <a:t>JSON string and send it to another computer over the net.</a:t>
            </a:r>
          </a:p>
          <a:p>
            <a:pPr marL="0" indent="0">
              <a:buNone/>
            </a:pPr>
            <a:r>
              <a:rPr lang="en-US" sz="1800" b="0" dirty="0">
                <a:solidFill>
                  <a:srgbClr val="0000FF"/>
                </a:solidFill>
                <a:effectLst/>
                <a:latin typeface="Consolas" panose="020B0609020204030204" pitchFamily="49" charset="0"/>
              </a:rPr>
              <a:t>let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myObj</a:t>
            </a:r>
            <a:r>
              <a:rPr lang="en-US" sz="1800" b="0" dirty="0">
                <a:solidFill>
                  <a:srgbClr val="000000"/>
                </a:solidFill>
                <a:effectLst/>
                <a:latin typeface="Consolas" panose="020B0609020204030204" pitchFamily="49" charset="0"/>
              </a:rPr>
              <a:t> = { name: </a:t>
            </a:r>
            <a:r>
              <a:rPr lang="en-US" sz="1800" b="0" dirty="0">
                <a:solidFill>
                  <a:srgbClr val="A31515"/>
                </a:solidFill>
                <a:effectLst/>
                <a:latin typeface="Consolas" panose="020B0609020204030204" pitchFamily="49" charset="0"/>
              </a:rPr>
              <a:t>"John"</a:t>
            </a:r>
            <a:r>
              <a:rPr lang="en-US" sz="1800" b="0" dirty="0">
                <a:solidFill>
                  <a:srgbClr val="000000"/>
                </a:solidFill>
                <a:effectLst/>
                <a:latin typeface="Consolas" panose="020B0609020204030204" pitchFamily="49" charset="0"/>
              </a:rPr>
              <a:t>, age: </a:t>
            </a:r>
            <a:r>
              <a:rPr lang="en-US" sz="1800" b="0" dirty="0">
                <a:solidFill>
                  <a:srgbClr val="098658"/>
                </a:solidFill>
                <a:effectLst/>
                <a:latin typeface="Consolas" panose="020B0609020204030204" pitchFamily="49" charset="0"/>
              </a:rPr>
              <a:t>22</a:t>
            </a:r>
            <a:r>
              <a:rPr lang="en-US" sz="1800" b="0" dirty="0">
                <a:solidFill>
                  <a:srgbClr val="000000"/>
                </a:solidFill>
                <a:effectLst/>
                <a:latin typeface="Consolas" panose="020B0609020204030204" pitchFamily="49" charset="0"/>
              </a:rPr>
              <a:t>, city: </a:t>
            </a:r>
            <a:r>
              <a:rPr lang="en-US" sz="1800" b="0" dirty="0">
                <a:solidFill>
                  <a:srgbClr val="A31515"/>
                </a:solidFill>
                <a:effectLst/>
                <a:latin typeface="Consolas" panose="020B0609020204030204" pitchFamily="49" charset="0"/>
              </a:rPr>
              <a:t>"Vancouver"</a:t>
            </a:r>
            <a:r>
              <a:rPr lang="en-US" sz="1800" b="0" dirty="0">
                <a:solidFill>
                  <a:srgbClr val="000000"/>
                </a:solidFill>
                <a:effectLst/>
                <a:latin typeface="Consolas" panose="020B0609020204030204" pitchFamily="49" charset="0"/>
              </a:rPr>
              <a:t> };</a:t>
            </a:r>
          </a:p>
          <a:p>
            <a:pPr marL="0" indent="0">
              <a:buNone/>
            </a:pPr>
            <a:r>
              <a:rPr lang="en-US" sz="1800" b="0" dirty="0">
                <a:solidFill>
                  <a:srgbClr val="0000FF"/>
                </a:solidFill>
                <a:effectLst/>
                <a:latin typeface="Consolas" panose="020B0609020204030204" pitchFamily="49" charset="0"/>
              </a:rPr>
              <a:t>let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myJSON</a:t>
            </a:r>
            <a:r>
              <a:rPr lang="en-US" sz="1800" b="0" dirty="0">
                <a:solidFill>
                  <a:srgbClr val="000000"/>
                </a:solidFill>
                <a:effectLst/>
                <a:latin typeface="Consolas" panose="020B0609020204030204" pitchFamily="49" charset="0"/>
              </a:rPr>
              <a:t> = </a:t>
            </a:r>
            <a:r>
              <a:rPr lang="en-US" sz="1800" b="0" dirty="0" err="1">
                <a:solidFill>
                  <a:srgbClr val="000000"/>
                </a:solidFill>
                <a:effectLst/>
                <a:latin typeface="Consolas" panose="020B0609020204030204" pitchFamily="49" charset="0"/>
              </a:rPr>
              <a:t>JSON.stringify</a:t>
            </a:r>
            <a:r>
              <a:rPr lang="en-US" sz="1800" b="0" dirty="0">
                <a:solidFill>
                  <a:srgbClr val="000000"/>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myObj</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console.log(</a:t>
            </a:r>
            <a:r>
              <a:rPr lang="en-US" sz="1800" b="0" dirty="0" err="1">
                <a:solidFill>
                  <a:srgbClr val="000000"/>
                </a:solidFill>
                <a:effectLst/>
                <a:latin typeface="Consolas" panose="020B0609020204030204" pitchFamily="49" charset="0"/>
              </a:rPr>
              <a:t>myJSON</a:t>
            </a:r>
            <a:r>
              <a:rPr lang="en-US" sz="1800" b="0" dirty="0">
                <a:solidFill>
                  <a:srgbClr val="000000"/>
                </a:solidFill>
                <a:effectLst/>
                <a:latin typeface="Consolas" panose="020B0609020204030204" pitchFamily="49" charset="0"/>
              </a:rPr>
              <a:t> + </a:t>
            </a:r>
            <a:r>
              <a:rPr lang="en-US" sz="1800" b="0" dirty="0">
                <a:solidFill>
                  <a:srgbClr val="A31515"/>
                </a:solidFill>
                <a:effectLst/>
                <a:latin typeface="Consolas" panose="020B0609020204030204" pitchFamily="49" charset="0"/>
              </a:rPr>
              <a:t>" another string"</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console.log(</a:t>
            </a:r>
            <a:r>
              <a:rPr lang="en-US" sz="1800" b="0" dirty="0" err="1">
                <a:solidFill>
                  <a:srgbClr val="000000"/>
                </a:solidFill>
                <a:effectLst/>
                <a:latin typeface="Consolas" panose="020B0609020204030204" pitchFamily="49" charset="0"/>
              </a:rPr>
              <a:t>myObj</a:t>
            </a:r>
            <a:r>
              <a:rPr lang="en-US" sz="1800" b="0" dirty="0">
                <a:solidFill>
                  <a:srgbClr val="000000"/>
                </a:solidFill>
                <a:effectLst/>
                <a:latin typeface="Consolas" panose="020B0609020204030204" pitchFamily="49" charset="0"/>
              </a:rPr>
              <a:t> + </a:t>
            </a:r>
            <a:r>
              <a:rPr lang="en-US" sz="1800" b="0" dirty="0">
                <a:solidFill>
                  <a:srgbClr val="A31515"/>
                </a:solidFill>
                <a:effectLst/>
                <a:latin typeface="Consolas" panose="020B0609020204030204" pitchFamily="49" charset="0"/>
              </a:rPr>
              <a:t>" another string"</a:t>
            </a:r>
            <a:r>
              <a:rPr lang="en-US" sz="1800" b="0" dirty="0">
                <a:solidFill>
                  <a:srgbClr val="000000"/>
                </a:solidFill>
                <a:effectLst/>
                <a:latin typeface="Consolas" panose="020B0609020204030204" pitchFamily="49" charset="0"/>
              </a:rPr>
              <a:t>);</a:t>
            </a:r>
          </a:p>
          <a:p>
            <a:endParaRPr lang="en-CA" b="0" i="0" dirty="0">
              <a:solidFill>
                <a:srgbClr val="000000"/>
              </a:solidFill>
              <a:effectLst/>
              <a:latin typeface="Verdana" panose="020B0604030504040204" pitchFamily="34" charset="0"/>
            </a:endParaRPr>
          </a:p>
          <a:p>
            <a:endParaRPr lang="en-CA" dirty="0">
              <a:solidFill>
                <a:srgbClr val="000000"/>
              </a:solidFill>
              <a:latin typeface="Verdana" panose="020B0604030504040204" pitchFamily="34" charset="0"/>
            </a:endParaRPr>
          </a:p>
          <a:p>
            <a:r>
              <a:rPr lang="en-US" b="1" dirty="0"/>
              <a:t>Q: </a:t>
            </a:r>
            <a:r>
              <a:rPr lang="en-US" dirty="0"/>
              <a:t>What is the type of </a:t>
            </a:r>
            <a:r>
              <a:rPr lang="en-US" dirty="0" err="1"/>
              <a:t>myJSON</a:t>
            </a:r>
            <a:r>
              <a:rPr lang="en-US" dirty="0"/>
              <a:t> here?</a:t>
            </a:r>
          </a:p>
          <a:p>
            <a:endParaRPr lang="en-US" dirty="0"/>
          </a:p>
        </p:txBody>
      </p:sp>
      <p:pic>
        <p:nvPicPr>
          <p:cNvPr id="5" name="Picture 4">
            <a:extLst>
              <a:ext uri="{FF2B5EF4-FFF2-40B4-BE49-F238E27FC236}">
                <a16:creationId xmlns:a16="http://schemas.microsoft.com/office/drawing/2014/main" id="{3CB74FB0-E8E6-4380-8838-C23492AEF221}"/>
              </a:ext>
            </a:extLst>
          </p:cNvPr>
          <p:cNvPicPr>
            <a:picLocks noChangeAspect="1"/>
          </p:cNvPicPr>
          <p:nvPr/>
        </p:nvPicPr>
        <p:blipFill>
          <a:blip r:embed="rId2"/>
          <a:stretch>
            <a:fillRect/>
          </a:stretch>
        </p:blipFill>
        <p:spPr>
          <a:xfrm>
            <a:off x="5811477" y="1667734"/>
            <a:ext cx="6049219" cy="1876687"/>
          </a:xfrm>
          <a:prstGeom prst="rect">
            <a:avLst/>
          </a:prstGeom>
        </p:spPr>
      </p:pic>
      <p:sp>
        <p:nvSpPr>
          <p:cNvPr id="8" name="Speech Bubble: Rectangle 7">
            <a:extLst>
              <a:ext uri="{FF2B5EF4-FFF2-40B4-BE49-F238E27FC236}">
                <a16:creationId xmlns:a16="http://schemas.microsoft.com/office/drawing/2014/main" id="{73363A00-E62D-4A70-99B1-FD7BD8B8D907}"/>
              </a:ext>
            </a:extLst>
          </p:cNvPr>
          <p:cNvSpPr/>
          <p:nvPr/>
        </p:nvSpPr>
        <p:spPr>
          <a:xfrm>
            <a:off x="169682" y="2705687"/>
            <a:ext cx="5064927" cy="723313"/>
          </a:xfrm>
          <a:prstGeom prst="wedgeRectCallout">
            <a:avLst>
              <a:gd name="adj1" fmla="val 66909"/>
              <a:gd name="adj2" fmla="val -20311"/>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 you have noticed, json behaves like a flat string </a:t>
            </a:r>
          </a:p>
          <a:p>
            <a:pPr algn="ctr"/>
            <a:r>
              <a:rPr lang="en-US" dirty="0">
                <a:solidFill>
                  <a:schemeClr val="tx1"/>
                </a:solidFill>
              </a:rPr>
              <a:t>See the result of concatenating it with another string .</a:t>
            </a:r>
          </a:p>
        </p:txBody>
      </p:sp>
      <p:sp>
        <p:nvSpPr>
          <p:cNvPr id="9" name="Text Placeholder 3">
            <a:extLst>
              <a:ext uri="{FF2B5EF4-FFF2-40B4-BE49-F238E27FC236}">
                <a16:creationId xmlns:a16="http://schemas.microsoft.com/office/drawing/2014/main" id="{FCEF4371-83BB-4082-BB17-7A3735977763}"/>
              </a:ext>
            </a:extLst>
          </p:cNvPr>
          <p:cNvSpPr txBox="1">
            <a:spLocks/>
          </p:cNvSpPr>
          <p:nvPr/>
        </p:nvSpPr>
        <p:spPr>
          <a:xfrm>
            <a:off x="124258" y="4523997"/>
            <a:ext cx="5687219" cy="27022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00"/>
                </a:solidFill>
                <a:latin typeface="+mj-lt"/>
              </a:rPr>
              <a:t>2. At the other end the json string can be parsed back to an object: </a:t>
            </a:r>
            <a:endParaRPr lang="en-US" sz="1800" dirty="0">
              <a:solidFill>
                <a:srgbClr val="000000"/>
              </a:solidFill>
              <a:latin typeface="Consolas" panose="020B0609020204030204" pitchFamily="49" charset="0"/>
            </a:endParaRPr>
          </a:p>
          <a:p>
            <a:r>
              <a:rPr lang="en-US" sz="1400" b="0" dirty="0">
                <a:solidFill>
                  <a:srgbClr val="0000FF"/>
                </a:solidFill>
                <a:effectLst/>
                <a:latin typeface="Consolas" panose="020B0609020204030204" pitchFamily="49" charset="0"/>
              </a:rPr>
              <a:t>let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myJSON</a:t>
            </a:r>
            <a:r>
              <a:rPr lang="en-US" sz="1400" b="0" dirty="0">
                <a:solidFill>
                  <a:srgbClr val="000000"/>
                </a:solidFill>
                <a:effectLst/>
                <a:latin typeface="Consolas" panose="020B0609020204030204" pitchFamily="49" charset="0"/>
              </a:rPr>
              <a:t> = </a:t>
            </a:r>
          </a:p>
          <a:p>
            <a:pPr marL="0" indent="0">
              <a:buNone/>
            </a:pPr>
            <a:r>
              <a:rPr lang="en-US" sz="1400" dirty="0">
                <a:solidFill>
                  <a:srgbClr val="000000"/>
                </a:solidFill>
                <a:latin typeface="Consolas" panose="020B0609020204030204" pitchFamily="49" charset="0"/>
              </a:rPr>
              <a:t>   </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name":"John</a:t>
            </a:r>
            <a:r>
              <a:rPr lang="en-US" sz="1400" b="0" dirty="0">
                <a:solidFill>
                  <a:srgbClr val="A31515"/>
                </a:solidFill>
                <a:effectLst/>
                <a:latin typeface="Consolas" panose="020B0609020204030204" pitchFamily="49" charset="0"/>
              </a:rPr>
              <a:t>", "age":31, "</a:t>
            </a:r>
            <a:r>
              <a:rPr lang="en-US" sz="1400" b="0" dirty="0" err="1">
                <a:solidFill>
                  <a:srgbClr val="A31515"/>
                </a:solidFill>
                <a:effectLst/>
                <a:latin typeface="Consolas" panose="020B0609020204030204" pitchFamily="49" charset="0"/>
              </a:rPr>
              <a:t>city":"New</a:t>
            </a:r>
            <a:r>
              <a:rPr lang="en-US" sz="1400" b="0" dirty="0">
                <a:solidFill>
                  <a:srgbClr val="A31515"/>
                </a:solidFill>
                <a:effectLst/>
                <a:latin typeface="Consolas" panose="020B0609020204030204" pitchFamily="49" charset="0"/>
              </a:rPr>
              <a:t> York"}'</a:t>
            </a:r>
            <a:r>
              <a:rPr lang="en-US" sz="1400" b="0" dirty="0">
                <a:solidFill>
                  <a:srgbClr val="000000"/>
                </a:solidFill>
                <a:effectLst/>
                <a:latin typeface="Consolas" panose="020B0609020204030204" pitchFamily="49" charset="0"/>
              </a:rPr>
              <a:t>;</a:t>
            </a:r>
          </a:p>
          <a:p>
            <a:r>
              <a:rPr lang="en-US" sz="1400" b="0" dirty="0">
                <a:solidFill>
                  <a:srgbClr val="0000FF"/>
                </a:solidFill>
                <a:effectLst/>
                <a:latin typeface="Consolas" panose="020B0609020204030204" pitchFamily="49" charset="0"/>
              </a:rPr>
              <a:t>let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myObj</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JSON.parse</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myJSON</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console.log(</a:t>
            </a:r>
            <a:r>
              <a:rPr lang="en-US" sz="1400" b="0" dirty="0" err="1">
                <a:solidFill>
                  <a:srgbClr val="000000"/>
                </a:solidFill>
                <a:effectLst/>
                <a:latin typeface="Consolas" panose="020B0609020204030204" pitchFamily="49" charset="0"/>
              </a:rPr>
              <a:t>myObj</a:t>
            </a:r>
            <a:r>
              <a:rPr lang="en-US" sz="1400" b="0" dirty="0">
                <a:solidFill>
                  <a:srgbClr val="000000"/>
                </a:solidFill>
                <a:effectLst/>
                <a:latin typeface="Consolas" panose="020B0609020204030204" pitchFamily="49" charset="0"/>
              </a:rPr>
              <a:t>);</a:t>
            </a:r>
          </a:p>
          <a:p>
            <a:endParaRPr lang="en-CA" dirty="0">
              <a:solidFill>
                <a:srgbClr val="000000"/>
              </a:solidFill>
              <a:latin typeface="Verdana" panose="020B0604030504040204" pitchFamily="34" charset="0"/>
            </a:endParaRPr>
          </a:p>
          <a:p>
            <a:endParaRPr lang="en-CA" dirty="0">
              <a:solidFill>
                <a:srgbClr val="000000"/>
              </a:solidFill>
              <a:latin typeface="Verdana" panose="020B0604030504040204" pitchFamily="34" charset="0"/>
            </a:endParaRPr>
          </a:p>
          <a:p>
            <a:endParaRPr lang="en-US" dirty="0"/>
          </a:p>
          <a:p>
            <a:endParaRPr lang="en-US" dirty="0"/>
          </a:p>
        </p:txBody>
      </p:sp>
      <p:pic>
        <p:nvPicPr>
          <p:cNvPr id="10" name="Picture 9">
            <a:extLst>
              <a:ext uri="{FF2B5EF4-FFF2-40B4-BE49-F238E27FC236}">
                <a16:creationId xmlns:a16="http://schemas.microsoft.com/office/drawing/2014/main" id="{3A8CCD87-DCAC-4E9C-91D1-B4A8A193BE48}"/>
              </a:ext>
            </a:extLst>
          </p:cNvPr>
          <p:cNvPicPr>
            <a:picLocks noChangeAspect="1"/>
          </p:cNvPicPr>
          <p:nvPr/>
        </p:nvPicPr>
        <p:blipFill>
          <a:blip r:embed="rId3"/>
          <a:stretch>
            <a:fillRect/>
          </a:stretch>
        </p:blipFill>
        <p:spPr>
          <a:xfrm>
            <a:off x="5526107" y="4713030"/>
            <a:ext cx="6334589" cy="1793209"/>
          </a:xfrm>
          <a:prstGeom prst="rect">
            <a:avLst/>
          </a:prstGeom>
        </p:spPr>
      </p:pic>
    </p:spTree>
    <p:extLst>
      <p:ext uri="{BB962C8B-B14F-4D97-AF65-F5344CB8AC3E}">
        <p14:creationId xmlns:p14="http://schemas.microsoft.com/office/powerpoint/2010/main" val="33247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C09F8-9A79-4A56-8F18-8A967C1B659A}"/>
              </a:ext>
            </a:extLst>
          </p:cNvPr>
          <p:cNvSpPr>
            <a:spLocks noGrp="1"/>
          </p:cNvSpPr>
          <p:nvPr>
            <p:ph type="title"/>
          </p:nvPr>
        </p:nvSpPr>
        <p:spPr>
          <a:xfrm>
            <a:off x="4563056" y="4073048"/>
            <a:ext cx="3065887" cy="483287"/>
          </a:xfrm>
        </p:spPr>
        <p:txBody>
          <a:bodyPr>
            <a:normAutofit fontScale="90000"/>
          </a:bodyPr>
          <a:lstStyle/>
          <a:p>
            <a:r>
              <a:rPr lang="en-US" dirty="0"/>
              <a:t>More programming Tips</a:t>
            </a:r>
          </a:p>
        </p:txBody>
      </p:sp>
      <p:sp>
        <p:nvSpPr>
          <p:cNvPr id="3" name="Slide Number Placeholder 2">
            <a:extLst>
              <a:ext uri="{FF2B5EF4-FFF2-40B4-BE49-F238E27FC236}">
                <a16:creationId xmlns:a16="http://schemas.microsoft.com/office/drawing/2014/main" id="{7EF893E3-7125-4900-B446-16E59753DB51}"/>
              </a:ext>
            </a:extLst>
          </p:cNvPr>
          <p:cNvSpPr>
            <a:spLocks noGrp="1"/>
          </p:cNvSpPr>
          <p:nvPr>
            <p:ph type="sldNum" sz="quarter" idx="10"/>
          </p:nvPr>
        </p:nvSpPr>
        <p:spPr/>
        <p:txBody>
          <a:bodyPr/>
          <a:lstStyle/>
          <a:p>
            <a:fld id="{FFDA1B5B-FD17-41CE-9005-2457CABDC26A}" type="slidenum">
              <a:rPr lang="en-US" smtClean="0"/>
              <a:t>35</a:t>
            </a:fld>
            <a:endParaRPr lang="en-US"/>
          </a:p>
        </p:txBody>
      </p:sp>
      <p:sp>
        <p:nvSpPr>
          <p:cNvPr id="4" name="Oval 3">
            <a:extLst>
              <a:ext uri="{FF2B5EF4-FFF2-40B4-BE49-F238E27FC236}">
                <a16:creationId xmlns:a16="http://schemas.microsoft.com/office/drawing/2014/main" id="{8CA0C907-FFD1-4744-BC94-7346323C8A8F}"/>
              </a:ext>
            </a:extLst>
          </p:cNvPr>
          <p:cNvSpPr/>
          <p:nvPr/>
        </p:nvSpPr>
        <p:spPr>
          <a:xfrm>
            <a:off x="9621078" y="1192696"/>
            <a:ext cx="1485365" cy="110856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dirty="0"/>
              <a:t>5</a:t>
            </a:r>
          </a:p>
        </p:txBody>
      </p:sp>
    </p:spTree>
    <p:extLst>
      <p:ext uri="{BB962C8B-B14F-4D97-AF65-F5344CB8AC3E}">
        <p14:creationId xmlns:p14="http://schemas.microsoft.com/office/powerpoint/2010/main" val="26047115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5C4B9-2FDA-4298-9001-2E32271D4D52}"/>
              </a:ext>
            </a:extLst>
          </p:cNvPr>
          <p:cNvSpPr>
            <a:spLocks noGrp="1"/>
          </p:cNvSpPr>
          <p:nvPr>
            <p:ph type="title"/>
          </p:nvPr>
        </p:nvSpPr>
        <p:spPr>
          <a:xfrm>
            <a:off x="1981705" y="2208886"/>
            <a:ext cx="6726068" cy="2161778"/>
          </a:xfrm>
        </p:spPr>
        <p:txBody>
          <a:bodyPr>
            <a:normAutofit fontScale="90000"/>
          </a:bodyPr>
          <a:lstStyle/>
          <a:p>
            <a:r>
              <a:rPr lang="en-US" dirty="0"/>
              <a:t>Using same event handler</a:t>
            </a:r>
            <a:br>
              <a:rPr lang="en-US" dirty="0"/>
            </a:br>
            <a:r>
              <a:rPr lang="en-US" dirty="0"/>
              <a:t> for multiple buttons!</a:t>
            </a:r>
            <a:br>
              <a:rPr lang="en-US" dirty="0"/>
            </a:br>
            <a:r>
              <a:rPr lang="en-US" dirty="0"/>
              <a:t>(based on JavaScript closure) </a:t>
            </a:r>
          </a:p>
        </p:txBody>
      </p:sp>
      <p:sp>
        <p:nvSpPr>
          <p:cNvPr id="3" name="Slide Number Placeholder 2">
            <a:extLst>
              <a:ext uri="{FF2B5EF4-FFF2-40B4-BE49-F238E27FC236}">
                <a16:creationId xmlns:a16="http://schemas.microsoft.com/office/drawing/2014/main" id="{AD129FEE-FFFA-4719-8177-98CB3FFD7EE3}"/>
              </a:ext>
            </a:extLst>
          </p:cNvPr>
          <p:cNvSpPr>
            <a:spLocks noGrp="1"/>
          </p:cNvSpPr>
          <p:nvPr>
            <p:ph type="sldNum" sz="quarter" idx="10"/>
          </p:nvPr>
        </p:nvSpPr>
        <p:spPr/>
        <p:txBody>
          <a:bodyPr/>
          <a:lstStyle/>
          <a:p>
            <a:fld id="{FFDA1B5B-FD17-41CE-9005-2457CABDC26A}" type="slidenum">
              <a:rPr lang="en-US" smtClean="0"/>
              <a:t>36</a:t>
            </a:fld>
            <a:endParaRPr lang="en-US"/>
          </a:p>
        </p:txBody>
      </p:sp>
    </p:spTree>
    <p:extLst>
      <p:ext uri="{BB962C8B-B14F-4D97-AF65-F5344CB8AC3E}">
        <p14:creationId xmlns:p14="http://schemas.microsoft.com/office/powerpoint/2010/main" val="24723509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40DC0-6C76-40B7-8E78-592A56F7E5D8}"/>
              </a:ext>
            </a:extLst>
          </p:cNvPr>
          <p:cNvSpPr>
            <a:spLocks noGrp="1"/>
          </p:cNvSpPr>
          <p:nvPr>
            <p:ph type="title"/>
          </p:nvPr>
        </p:nvSpPr>
        <p:spPr/>
        <p:txBody>
          <a:bodyPr>
            <a:normAutofit fontScale="90000"/>
          </a:bodyPr>
          <a:lstStyle/>
          <a:p>
            <a:r>
              <a:rPr lang="en-US" dirty="0"/>
              <a:t>Passing parameters to Event handlers </a:t>
            </a:r>
          </a:p>
        </p:txBody>
      </p:sp>
      <p:sp>
        <p:nvSpPr>
          <p:cNvPr id="3" name="Slide Number Placeholder 2">
            <a:extLst>
              <a:ext uri="{FF2B5EF4-FFF2-40B4-BE49-F238E27FC236}">
                <a16:creationId xmlns:a16="http://schemas.microsoft.com/office/drawing/2014/main" id="{F39766A8-0B0B-4EE2-8C8C-9E9E24308C6D}"/>
              </a:ext>
            </a:extLst>
          </p:cNvPr>
          <p:cNvSpPr>
            <a:spLocks noGrp="1"/>
          </p:cNvSpPr>
          <p:nvPr>
            <p:ph type="sldNum" sz="quarter" idx="10"/>
          </p:nvPr>
        </p:nvSpPr>
        <p:spPr/>
        <p:txBody>
          <a:bodyPr/>
          <a:lstStyle/>
          <a:p>
            <a:fld id="{FFDA1B5B-FD17-41CE-9005-2457CABDC26A}" type="slidenum">
              <a:rPr lang="en-US" smtClean="0"/>
              <a:t>37</a:t>
            </a:fld>
            <a:endParaRPr lang="en-US"/>
          </a:p>
        </p:txBody>
      </p:sp>
      <p:sp>
        <p:nvSpPr>
          <p:cNvPr id="4" name="Text Placeholder 3">
            <a:extLst>
              <a:ext uri="{FF2B5EF4-FFF2-40B4-BE49-F238E27FC236}">
                <a16:creationId xmlns:a16="http://schemas.microsoft.com/office/drawing/2014/main" id="{5993281B-DFE3-425E-9365-50F38CDABFD8}"/>
              </a:ext>
            </a:extLst>
          </p:cNvPr>
          <p:cNvSpPr>
            <a:spLocks noGrp="1"/>
          </p:cNvSpPr>
          <p:nvPr>
            <p:ph type="body" sz="quarter" idx="11"/>
          </p:nvPr>
        </p:nvSpPr>
        <p:spPr>
          <a:xfrm>
            <a:off x="169682" y="688157"/>
            <a:ext cx="11928836" cy="2306713"/>
          </a:xfrm>
        </p:spPr>
        <p:txBody>
          <a:bodyPr/>
          <a:lstStyle/>
          <a:p>
            <a:r>
              <a:rPr lang="en-US" dirty="0"/>
              <a:t>Remember we said if function name is followed with brackets, it gets executed immediately e.g. </a:t>
            </a:r>
            <a:r>
              <a:rPr lang="en-US" dirty="0" err="1"/>
              <a:t>myFunc</a:t>
            </a:r>
            <a:r>
              <a:rPr lang="en-US" dirty="0"/>
              <a:t>(). </a:t>
            </a:r>
          </a:p>
          <a:p>
            <a:r>
              <a:rPr lang="en-US" dirty="0"/>
              <a:t>A function can return a number, a string , a Boolean </a:t>
            </a:r>
            <a:r>
              <a:rPr lang="en-US" b="1" dirty="0"/>
              <a:t>or even a function</a:t>
            </a:r>
            <a:r>
              <a:rPr lang="en-US" dirty="0"/>
              <a:t>!!!</a:t>
            </a:r>
          </a:p>
          <a:p>
            <a:r>
              <a:rPr lang="en-US" dirty="0"/>
              <a:t>Yes a function in JS can return a function!!!!</a:t>
            </a:r>
          </a:p>
          <a:p>
            <a:r>
              <a:rPr lang="en-US" dirty="0"/>
              <a:t>Based in these two here is an example where parameters were passed to same  function handling events for two buttons: </a:t>
            </a:r>
          </a:p>
        </p:txBody>
      </p:sp>
      <p:pic>
        <p:nvPicPr>
          <p:cNvPr id="5" name="Picture 4">
            <a:extLst>
              <a:ext uri="{FF2B5EF4-FFF2-40B4-BE49-F238E27FC236}">
                <a16:creationId xmlns:a16="http://schemas.microsoft.com/office/drawing/2014/main" id="{68B89E95-9060-4F02-91FF-94F3B6E1D979}"/>
              </a:ext>
            </a:extLst>
          </p:cNvPr>
          <p:cNvPicPr>
            <a:picLocks noChangeAspect="1"/>
          </p:cNvPicPr>
          <p:nvPr/>
        </p:nvPicPr>
        <p:blipFill>
          <a:blip r:embed="rId2"/>
          <a:stretch>
            <a:fillRect/>
          </a:stretch>
        </p:blipFill>
        <p:spPr>
          <a:xfrm>
            <a:off x="92383" y="3557073"/>
            <a:ext cx="7259063" cy="3096057"/>
          </a:xfrm>
          <a:prstGeom prst="rect">
            <a:avLst/>
          </a:prstGeom>
        </p:spPr>
      </p:pic>
      <p:sp>
        <p:nvSpPr>
          <p:cNvPr id="6" name="Rectangle 5">
            <a:extLst>
              <a:ext uri="{FF2B5EF4-FFF2-40B4-BE49-F238E27FC236}">
                <a16:creationId xmlns:a16="http://schemas.microsoft.com/office/drawing/2014/main" id="{CF7A2A2E-0774-432B-A72C-99A801406CA2}"/>
              </a:ext>
            </a:extLst>
          </p:cNvPr>
          <p:cNvSpPr/>
          <p:nvPr/>
        </p:nvSpPr>
        <p:spPr>
          <a:xfrm>
            <a:off x="8716161" y="3355597"/>
            <a:ext cx="2684478" cy="2088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This is based on a feature of JavaScript called </a:t>
            </a:r>
            <a:r>
              <a:rPr lang="en-US" b="1" i="1" dirty="0"/>
              <a:t>closure</a:t>
            </a:r>
            <a:r>
              <a:rPr lang="en-US" dirty="0"/>
              <a:t>.</a:t>
            </a:r>
          </a:p>
          <a:p>
            <a:endParaRPr lang="en-US" dirty="0"/>
          </a:p>
          <a:p>
            <a:r>
              <a:rPr lang="en-US" dirty="0"/>
              <a:t>Variable a is assessable in the function returned by the enclosing function </a:t>
            </a:r>
          </a:p>
        </p:txBody>
      </p:sp>
    </p:spTree>
    <p:extLst>
      <p:ext uri="{BB962C8B-B14F-4D97-AF65-F5344CB8AC3E}">
        <p14:creationId xmlns:p14="http://schemas.microsoft.com/office/powerpoint/2010/main" val="1700590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5C4B9-2FDA-4298-9001-2E32271D4D52}"/>
              </a:ext>
            </a:extLst>
          </p:cNvPr>
          <p:cNvSpPr>
            <a:spLocks noGrp="1"/>
          </p:cNvSpPr>
          <p:nvPr>
            <p:ph type="title"/>
          </p:nvPr>
        </p:nvSpPr>
        <p:spPr>
          <a:xfrm>
            <a:off x="1981705" y="2208886"/>
            <a:ext cx="6726068" cy="1582939"/>
          </a:xfrm>
        </p:spPr>
        <p:txBody>
          <a:bodyPr>
            <a:normAutofit fontScale="90000"/>
          </a:bodyPr>
          <a:lstStyle/>
          <a:p>
            <a:r>
              <a:rPr lang="en-US" dirty="0"/>
              <a:t>Object constructor with methods ( another example was given in lecture 1)</a:t>
            </a:r>
          </a:p>
        </p:txBody>
      </p:sp>
      <p:sp>
        <p:nvSpPr>
          <p:cNvPr id="3" name="Slide Number Placeholder 2">
            <a:extLst>
              <a:ext uri="{FF2B5EF4-FFF2-40B4-BE49-F238E27FC236}">
                <a16:creationId xmlns:a16="http://schemas.microsoft.com/office/drawing/2014/main" id="{AD129FEE-FFFA-4719-8177-98CB3FFD7EE3}"/>
              </a:ext>
            </a:extLst>
          </p:cNvPr>
          <p:cNvSpPr>
            <a:spLocks noGrp="1"/>
          </p:cNvSpPr>
          <p:nvPr>
            <p:ph type="sldNum" sz="quarter" idx="10"/>
          </p:nvPr>
        </p:nvSpPr>
        <p:spPr/>
        <p:txBody>
          <a:bodyPr/>
          <a:lstStyle/>
          <a:p>
            <a:fld id="{FFDA1B5B-FD17-41CE-9005-2457CABDC26A}" type="slidenum">
              <a:rPr lang="en-US" smtClean="0"/>
              <a:t>38</a:t>
            </a:fld>
            <a:endParaRPr lang="en-US"/>
          </a:p>
        </p:txBody>
      </p:sp>
    </p:spTree>
    <p:extLst>
      <p:ext uri="{BB962C8B-B14F-4D97-AF65-F5344CB8AC3E}">
        <p14:creationId xmlns:p14="http://schemas.microsoft.com/office/powerpoint/2010/main" val="17153606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2A770-3696-48E0-A078-765BC0231133}"/>
              </a:ext>
            </a:extLst>
          </p:cNvPr>
          <p:cNvSpPr>
            <a:spLocks noGrp="1"/>
          </p:cNvSpPr>
          <p:nvPr>
            <p:ph type="title"/>
          </p:nvPr>
        </p:nvSpPr>
        <p:spPr>
          <a:xfrm>
            <a:off x="298696" y="783990"/>
            <a:ext cx="4184204" cy="945375"/>
          </a:xfrm>
        </p:spPr>
        <p:txBody>
          <a:bodyPr>
            <a:noAutofit/>
          </a:bodyPr>
          <a:lstStyle/>
          <a:p>
            <a:r>
              <a:rPr lang="en-US" sz="3200" dirty="0"/>
              <a:t>Example: Object constructor</a:t>
            </a:r>
            <a:br>
              <a:rPr lang="en-US" sz="3200" dirty="0"/>
            </a:br>
            <a:r>
              <a:rPr lang="en-US" sz="3200" dirty="0"/>
              <a:t>with methods</a:t>
            </a:r>
            <a:br>
              <a:rPr lang="en-US" sz="3200" dirty="0"/>
            </a:br>
            <a:r>
              <a:rPr lang="en-US" sz="3200" dirty="0"/>
              <a:t>(this is old way, you can now use classes in JS)</a:t>
            </a:r>
          </a:p>
        </p:txBody>
      </p:sp>
      <p:sp>
        <p:nvSpPr>
          <p:cNvPr id="3" name="Slide Number Placeholder 2">
            <a:extLst>
              <a:ext uri="{FF2B5EF4-FFF2-40B4-BE49-F238E27FC236}">
                <a16:creationId xmlns:a16="http://schemas.microsoft.com/office/drawing/2014/main" id="{71313D6E-5456-4EF0-A20A-2D4ACA3EC46C}"/>
              </a:ext>
            </a:extLst>
          </p:cNvPr>
          <p:cNvSpPr>
            <a:spLocks noGrp="1"/>
          </p:cNvSpPr>
          <p:nvPr>
            <p:ph type="sldNum" sz="quarter" idx="10"/>
          </p:nvPr>
        </p:nvSpPr>
        <p:spPr/>
        <p:txBody>
          <a:bodyPr/>
          <a:lstStyle/>
          <a:p>
            <a:fld id="{FFDA1B5B-FD17-41CE-9005-2457CABDC26A}" type="slidenum">
              <a:rPr lang="en-US" smtClean="0"/>
              <a:t>39</a:t>
            </a:fld>
            <a:endParaRPr lang="en-US"/>
          </a:p>
        </p:txBody>
      </p:sp>
      <p:pic>
        <p:nvPicPr>
          <p:cNvPr id="5" name="Picture 4">
            <a:extLst>
              <a:ext uri="{FF2B5EF4-FFF2-40B4-BE49-F238E27FC236}">
                <a16:creationId xmlns:a16="http://schemas.microsoft.com/office/drawing/2014/main" id="{4B0864D7-8526-490D-9E3B-66FBA677BEA2}"/>
              </a:ext>
            </a:extLst>
          </p:cNvPr>
          <p:cNvPicPr>
            <a:picLocks noChangeAspect="1"/>
          </p:cNvPicPr>
          <p:nvPr/>
        </p:nvPicPr>
        <p:blipFill>
          <a:blip r:embed="rId2"/>
          <a:stretch>
            <a:fillRect/>
          </a:stretch>
        </p:blipFill>
        <p:spPr>
          <a:xfrm>
            <a:off x="4418515" y="79963"/>
            <a:ext cx="7773485" cy="6573167"/>
          </a:xfrm>
          <a:prstGeom prst="rect">
            <a:avLst/>
          </a:prstGeom>
        </p:spPr>
      </p:pic>
      <p:sp>
        <p:nvSpPr>
          <p:cNvPr id="4" name="Text Placeholder 3">
            <a:extLst>
              <a:ext uri="{FF2B5EF4-FFF2-40B4-BE49-F238E27FC236}">
                <a16:creationId xmlns:a16="http://schemas.microsoft.com/office/drawing/2014/main" id="{13088A74-3842-4883-8238-14FF6F094AD6}"/>
              </a:ext>
            </a:extLst>
          </p:cNvPr>
          <p:cNvSpPr>
            <a:spLocks noGrp="1"/>
          </p:cNvSpPr>
          <p:nvPr>
            <p:ph type="body" sz="quarter" idx="11"/>
          </p:nvPr>
        </p:nvSpPr>
        <p:spPr>
          <a:xfrm>
            <a:off x="169683" y="2416030"/>
            <a:ext cx="3622142" cy="1280006"/>
          </a:xfrm>
        </p:spPr>
        <p:txBody>
          <a:bodyPr/>
          <a:lstStyle/>
          <a:p>
            <a:pPr marL="0" indent="0">
              <a:buNone/>
            </a:pPr>
            <a:r>
              <a:rPr lang="en-US" dirty="0">
                <a:highlight>
                  <a:srgbClr val="FFFF00"/>
                </a:highlight>
              </a:rPr>
              <a:t>Q: </a:t>
            </a:r>
            <a:r>
              <a:rPr lang="en-US" dirty="0"/>
              <a:t>What does this code snippet do?</a:t>
            </a:r>
          </a:p>
        </p:txBody>
      </p:sp>
      <p:cxnSp>
        <p:nvCxnSpPr>
          <p:cNvPr id="8" name="Straight Arrow Connector 7">
            <a:extLst>
              <a:ext uri="{FF2B5EF4-FFF2-40B4-BE49-F238E27FC236}">
                <a16:creationId xmlns:a16="http://schemas.microsoft.com/office/drawing/2014/main" id="{877B296C-AB51-4293-B954-C6DF7030AEF6}"/>
              </a:ext>
            </a:extLst>
          </p:cNvPr>
          <p:cNvCxnSpPr>
            <a:cxnSpLocks/>
          </p:cNvCxnSpPr>
          <p:nvPr/>
        </p:nvCxnSpPr>
        <p:spPr>
          <a:xfrm>
            <a:off x="2113543" y="2722880"/>
            <a:ext cx="2813974" cy="4819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4D1DB2D9-49EE-4DC0-9DCC-6820C458800B}"/>
                  </a:ext>
                </a:extLst>
              </p14:cNvPr>
              <p14:cNvContentPartPr/>
              <p14:nvPr/>
            </p14:nvContentPartPr>
            <p14:xfrm>
              <a:off x="3727440" y="0"/>
              <a:ext cx="5886720" cy="6769440"/>
            </p14:xfrm>
          </p:contentPart>
        </mc:Choice>
        <mc:Fallback xmlns="">
          <p:pic>
            <p:nvPicPr>
              <p:cNvPr id="6" name="Ink 5">
                <a:extLst>
                  <a:ext uri="{FF2B5EF4-FFF2-40B4-BE49-F238E27FC236}">
                    <a16:creationId xmlns:a16="http://schemas.microsoft.com/office/drawing/2014/main" id="{4D1DB2D9-49EE-4DC0-9DCC-6820C458800B}"/>
                  </a:ext>
                </a:extLst>
              </p:cNvPr>
              <p:cNvPicPr/>
              <p:nvPr/>
            </p:nvPicPr>
            <p:blipFill>
              <a:blip r:embed="rId4"/>
              <a:stretch>
                <a:fillRect/>
              </a:stretch>
            </p:blipFill>
            <p:spPr>
              <a:xfrm>
                <a:off x="3718080" y="-9360"/>
                <a:ext cx="5905440" cy="6788160"/>
              </a:xfrm>
              <a:prstGeom prst="rect">
                <a:avLst/>
              </a:prstGeom>
            </p:spPr>
          </p:pic>
        </mc:Fallback>
      </mc:AlternateContent>
    </p:spTree>
    <p:extLst>
      <p:ext uri="{BB962C8B-B14F-4D97-AF65-F5344CB8AC3E}">
        <p14:creationId xmlns:p14="http://schemas.microsoft.com/office/powerpoint/2010/main" val="28858252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D4C85-6283-49C0-A444-2FE07DEC6D40}"/>
              </a:ext>
            </a:extLst>
          </p:cNvPr>
          <p:cNvSpPr>
            <a:spLocks noGrp="1"/>
          </p:cNvSpPr>
          <p:nvPr>
            <p:ph type="title"/>
          </p:nvPr>
        </p:nvSpPr>
        <p:spPr/>
        <p:txBody>
          <a:bodyPr>
            <a:normAutofit fontScale="90000"/>
          </a:bodyPr>
          <a:lstStyle/>
          <a:p>
            <a:r>
              <a:rPr lang="en-US" dirty="0"/>
              <a:t>References</a:t>
            </a:r>
          </a:p>
        </p:txBody>
      </p:sp>
      <p:sp>
        <p:nvSpPr>
          <p:cNvPr id="3" name="Slide Number Placeholder 2">
            <a:extLst>
              <a:ext uri="{FF2B5EF4-FFF2-40B4-BE49-F238E27FC236}">
                <a16:creationId xmlns:a16="http://schemas.microsoft.com/office/drawing/2014/main" id="{9D9B3C4B-26E6-4868-9A78-EC5657E3FEF1}"/>
              </a:ext>
            </a:extLst>
          </p:cNvPr>
          <p:cNvSpPr>
            <a:spLocks noGrp="1"/>
          </p:cNvSpPr>
          <p:nvPr>
            <p:ph type="sldNum" sz="quarter" idx="10"/>
          </p:nvPr>
        </p:nvSpPr>
        <p:spPr/>
        <p:txBody>
          <a:bodyPr/>
          <a:lstStyle/>
          <a:p>
            <a:fld id="{FFDA1B5B-FD17-41CE-9005-2457CABDC26A}" type="slidenum">
              <a:rPr lang="en-US" smtClean="0"/>
              <a:t>40</a:t>
            </a:fld>
            <a:endParaRPr lang="en-US"/>
          </a:p>
        </p:txBody>
      </p:sp>
      <p:sp>
        <p:nvSpPr>
          <p:cNvPr id="4" name="Text Placeholder 3">
            <a:extLst>
              <a:ext uri="{FF2B5EF4-FFF2-40B4-BE49-F238E27FC236}">
                <a16:creationId xmlns:a16="http://schemas.microsoft.com/office/drawing/2014/main" id="{23522BA6-A6AE-479C-9052-3F0CEA080E5E}"/>
              </a:ext>
            </a:extLst>
          </p:cNvPr>
          <p:cNvSpPr>
            <a:spLocks noGrp="1"/>
          </p:cNvSpPr>
          <p:nvPr>
            <p:ph type="body" sz="quarter" idx="11"/>
          </p:nvPr>
        </p:nvSpPr>
        <p:spPr/>
        <p:txBody>
          <a:bodyPr/>
          <a:lstStyle/>
          <a:p>
            <a:pPr rtl="0">
              <a:spcBef>
                <a:spcPts val="0"/>
              </a:spcBef>
              <a:spcAft>
                <a:spcPts val="0"/>
              </a:spcAft>
            </a:pPr>
            <a:endParaRPr lang="en-US" b="0" dirty="0">
              <a:effectLst/>
            </a:endParaRPr>
          </a:p>
          <a:p>
            <a:pPr rtl="0">
              <a:spcBef>
                <a:spcPts val="0"/>
              </a:spcBef>
              <a:spcAft>
                <a:spcPts val="0"/>
              </a:spcAft>
            </a:pPr>
            <a:r>
              <a:rPr lang="en-US" sz="1600" b="0" i="0" u="sng" strike="noStrike" dirty="0">
                <a:solidFill>
                  <a:srgbClr val="1155CC"/>
                </a:solidFill>
                <a:effectLst/>
                <a:latin typeface="Arial" panose="020B0604020202020204" pitchFamily="34" charset="0"/>
                <a:hlinkClick r:id="rId2"/>
              </a:rPr>
              <a:t>https://gearheart.io/articles/how-build-scalable-web-applications/</a:t>
            </a:r>
            <a:r>
              <a:rPr lang="en-US" sz="1600" b="0" i="0" u="none" strike="noStrike" dirty="0">
                <a:solidFill>
                  <a:srgbClr val="000000"/>
                </a:solidFill>
                <a:effectLst/>
                <a:latin typeface="Arial" panose="020B0604020202020204" pitchFamily="34" charset="0"/>
              </a:rPr>
              <a:t> </a:t>
            </a:r>
            <a:endParaRPr lang="en-US" sz="1600" b="0" dirty="0">
              <a:effectLst/>
            </a:endParaRPr>
          </a:p>
          <a:p>
            <a:pPr rtl="0">
              <a:spcBef>
                <a:spcPts val="0"/>
              </a:spcBef>
              <a:spcAft>
                <a:spcPts val="0"/>
              </a:spcAft>
            </a:pPr>
            <a:r>
              <a:rPr lang="en-US" sz="1600" b="0" i="0" u="sng" strike="noStrike" dirty="0">
                <a:solidFill>
                  <a:srgbClr val="1155CC"/>
                </a:solidFill>
                <a:effectLst/>
                <a:latin typeface="Arial" panose="020B0604020202020204" pitchFamily="34" charset="0"/>
                <a:hlinkClick r:id="rId3"/>
              </a:rPr>
              <a:t>https://www.cleveroad.com/blog/web-application-architecture</a:t>
            </a:r>
            <a:r>
              <a:rPr lang="en-US" sz="1600" b="0" i="0" u="none" strike="noStrike" dirty="0">
                <a:solidFill>
                  <a:srgbClr val="000000"/>
                </a:solidFill>
                <a:effectLst/>
                <a:latin typeface="Arial" panose="020B0604020202020204" pitchFamily="34" charset="0"/>
              </a:rPr>
              <a:t> </a:t>
            </a:r>
            <a:endParaRPr lang="en-US" sz="1600" b="0" dirty="0">
              <a:effectLst/>
            </a:endParaRPr>
          </a:p>
          <a:p>
            <a:pPr rtl="0">
              <a:spcBef>
                <a:spcPts val="0"/>
              </a:spcBef>
              <a:spcAft>
                <a:spcPts val="0"/>
              </a:spcAft>
            </a:pPr>
            <a:r>
              <a:rPr lang="en-US" sz="1600" b="0" i="0" u="sng" strike="noStrike" dirty="0">
                <a:solidFill>
                  <a:srgbClr val="1155CC"/>
                </a:solidFill>
                <a:effectLst/>
                <a:latin typeface="Arial" panose="020B0604020202020204" pitchFamily="34" charset="0"/>
                <a:hlinkClick r:id="rId4"/>
              </a:rPr>
              <a:t>https://stackify.com/web-application-architecture/</a:t>
            </a:r>
            <a:r>
              <a:rPr lang="en-US" sz="1600" b="0" i="0" u="none" strike="noStrike" dirty="0">
                <a:solidFill>
                  <a:srgbClr val="000000"/>
                </a:solidFill>
                <a:effectLst/>
                <a:latin typeface="Arial" panose="020B0604020202020204" pitchFamily="34" charset="0"/>
              </a:rPr>
              <a:t> </a:t>
            </a:r>
          </a:p>
          <a:p>
            <a:pPr rtl="0">
              <a:spcBef>
                <a:spcPts val="0"/>
              </a:spcBef>
              <a:spcAft>
                <a:spcPts val="0"/>
              </a:spcAft>
            </a:pPr>
            <a:r>
              <a:rPr lang="en-US" sz="1600" b="0" dirty="0">
                <a:effectLst/>
                <a:hlinkClick r:id="rId5"/>
              </a:rPr>
              <a:t>https://en.wikipedia.org/wiki/Software_architecture</a:t>
            </a:r>
            <a:r>
              <a:rPr lang="en-US" sz="1600" b="0" dirty="0">
                <a:effectLst/>
              </a:rPr>
              <a:t> </a:t>
            </a:r>
          </a:p>
          <a:p>
            <a:pPr rtl="0">
              <a:spcBef>
                <a:spcPts val="0"/>
              </a:spcBef>
              <a:spcAft>
                <a:spcPts val="0"/>
              </a:spcAft>
            </a:pPr>
            <a:r>
              <a:rPr lang="en-US" sz="1600" b="0" i="0" u="sng" strike="noStrike" dirty="0">
                <a:solidFill>
                  <a:srgbClr val="1155CC"/>
                </a:solidFill>
                <a:effectLst/>
                <a:latin typeface="Arial" panose="020B0604020202020204" pitchFamily="34" charset="0"/>
                <a:hlinkClick r:id="rId6"/>
              </a:rPr>
              <a:t>https://www.jinfonet.com/resources/bi-defined/3-tier-architecture-complete-overview/</a:t>
            </a:r>
            <a:r>
              <a:rPr lang="en-US" sz="1600" b="0" i="0" u="none" strike="noStrike" dirty="0">
                <a:solidFill>
                  <a:srgbClr val="000000"/>
                </a:solidFill>
                <a:effectLst/>
                <a:latin typeface="Arial" panose="020B0604020202020204" pitchFamily="34" charset="0"/>
              </a:rPr>
              <a:t> </a:t>
            </a:r>
            <a:endParaRPr lang="en-US" sz="1600" b="0" dirty="0">
              <a:effectLst/>
            </a:endParaRPr>
          </a:p>
          <a:p>
            <a:pPr rtl="0">
              <a:spcBef>
                <a:spcPts val="0"/>
              </a:spcBef>
              <a:spcAft>
                <a:spcPts val="0"/>
              </a:spcAft>
            </a:pPr>
            <a:r>
              <a:rPr lang="en-US" sz="1600" b="0" i="0" u="sng" strike="noStrike" dirty="0">
                <a:solidFill>
                  <a:srgbClr val="1155CC"/>
                </a:solidFill>
                <a:effectLst/>
                <a:latin typeface="Arial" panose="020B0604020202020204" pitchFamily="34" charset="0"/>
                <a:hlinkClick r:id="rId7"/>
              </a:rPr>
              <a:t>https://www.oreilly.com/library/view/software-architecture-patterns/9781491971437/ch01.html</a:t>
            </a:r>
            <a:r>
              <a:rPr lang="en-US" sz="1600" b="0" i="0" u="none" strike="noStrike" dirty="0">
                <a:solidFill>
                  <a:srgbClr val="000000"/>
                </a:solidFill>
                <a:effectLst/>
                <a:latin typeface="Arial" panose="020B0604020202020204" pitchFamily="34" charset="0"/>
              </a:rPr>
              <a:t> </a:t>
            </a:r>
            <a:endParaRPr lang="en-US" sz="1600" b="0" dirty="0">
              <a:effectLst/>
            </a:endParaRPr>
          </a:p>
          <a:p>
            <a:pPr rtl="0">
              <a:spcBef>
                <a:spcPts val="0"/>
              </a:spcBef>
              <a:spcAft>
                <a:spcPts val="0"/>
              </a:spcAft>
            </a:pPr>
            <a:r>
              <a:rPr lang="en-US" sz="1600" b="0" i="0" u="sng" strike="noStrike" dirty="0">
                <a:solidFill>
                  <a:srgbClr val="1155CC"/>
                </a:solidFill>
                <a:effectLst/>
                <a:latin typeface="Arial" panose="020B0604020202020204" pitchFamily="34" charset="0"/>
                <a:hlinkClick r:id="rId8"/>
              </a:rPr>
              <a:t>https://www.sciencedirect.com/topics/computer-science/presentation-logic</a:t>
            </a:r>
            <a:r>
              <a:rPr lang="en-US" sz="1600" b="0" i="0" u="none" strike="noStrike" dirty="0">
                <a:solidFill>
                  <a:srgbClr val="000000"/>
                </a:solidFill>
                <a:effectLst/>
                <a:latin typeface="Arial" panose="020B0604020202020204" pitchFamily="34" charset="0"/>
              </a:rPr>
              <a:t> </a:t>
            </a:r>
            <a:endParaRPr lang="en-US" sz="1600" b="0" dirty="0">
              <a:effectLst/>
            </a:endParaRPr>
          </a:p>
          <a:p>
            <a:pPr rtl="0">
              <a:spcBef>
                <a:spcPts val="0"/>
              </a:spcBef>
              <a:spcAft>
                <a:spcPts val="0"/>
              </a:spcAft>
            </a:pPr>
            <a:r>
              <a:rPr lang="en-US" sz="1600" b="0" i="0" u="sng" strike="noStrike" dirty="0">
                <a:solidFill>
                  <a:srgbClr val="1155CC"/>
                </a:solidFill>
                <a:effectLst/>
                <a:latin typeface="Arial" panose="020B0604020202020204" pitchFamily="34" charset="0"/>
                <a:hlinkClick r:id="rId9"/>
              </a:rPr>
              <a:t>https://lanars.com/blog/web-application-architecture-101</a:t>
            </a:r>
            <a:r>
              <a:rPr lang="en-US" sz="1600" b="0" i="0" u="none" strike="noStrike" dirty="0">
                <a:solidFill>
                  <a:srgbClr val="000000"/>
                </a:solidFill>
                <a:effectLst/>
                <a:latin typeface="Arial" panose="020B0604020202020204" pitchFamily="34" charset="0"/>
              </a:rPr>
              <a:t> </a:t>
            </a:r>
          </a:p>
          <a:p>
            <a:pPr rtl="0">
              <a:spcBef>
                <a:spcPts val="0"/>
              </a:spcBef>
              <a:spcAft>
                <a:spcPts val="0"/>
              </a:spcAft>
            </a:pPr>
            <a:r>
              <a:rPr lang="en-US" sz="1600" dirty="0">
                <a:solidFill>
                  <a:srgbClr val="000000"/>
                </a:solidFill>
                <a:latin typeface="Arial" panose="020B0604020202020204" pitchFamily="34" charset="0"/>
              </a:rPr>
              <a:t>ChatGPT was used for proofreading and content generation too </a:t>
            </a:r>
            <a:endParaRPr lang="en-US" sz="1600" b="0" dirty="0">
              <a:effectLst/>
            </a:endParaRPr>
          </a:p>
          <a:p>
            <a:pPr marL="0" indent="0">
              <a:buNone/>
            </a:pPr>
            <a:endParaRPr lang="en-US" dirty="0"/>
          </a:p>
        </p:txBody>
      </p:sp>
    </p:spTree>
    <p:extLst>
      <p:ext uri="{BB962C8B-B14F-4D97-AF65-F5344CB8AC3E}">
        <p14:creationId xmlns:p14="http://schemas.microsoft.com/office/powerpoint/2010/main" val="2371499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MP4711-1.potx" id="{7CC6098C-4DDF-41D0-9A76-950D95EF2A54}" vid="{2F67D0E4-2973-44AC-8815-DE94308997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COMP4711-Lecture-1</Template>
  <TotalTime>23402</TotalTime>
  <Words>3500</Words>
  <Application>Microsoft Office PowerPoint</Application>
  <PresentationFormat>Widescreen</PresentationFormat>
  <Paragraphs>361</Paragraphs>
  <Slides>40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Arial</vt:lpstr>
      <vt:lpstr>avenir-regular</vt:lpstr>
      <vt:lpstr>Calibri</vt:lpstr>
      <vt:lpstr>Comfortaa</vt:lpstr>
      <vt:lpstr>Consolas</vt:lpstr>
      <vt:lpstr>Google Sans</vt:lpstr>
      <vt:lpstr>HelveticaNeue</vt:lpstr>
      <vt:lpstr>Verdana</vt:lpstr>
      <vt:lpstr>Office Theme</vt:lpstr>
      <vt:lpstr>Adv Web Dev Architecture  Lecture 2</vt:lpstr>
      <vt:lpstr>Outline</vt:lpstr>
      <vt:lpstr>What is internet software/Application Architecture?</vt:lpstr>
      <vt:lpstr>What are the benefits of studying architectural patterns?</vt:lpstr>
      <vt:lpstr>What are the benefits of studying architectural patterns? …</vt:lpstr>
      <vt:lpstr>PowerPoint Presentation</vt:lpstr>
      <vt:lpstr>Layered (n-Tier) Architecture</vt:lpstr>
      <vt:lpstr>Service Oriented Architecture (Microservice) </vt:lpstr>
      <vt:lpstr>Monolithic Architecture</vt:lpstr>
      <vt:lpstr>Microservice arch. pros and cons </vt:lpstr>
      <vt:lpstr>Summary and more by ChatGPT ( we need to verify ) </vt:lpstr>
      <vt:lpstr>PowerPoint Presentation</vt:lpstr>
      <vt:lpstr>PowerPoint Presentation</vt:lpstr>
      <vt:lpstr>PowerPoint Presentation</vt:lpstr>
      <vt:lpstr>PowerPoint Presentation</vt:lpstr>
      <vt:lpstr>Can we utilize multiple architectural pattern into one products ?1/3</vt:lpstr>
      <vt:lpstr>Can we utilize multiple architectural pattern into one products ? 2/3</vt:lpstr>
      <vt:lpstr>Can we utilize multiple architectural pattern into one products ? 3/3</vt:lpstr>
      <vt:lpstr>What we study in this course An API-Server with service based architecture    which is also RESTful Q: it fully rests ?</vt:lpstr>
      <vt:lpstr>Web architecture we use to develop our app in this course </vt:lpstr>
      <vt:lpstr>Learning outcome we seek from developing API centric architecture </vt:lpstr>
      <vt:lpstr>PowerPoint Presentation</vt:lpstr>
      <vt:lpstr>PowerPoint Presentation</vt:lpstr>
      <vt:lpstr>Lets get started ….</vt:lpstr>
      <vt:lpstr>JSON and HTML Web Storage </vt:lpstr>
      <vt:lpstr>Web Storage ( inside your browser, not server)</vt:lpstr>
      <vt:lpstr>localStorage vs sessionStorage</vt:lpstr>
      <vt:lpstr>The localStorage Object</vt:lpstr>
      <vt:lpstr>Example</vt:lpstr>
      <vt:lpstr>The localStorage Object Example/ writer.html </vt:lpstr>
      <vt:lpstr>The localStorage Object Example/ reader.html </vt:lpstr>
      <vt:lpstr>Question!</vt:lpstr>
      <vt:lpstr>JSON JavaScript Object Notation</vt:lpstr>
      <vt:lpstr>JSON or JavaScript Object Notation</vt:lpstr>
      <vt:lpstr>More programming Tips</vt:lpstr>
      <vt:lpstr>Using same event handler  for multiple buttons! (based on JavaScript closure) </vt:lpstr>
      <vt:lpstr>Passing parameters to Event handlers </vt:lpstr>
      <vt:lpstr>Object constructor with methods ( another example was given in lecture 1)</vt:lpstr>
      <vt:lpstr>Example: Object constructor with methods (this is old way, you can now use classes in JS)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god template</dc:title>
  <dc:creator>aa</dc:creator>
  <cp:lastModifiedBy>Amir Amintabar</cp:lastModifiedBy>
  <cp:revision>187</cp:revision>
  <dcterms:created xsi:type="dcterms:W3CDTF">2018-08-19T18:49:30Z</dcterms:created>
  <dcterms:modified xsi:type="dcterms:W3CDTF">2025-09-02T03:53:05Z</dcterms:modified>
</cp:coreProperties>
</file>