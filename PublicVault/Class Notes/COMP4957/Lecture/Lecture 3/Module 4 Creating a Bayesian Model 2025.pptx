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2" r:id="rId3"/>
    <p:sldId id="284" r:id="rId4"/>
    <p:sldId id="307" r:id="rId5"/>
    <p:sldId id="319" r:id="rId6"/>
    <p:sldId id="325" r:id="rId7"/>
    <p:sldId id="320" r:id="rId8"/>
    <p:sldId id="321" r:id="rId9"/>
    <p:sldId id="322" r:id="rId10"/>
    <p:sldId id="324" r:id="rId11"/>
    <p:sldId id="323" r:id="rId12"/>
    <p:sldId id="326" r:id="rId13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>
      <p:cViewPr varScale="1">
        <p:scale>
          <a:sx n="66" d="100"/>
          <a:sy n="66" d="100"/>
        </p:scale>
        <p:origin x="13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6BC78-63F5-42B5-B37C-94149D4727F5}" type="datetimeFigureOut">
              <a:rPr lang="en-CA" smtClean="0"/>
              <a:t>2025-09-16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B8D06-B77C-4F5E-99B8-C51B2304C43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1889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55105-574B-4732-8ED2-5E42F785DB1B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D0D93-16AF-4A2E-8B39-CB70D73EF73B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688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B6F0E-1F2B-4F57-AA7A-71D4615B3860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497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8288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347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4905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348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2318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868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8593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648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0878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341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28D32-A5AC-49CB-A312-8CBF8BC93DDE}" type="datetimeFigureOut">
              <a:rPr lang="en-US" smtClean="0"/>
              <a:pPr/>
              <a:t>9/16/2025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65111-A36F-4E4E-BCB4-AA47B0912A78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5829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815290" cy="1655765"/>
          </a:xfrm>
        </p:spPr>
        <p:txBody>
          <a:bodyPr>
            <a:normAutofit fontScale="90000"/>
          </a:bodyPr>
          <a:lstStyle/>
          <a:p>
            <a:r>
              <a:rPr lang="en-US" dirty="0"/>
              <a:t>User Modeling (</a:t>
            </a:r>
            <a:r>
              <a:rPr lang="en-US"/>
              <a:t>2)</a:t>
            </a:r>
            <a:br>
              <a:rPr lang="en-US"/>
            </a:br>
            <a:r>
              <a:rPr lang="en-US"/>
              <a:t>Creating a Bayesian Model </a:t>
            </a:r>
            <a:br>
              <a:rPr lang="en-US" dirty="0"/>
            </a:br>
            <a:endParaRPr 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Mirela Gutica</a:t>
            </a:r>
            <a:br>
              <a:rPr lang="en-US" sz="2000" dirty="0"/>
            </a:br>
            <a:r>
              <a:rPr lang="en-US" sz="2000" dirty="0"/>
              <a:t>Comp 4952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Technical Programming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Computer Science Technology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BCIT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Theorem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The Bayesian Theorem uses “conditional probabilities”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 (H|X)  =  (P(X|H)* P(H)) / P(X)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Where: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H  is the hypothesis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X is the data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 (H|X) is the posterior probability of H conditioned on X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P(H) is the prior probability of H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P(X|H) is the posterior probability of X conditioned on H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P(X) is the prior probability of X (or normalized constant)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 (H|X) = (likelihood *  prior)/ normalized constant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I have two bags each with 12 items. Bag 1 has  6 Kit-Kats and 6 Crispy cookies and bag 2 has 3 Kit-Kats and 9 Crispy cookies. I take one item from one of the two bags and it is a Kit-Kat. What is the probability that I took the candy from bag 2?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Solution: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Hypothesis: H1 = bag 1; H2 = bag 2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Formula: P (H2|X)  =  (P(X|H2)* P(H2)) / P(X)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Prior probability of a bag: P(H1) = P(H2) = 0.5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Posterior probability of a Kit-Kat candy conditioned on bag H1</a:t>
            </a:r>
          </a:p>
          <a:p>
            <a:pPr lvl="2">
              <a:lnSpc>
                <a:spcPct val="80000"/>
              </a:lnSpc>
            </a:pPr>
            <a:r>
              <a:rPr lang="en-US" sz="2000" dirty="0"/>
              <a:t>P(X|H1) = 6/12 = 1/2 = 0.5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Posterior probability of a Kit-Kat candy conditioned on bag H2</a:t>
            </a:r>
          </a:p>
          <a:p>
            <a:pPr lvl="2">
              <a:lnSpc>
                <a:spcPct val="80000"/>
              </a:lnSpc>
            </a:pPr>
            <a:r>
              <a:rPr lang="en-US" sz="2000" dirty="0"/>
              <a:t>P(X|H2) = 3/12 = ¼ = 0.25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Prior probability of a Kit-Kat candy from any bag: P(X) = P(H1)*P(X|H1)  + P(H2)*P(X|H2) =  0.5*0.5 + 0.5*0.25 = 0.25 + 0.125 = 0.375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P (H2|X)  = (0.25 * 0.5) /0.375= 0.125/0.375 = 0.33</a:t>
            </a:r>
          </a:p>
          <a:p>
            <a:pPr>
              <a:lnSpc>
                <a:spcPct val="80000"/>
              </a:lnSpc>
            </a:pPr>
            <a:endParaRPr lang="en-US" sz="1800" dirty="0"/>
          </a:p>
          <a:p>
            <a:pPr>
              <a:lnSpc>
                <a:spcPct val="80000"/>
              </a:lnSpc>
            </a:pPr>
            <a:endParaRPr lang="en-US" sz="1800" dirty="0"/>
          </a:p>
          <a:p>
            <a:pPr>
              <a:lnSpc>
                <a:spcPct val="80000"/>
              </a:lnSpc>
            </a:pPr>
            <a:endParaRPr lang="en-US" sz="1800" dirty="0"/>
          </a:p>
          <a:p>
            <a:pPr>
              <a:lnSpc>
                <a:spcPct val="80000"/>
              </a:lnSpc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1 (2)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4159"/>
            <a:ext cx="8229600" cy="482913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en-US" sz="2800" dirty="0"/>
              <a:t>P(H1) = P(H2) = 0.5</a:t>
            </a:r>
            <a:endParaRPr lang="pt-BR" sz="2800" dirty="0"/>
          </a:p>
          <a:p>
            <a:pPr marL="0" lvl="2" indent="0">
              <a:buNone/>
            </a:pPr>
            <a:r>
              <a:rPr lang="en-US" sz="2800" dirty="0"/>
              <a:t>P(X|H2) = 3/12 = ¼ = 0.25</a:t>
            </a:r>
          </a:p>
          <a:p>
            <a:pPr marL="0" indent="0">
              <a:buNone/>
            </a:pPr>
            <a:endParaRPr lang="pt-BR" sz="23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500" dirty="0"/>
              <a:t>P(X) = P(H1)*P(X|H1)  + P(H2)*P(X|H2) =  0.5*0.5 + 0.5*0.25 = 0.25 + 0.125 = 0.375</a:t>
            </a:r>
          </a:p>
          <a:p>
            <a:pPr marL="0" lvl="1" indent="0">
              <a:buNone/>
            </a:pPr>
            <a:endParaRPr lang="pt-BR" sz="2500" dirty="0"/>
          </a:p>
          <a:p>
            <a:pPr marL="0" lvl="1" indent="0">
              <a:buNone/>
            </a:pPr>
            <a:r>
              <a:rPr lang="en-US" sz="2500" dirty="0"/>
              <a:t>P (H2|X)  = (0.25 * 0.5) /0.375= 0.125/0.375 = 0.33</a:t>
            </a:r>
          </a:p>
          <a:p>
            <a:pPr marL="0" indent="0">
              <a:buNone/>
            </a:pPr>
            <a:endParaRPr lang="pt-BR" sz="25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8" name="Rectangle 7"/>
          <p:cNvSpPr/>
          <p:nvPr/>
        </p:nvSpPr>
        <p:spPr>
          <a:xfrm>
            <a:off x="6034985" y="4703889"/>
            <a:ext cx="136941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RC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4985" y="3737986"/>
            <a:ext cx="136941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KK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0349" y="2726186"/>
            <a:ext cx="136941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75468" y="1611213"/>
            <a:ext cx="136941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KK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4481" y="4057002"/>
            <a:ext cx="136941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Bag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4901" y="2582906"/>
            <a:ext cx="136941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Bag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212" y="3413950"/>
            <a:ext cx="136941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Bag 1 or 2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248047" y="2906942"/>
            <a:ext cx="1006854" cy="7560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3"/>
          </p:cNvCxnSpPr>
          <p:nvPr/>
        </p:nvCxnSpPr>
        <p:spPr>
          <a:xfrm>
            <a:off x="2214622" y="3737986"/>
            <a:ext cx="1006854" cy="6840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634374" y="1969689"/>
            <a:ext cx="1341094" cy="8112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624311" y="2828399"/>
            <a:ext cx="1341094" cy="324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693541" y="4133820"/>
            <a:ext cx="1341094" cy="252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3" idx="3"/>
            <a:endCxn id="8" idx="1"/>
          </p:cNvCxnSpPr>
          <p:nvPr/>
        </p:nvCxnSpPr>
        <p:spPr>
          <a:xfrm>
            <a:off x="4693891" y="4381038"/>
            <a:ext cx="1341094" cy="6468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356839" y="2772654"/>
            <a:ext cx="693159" cy="37978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0.5</a:t>
            </a:r>
          </a:p>
        </p:txBody>
      </p:sp>
      <p:sp>
        <p:nvSpPr>
          <p:cNvPr id="34" name="Oval 33"/>
          <p:cNvSpPr/>
          <p:nvPr/>
        </p:nvSpPr>
        <p:spPr>
          <a:xfrm>
            <a:off x="2298800" y="4246893"/>
            <a:ext cx="693159" cy="37978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0.5</a:t>
            </a:r>
          </a:p>
        </p:txBody>
      </p:sp>
      <p:sp>
        <p:nvSpPr>
          <p:cNvPr id="35" name="Oval 34"/>
          <p:cNvSpPr/>
          <p:nvPr/>
        </p:nvSpPr>
        <p:spPr>
          <a:xfrm>
            <a:off x="4901522" y="1879504"/>
            <a:ext cx="693159" cy="37978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0.5</a:t>
            </a:r>
          </a:p>
        </p:txBody>
      </p:sp>
      <p:sp>
        <p:nvSpPr>
          <p:cNvPr id="36" name="Oval 35"/>
          <p:cNvSpPr/>
          <p:nvPr/>
        </p:nvSpPr>
        <p:spPr>
          <a:xfrm>
            <a:off x="4932040" y="3095093"/>
            <a:ext cx="693159" cy="37978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0.5</a:t>
            </a:r>
          </a:p>
        </p:txBody>
      </p:sp>
      <p:sp>
        <p:nvSpPr>
          <p:cNvPr id="37" name="Oval 36"/>
          <p:cNvSpPr/>
          <p:nvPr/>
        </p:nvSpPr>
        <p:spPr>
          <a:xfrm>
            <a:off x="4932040" y="3867112"/>
            <a:ext cx="864096" cy="37978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0.25</a:t>
            </a:r>
          </a:p>
        </p:txBody>
      </p:sp>
      <p:sp>
        <p:nvSpPr>
          <p:cNvPr id="38" name="Oval 37"/>
          <p:cNvSpPr/>
          <p:nvPr/>
        </p:nvSpPr>
        <p:spPr>
          <a:xfrm>
            <a:off x="4905297" y="4725144"/>
            <a:ext cx="850287" cy="37978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0.75</a:t>
            </a:r>
          </a:p>
        </p:txBody>
      </p:sp>
    </p:spTree>
    <p:extLst>
      <p:ext uri="{BB962C8B-B14F-4D97-AF65-F5344CB8AC3E}">
        <p14:creationId xmlns:p14="http://schemas.microsoft.com/office/powerpoint/2010/main" val="303849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Naïve Bayes (</a:t>
            </a:r>
            <a:r>
              <a:rPr lang="en-CA" dirty="0" err="1"/>
              <a:t>cont</a:t>
            </a:r>
            <a:r>
              <a:rPr lang="en-CA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Naive Bayes is a simple supervised ML algorithm that uses the Bayes’ theorem</a:t>
            </a:r>
          </a:p>
          <a:p>
            <a:r>
              <a:rPr lang="en-CA" dirty="0"/>
              <a:t>It is suitable for text analysis</a:t>
            </a:r>
          </a:p>
          <a:p>
            <a:r>
              <a:rPr lang="en-CA" dirty="0"/>
              <a:t>It is called “Naïve” as it uses the assumption each predictor variable is independent</a:t>
            </a:r>
          </a:p>
          <a:p>
            <a:r>
              <a:rPr lang="en-CA" dirty="0"/>
              <a:t>Example: It will analyze the text as independent entities, e.g., :”I like COMP 4956” each word is independent</a:t>
            </a:r>
          </a:p>
          <a:p>
            <a:r>
              <a:rPr lang="en-CA" dirty="0"/>
              <a:t>It is used for classification</a:t>
            </a:r>
          </a:p>
          <a:p>
            <a:r>
              <a:rPr lang="en-CA" dirty="0"/>
              <a:t>It can predict to which category a particular item/data/case belongs</a:t>
            </a:r>
          </a:p>
          <a:p>
            <a:r>
              <a:rPr lang="en-CA" dirty="0"/>
              <a:t>The predicted variable is called a class and the possible values are </a:t>
            </a:r>
            <a:r>
              <a:rPr lang="en-CA"/>
              <a:t>called labels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33239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Naïve Bayes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Naive Bayes classifier assumes that the presence of a particular feature (predictor variable) in a class is unrelated to the presence of any other feature (predictor variable)</a:t>
            </a:r>
          </a:p>
          <a:p>
            <a:r>
              <a:rPr lang="en-CA" dirty="0"/>
              <a:t>Naive Bayes can be extremely fast relative to other classification algorithms</a:t>
            </a:r>
          </a:p>
          <a:p>
            <a:r>
              <a:rPr lang="en-CA" dirty="0"/>
              <a:t>Bayes classifiers are generally accurate; however, they can achieve high accuracy levels when coupled with kernel density estimation</a:t>
            </a:r>
          </a:p>
        </p:txBody>
      </p:sp>
    </p:spTree>
    <p:extLst>
      <p:ext uri="{BB962C8B-B14F-4D97-AF65-F5344CB8AC3E}">
        <p14:creationId xmlns:p14="http://schemas.microsoft.com/office/powerpoint/2010/main" val="45074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Let’s assume that we have a data set that we use to train our classifier</a:t>
            </a:r>
          </a:p>
          <a:p>
            <a:r>
              <a:rPr lang="en-CA" dirty="0"/>
              <a:t>Let’s assume that we want to predict the graduation success based on:</a:t>
            </a:r>
          </a:p>
          <a:p>
            <a:pPr lvl="1"/>
            <a:r>
              <a:rPr lang="en-CA" dirty="0"/>
              <a:t>Grades in year 1 courses:</a:t>
            </a:r>
          </a:p>
          <a:p>
            <a:pPr lvl="2"/>
            <a:r>
              <a:rPr lang="en-CA" dirty="0"/>
              <a:t>Less than 50 – “fail”</a:t>
            </a:r>
          </a:p>
          <a:p>
            <a:pPr lvl="2"/>
            <a:r>
              <a:rPr lang="en-CA" dirty="0"/>
              <a:t>[50 – 65) – “low”</a:t>
            </a:r>
          </a:p>
          <a:p>
            <a:pPr lvl="2"/>
            <a:r>
              <a:rPr lang="en-CA" dirty="0"/>
              <a:t>[65 – 80) – “medium”</a:t>
            </a:r>
          </a:p>
          <a:p>
            <a:pPr lvl="2"/>
            <a:r>
              <a:rPr lang="en-CA" dirty="0"/>
              <a:t>[80 – 100] – “high”</a:t>
            </a:r>
          </a:p>
          <a:p>
            <a:pPr marL="685800" lvl="2" indent="0">
              <a:buNone/>
            </a:pPr>
            <a:r>
              <a:rPr lang="en-CA" dirty="0"/>
              <a:t> </a:t>
            </a:r>
          </a:p>
          <a:p>
            <a:pPr lvl="1"/>
            <a:r>
              <a:rPr lang="en-CA" dirty="0"/>
              <a:t>Gym attendance as recorded at school: </a:t>
            </a:r>
          </a:p>
          <a:p>
            <a:pPr lvl="2"/>
            <a:r>
              <a:rPr lang="en-CA" dirty="0"/>
              <a:t>"no", "monthly", "weekly", "daily“</a:t>
            </a:r>
          </a:p>
          <a:p>
            <a:r>
              <a:rPr lang="en-CA" dirty="0"/>
              <a:t>Graduation success:</a:t>
            </a:r>
          </a:p>
          <a:p>
            <a:pPr lvl="1"/>
            <a:r>
              <a:rPr lang="en-CA" dirty="0"/>
              <a:t>“0” – no graduation</a:t>
            </a:r>
          </a:p>
          <a:p>
            <a:pPr lvl="1"/>
            <a:r>
              <a:rPr lang="en-CA" dirty="0"/>
              <a:t>“1” – graduation</a:t>
            </a:r>
          </a:p>
          <a:p>
            <a:r>
              <a:rPr lang="en-CA" dirty="0"/>
              <a:t>Let’s predict the graduation success of a student who scores "high“ in COMP 1510, "low“ in COMP 2121, doesn’t attend gym ("no“)</a:t>
            </a:r>
          </a:p>
        </p:txBody>
      </p:sp>
    </p:spTree>
    <p:extLst>
      <p:ext uri="{BB962C8B-B14F-4D97-AF65-F5344CB8AC3E}">
        <p14:creationId xmlns:p14="http://schemas.microsoft.com/office/powerpoint/2010/main" val="3969896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is a binary classification</a:t>
            </a:r>
          </a:p>
          <a:p>
            <a:pPr lvl="1"/>
            <a:r>
              <a:rPr lang="en-CA" dirty="0"/>
              <a:t>A multiclass classification happens if the predicted variable (class) has more values (labels)</a:t>
            </a:r>
          </a:p>
          <a:p>
            <a:r>
              <a:rPr lang="en-CA" dirty="0"/>
              <a:t>All data (predictor variables and the class) values should be categorical (strings) </a:t>
            </a:r>
          </a:p>
          <a:p>
            <a:r>
              <a:rPr lang="en-CA" dirty="0"/>
              <a:t>A matrix should be computed that includes the data points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42203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First, the data set is converted into a frequency table that includes the joint counts</a:t>
            </a:r>
          </a:p>
          <a:p>
            <a:r>
              <a:rPr lang="en-CA" dirty="0"/>
              <a:t>Calculation of the class counts for both situations: graduation (“1”) and non-graduation success (“0”)</a:t>
            </a:r>
          </a:p>
          <a:p>
            <a:pPr lvl="1"/>
            <a:r>
              <a:rPr lang="en-CA" dirty="0"/>
              <a:t>No graduation “0” 		19</a:t>
            </a:r>
          </a:p>
          <a:p>
            <a:pPr lvl="1"/>
            <a:r>
              <a:rPr lang="en-CA" dirty="0"/>
              <a:t>Graduation “1”			21</a:t>
            </a:r>
          </a:p>
          <a:p>
            <a:r>
              <a:rPr lang="en-CA" dirty="0"/>
              <a:t>The joint counts are:</a:t>
            </a:r>
          </a:p>
          <a:p>
            <a:pPr lvl="1"/>
            <a:r>
              <a:rPr lang="en-CA" dirty="0"/>
              <a:t>High (COMP 1510) and “0”	1	</a:t>
            </a:r>
          </a:p>
          <a:p>
            <a:pPr lvl="1"/>
            <a:r>
              <a:rPr lang="en-CA" dirty="0"/>
              <a:t>High (COMP 1510) and “1”	14</a:t>
            </a:r>
          </a:p>
          <a:p>
            <a:pPr lvl="1"/>
            <a:r>
              <a:rPr lang="en-CA" dirty="0"/>
              <a:t>Low (COMP 2121) and “0”	9</a:t>
            </a:r>
          </a:p>
          <a:p>
            <a:pPr lvl="1"/>
            <a:r>
              <a:rPr lang="en-CA" dirty="0"/>
              <a:t>Low (COMP 2121) and “1”	6</a:t>
            </a:r>
          </a:p>
          <a:p>
            <a:pPr lvl="1"/>
            <a:r>
              <a:rPr lang="en-CA" dirty="0"/>
              <a:t>“no” gym and “0”		9</a:t>
            </a:r>
          </a:p>
          <a:p>
            <a:pPr lvl="1"/>
            <a:r>
              <a:rPr lang="en-CA" dirty="0"/>
              <a:t>“no” gym and “1”		1</a:t>
            </a:r>
          </a:p>
          <a:p>
            <a:r>
              <a:rPr lang="en-CA" dirty="0"/>
              <a:t>Total per class:</a:t>
            </a:r>
          </a:p>
          <a:p>
            <a:pPr lvl="1"/>
            <a:r>
              <a:rPr lang="en-CA" dirty="0"/>
              <a:t>High (COMP 1510) 		15</a:t>
            </a:r>
          </a:p>
          <a:p>
            <a:pPr lvl="1"/>
            <a:r>
              <a:rPr lang="en-CA" dirty="0"/>
              <a:t>Low (COMP 2121)		15</a:t>
            </a:r>
          </a:p>
          <a:p>
            <a:pPr lvl="1"/>
            <a:r>
              <a:rPr lang="en-CA" dirty="0"/>
              <a:t>no” gym				10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97202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 Laplacian smoothing:</a:t>
            </a:r>
          </a:p>
          <a:p>
            <a:pPr lvl="1"/>
            <a:r>
              <a:rPr lang="en-CA" dirty="0"/>
              <a:t>1 is added to each joint count to prevent multiplication by zero</a:t>
            </a:r>
          </a:p>
          <a:p>
            <a:r>
              <a:rPr lang="en-CA" dirty="0"/>
              <a:t>The joint counts are:</a:t>
            </a:r>
          </a:p>
          <a:p>
            <a:pPr lvl="1"/>
            <a:r>
              <a:rPr lang="en-CA" dirty="0"/>
              <a:t>High (COMP 1510) and “0”	2	</a:t>
            </a:r>
          </a:p>
          <a:p>
            <a:pPr lvl="1"/>
            <a:r>
              <a:rPr lang="en-CA" dirty="0"/>
              <a:t>High (COMP 1510) and “1”	15</a:t>
            </a:r>
          </a:p>
          <a:p>
            <a:pPr lvl="1"/>
            <a:r>
              <a:rPr lang="en-CA" dirty="0"/>
              <a:t>Low (COMP 2121) and “0”	10</a:t>
            </a:r>
          </a:p>
          <a:p>
            <a:pPr lvl="1"/>
            <a:r>
              <a:rPr lang="en-CA" dirty="0"/>
              <a:t>Low (COMP 2121) and “1”	7</a:t>
            </a:r>
          </a:p>
          <a:p>
            <a:pPr lvl="1"/>
            <a:r>
              <a:rPr lang="en-CA" dirty="0"/>
              <a:t>“no” gym and “0”		10</a:t>
            </a:r>
          </a:p>
          <a:p>
            <a:pPr lvl="1"/>
            <a:r>
              <a:rPr lang="en-CA" dirty="0"/>
              <a:t>“no” gym and “1”		2</a:t>
            </a:r>
          </a:p>
          <a:p>
            <a:pPr lvl="1"/>
            <a:endParaRPr lang="en-CA" dirty="0"/>
          </a:p>
          <a:p>
            <a:pPr marL="3429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88929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Class label (“0”)</a:t>
            </a:r>
          </a:p>
          <a:p>
            <a:pPr lvl="1"/>
            <a:r>
              <a:rPr lang="en-CA" dirty="0"/>
              <a:t>Z(0) = ( 2/(19 + 3)) * (10/(19 + 3))*(10/(19 + 3)) = .0089</a:t>
            </a:r>
          </a:p>
          <a:p>
            <a:r>
              <a:rPr lang="en-CA" dirty="0"/>
              <a:t>Class label (“1”)</a:t>
            </a:r>
          </a:p>
          <a:p>
            <a:pPr lvl="1"/>
            <a:r>
              <a:rPr lang="en-CA" dirty="0"/>
              <a:t>Z(1) = ( 15/(21 + 3)) * (7/(21 + 3))*(2/(21 + 3)) = .0080</a:t>
            </a:r>
          </a:p>
          <a:p>
            <a:pPr lvl="1"/>
            <a:endParaRPr lang="en-CA" dirty="0"/>
          </a:p>
          <a:p>
            <a:r>
              <a:rPr lang="en-CA" dirty="0"/>
              <a:t>Calculate the normalized constant</a:t>
            </a:r>
          </a:p>
          <a:p>
            <a:pPr lvl="1"/>
            <a:r>
              <a:rPr lang="en-CA" dirty="0"/>
              <a:t>normalized constant = .0089 + .0080 = .0169</a:t>
            </a:r>
          </a:p>
          <a:p>
            <a:r>
              <a:rPr lang="en-CA" dirty="0"/>
              <a:t>Calculate the probabilities</a:t>
            </a:r>
          </a:p>
          <a:p>
            <a:pPr lvl="1"/>
            <a:r>
              <a:rPr lang="en-CA" dirty="0"/>
              <a:t>P (0) = .0089 / .0169 = .527</a:t>
            </a:r>
          </a:p>
          <a:p>
            <a:pPr lvl="1"/>
            <a:r>
              <a:rPr lang="en-CA" dirty="0"/>
              <a:t>P (1) = .0080 / .0169= .473</a:t>
            </a:r>
          </a:p>
          <a:p>
            <a:pPr marL="342900" lvl="1" indent="0">
              <a:buNone/>
            </a:pP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94213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Naïve Bayes can be used for: </a:t>
            </a:r>
          </a:p>
          <a:p>
            <a:pPr lvl="1"/>
            <a:r>
              <a:rPr lang="en-CA" dirty="0"/>
              <a:t>real-time and multi-class predictions</a:t>
            </a:r>
          </a:p>
          <a:p>
            <a:pPr lvl="1"/>
            <a:r>
              <a:rPr lang="en-CA" dirty="0"/>
              <a:t>text classifications</a:t>
            </a:r>
          </a:p>
          <a:p>
            <a:pPr lvl="1"/>
            <a:r>
              <a:rPr lang="en-CA" dirty="0"/>
              <a:t>spam filtering</a:t>
            </a:r>
          </a:p>
          <a:p>
            <a:pPr lvl="1"/>
            <a:r>
              <a:rPr lang="en-CA" dirty="0"/>
              <a:t>sentiment analysis</a:t>
            </a:r>
          </a:p>
          <a:p>
            <a:r>
              <a:rPr lang="en-CA"/>
              <a:t>Important: the </a:t>
            </a:r>
            <a:r>
              <a:rPr lang="en-CA" dirty="0"/>
              <a:t>critical assumption of Naive Bayes is the independence assumption, the assumption that the features used in the model are conditionally independent given the class variable</a:t>
            </a:r>
          </a:p>
        </p:txBody>
      </p:sp>
    </p:spTree>
    <p:extLst>
      <p:ext uri="{BB962C8B-B14F-4D97-AF65-F5344CB8AC3E}">
        <p14:creationId xmlns:p14="http://schemas.microsoft.com/office/powerpoint/2010/main" val="196456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5549</TotalTime>
  <Words>1207</Words>
  <Application>Microsoft Office PowerPoint</Application>
  <PresentationFormat>On-screen Show (4:3)</PresentationFormat>
  <Paragraphs>155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User Modeling (2) Creating a Bayesian Model  </vt:lpstr>
      <vt:lpstr>Bayesian Theorem</vt:lpstr>
      <vt:lpstr>Example 1</vt:lpstr>
      <vt:lpstr>Example 1 (2) </vt:lpstr>
      <vt:lpstr>Naïve Bayes (cont)</vt:lpstr>
      <vt:lpstr>Naïve Bayes (2)</vt:lpstr>
      <vt:lpstr>Problem</vt:lpstr>
      <vt:lpstr>Solution</vt:lpstr>
      <vt:lpstr>Solution</vt:lpstr>
      <vt:lpstr>Solution</vt:lpstr>
      <vt:lpstr>Solution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ASP.NET  Master Pages and Navigation</dc:title>
  <dc:creator>Mirela</dc:creator>
  <cp:lastModifiedBy>Mirela Gutica</cp:lastModifiedBy>
  <cp:revision>223</cp:revision>
  <dcterms:created xsi:type="dcterms:W3CDTF">2008-11-02T22:24:49Z</dcterms:created>
  <dcterms:modified xsi:type="dcterms:W3CDTF">2025-09-17T16:00:58Z</dcterms:modified>
</cp:coreProperties>
</file>